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4" r:id="rId2"/>
    <p:sldMasterId id="2147483658" r:id="rId3"/>
    <p:sldMasterId id="2147483660" r:id="rId4"/>
    <p:sldMasterId id="2147483662" r:id="rId5"/>
  </p:sldMasterIdLst>
  <p:notesMasterIdLst>
    <p:notesMasterId r:id="rId44"/>
  </p:notesMasterIdLst>
  <p:sldIdLst>
    <p:sldId id="341" r:id="rId6"/>
    <p:sldId id="347" r:id="rId7"/>
    <p:sldId id="349" r:id="rId8"/>
    <p:sldId id="348" r:id="rId9"/>
    <p:sldId id="350" r:id="rId10"/>
    <p:sldId id="358" r:id="rId11"/>
    <p:sldId id="359" r:id="rId12"/>
    <p:sldId id="361" r:id="rId13"/>
    <p:sldId id="362" r:id="rId14"/>
    <p:sldId id="365" r:id="rId15"/>
    <p:sldId id="363" r:id="rId16"/>
    <p:sldId id="364" r:id="rId17"/>
    <p:sldId id="366" r:id="rId18"/>
    <p:sldId id="367" r:id="rId19"/>
    <p:sldId id="368" r:id="rId20"/>
    <p:sldId id="369" r:id="rId21"/>
    <p:sldId id="379" r:id="rId22"/>
    <p:sldId id="312" r:id="rId23"/>
    <p:sldId id="4100" r:id="rId24"/>
    <p:sldId id="4116" r:id="rId25"/>
    <p:sldId id="4118" r:id="rId26"/>
    <p:sldId id="256" r:id="rId27"/>
    <p:sldId id="4126" r:id="rId28"/>
    <p:sldId id="4123" r:id="rId29"/>
    <p:sldId id="4125" r:id="rId30"/>
    <p:sldId id="4121" r:id="rId31"/>
    <p:sldId id="4127" r:id="rId32"/>
    <p:sldId id="4128" r:id="rId33"/>
    <p:sldId id="4129" r:id="rId34"/>
    <p:sldId id="4130" r:id="rId35"/>
    <p:sldId id="4131" r:id="rId36"/>
    <p:sldId id="261" r:id="rId37"/>
    <p:sldId id="381" r:id="rId38"/>
    <p:sldId id="380" r:id="rId39"/>
    <p:sldId id="382" r:id="rId40"/>
    <p:sldId id="383" r:id="rId41"/>
    <p:sldId id="384" r:id="rId42"/>
    <p:sldId id="385" r:id="rId4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885"/>
    <a:srgbClr val="C31E72"/>
    <a:srgbClr val="AE192D"/>
    <a:srgbClr val="AF548E"/>
    <a:srgbClr val="FFFFFF"/>
    <a:srgbClr val="7C4D80"/>
    <a:srgbClr val="5B9BD5"/>
    <a:srgbClr val="0B4D6D"/>
    <a:srgbClr val="357EBE"/>
    <a:srgbClr val="F9BD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Estilo claro 2 - Acento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930" autoAdjust="0"/>
    <p:restoredTop sz="94660"/>
  </p:normalViewPr>
  <p:slideViewPr>
    <p:cSldViewPr snapToGrid="0">
      <p:cViewPr varScale="1">
        <p:scale>
          <a:sx n="69" d="100"/>
          <a:sy n="69" d="100"/>
        </p:scale>
        <p:origin x="111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D3C8CC-1F96-4201-B5CB-1C6E5098E9A3}"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s-MX"/>
        </a:p>
      </dgm:t>
    </dgm:pt>
    <dgm:pt modelId="{912FA29C-DFD1-482F-AA5F-25B03C60AF91}">
      <dgm:prSet custT="1"/>
      <dgm:spPr>
        <a:solidFill>
          <a:srgbClr val="7030A0"/>
        </a:solidFill>
      </dgm:spPr>
      <dgm:t>
        <a:bodyPr/>
        <a:lstStyle/>
        <a:p>
          <a:r>
            <a:rPr lang="es-MX" sz="1800" dirty="0">
              <a:latin typeface="Verdana" panose="020B0604030504040204" pitchFamily="34" charset="0"/>
              <a:ea typeface="Verdana" panose="020B0604030504040204" pitchFamily="34" charset="0"/>
            </a:rPr>
            <a:t>Revisar las prioridades de la PEA</a:t>
          </a:r>
        </a:p>
      </dgm:t>
    </dgm:pt>
    <dgm:pt modelId="{40A2C9CD-F75C-4D15-A9F7-4D4470050A44}" type="parTrans" cxnId="{D5C6C942-32D5-4A0B-A571-78F572878688}">
      <dgm:prSet/>
      <dgm:spPr/>
      <dgm:t>
        <a:bodyPr/>
        <a:lstStyle/>
        <a:p>
          <a:endParaRPr lang="es-MX" sz="1800">
            <a:latin typeface="Verdana" panose="020B0604030504040204" pitchFamily="34" charset="0"/>
            <a:ea typeface="Verdana" panose="020B0604030504040204" pitchFamily="34" charset="0"/>
          </a:endParaRPr>
        </a:p>
      </dgm:t>
    </dgm:pt>
    <dgm:pt modelId="{D737B11B-E57B-4ABF-B798-0CF594771CB7}" type="sibTrans" cxnId="{D5C6C942-32D5-4A0B-A571-78F572878688}">
      <dgm:prSet/>
      <dgm:spPr/>
      <dgm:t>
        <a:bodyPr/>
        <a:lstStyle/>
        <a:p>
          <a:endParaRPr lang="es-MX" sz="1800">
            <a:latin typeface="Verdana" panose="020B0604030504040204" pitchFamily="34" charset="0"/>
            <a:ea typeface="Verdana" panose="020B0604030504040204" pitchFamily="34" charset="0"/>
          </a:endParaRPr>
        </a:p>
      </dgm:t>
    </dgm:pt>
    <dgm:pt modelId="{D53B49C1-7B0C-4FEA-8CB6-15B3F793F85C}">
      <dgm:prSet custT="1"/>
      <dgm:spPr>
        <a:solidFill>
          <a:srgbClr val="002060"/>
        </a:solidFill>
      </dgm:spPr>
      <dgm:t>
        <a:bodyPr/>
        <a:lstStyle/>
        <a:p>
          <a:r>
            <a:rPr lang="es-MX" sz="1800" dirty="0">
              <a:latin typeface="Verdana" panose="020B0604030504040204" pitchFamily="34" charset="0"/>
              <a:ea typeface="Verdana" panose="020B0604030504040204" pitchFamily="34" charset="0"/>
            </a:rPr>
            <a:t>Generar estrategias vinculadas a las prioridades de la PEA</a:t>
          </a:r>
        </a:p>
      </dgm:t>
    </dgm:pt>
    <dgm:pt modelId="{90596C55-AB56-49AC-A7EB-3C144EDECBAE}" type="parTrans" cxnId="{B015A4AB-625A-4633-972C-B8E90C775845}">
      <dgm:prSet/>
      <dgm:spPr/>
      <dgm:t>
        <a:bodyPr/>
        <a:lstStyle/>
        <a:p>
          <a:endParaRPr lang="es-MX" sz="1800">
            <a:latin typeface="Verdana" panose="020B0604030504040204" pitchFamily="34" charset="0"/>
            <a:ea typeface="Verdana" panose="020B0604030504040204" pitchFamily="34" charset="0"/>
          </a:endParaRPr>
        </a:p>
      </dgm:t>
    </dgm:pt>
    <dgm:pt modelId="{53A5134C-4D84-4ED6-A37A-EB9E28D563A9}" type="sibTrans" cxnId="{B015A4AB-625A-4633-972C-B8E90C775845}">
      <dgm:prSet/>
      <dgm:spPr/>
      <dgm:t>
        <a:bodyPr/>
        <a:lstStyle/>
        <a:p>
          <a:endParaRPr lang="es-MX" sz="1800">
            <a:latin typeface="Verdana" panose="020B0604030504040204" pitchFamily="34" charset="0"/>
            <a:ea typeface="Verdana" panose="020B0604030504040204" pitchFamily="34" charset="0"/>
          </a:endParaRPr>
        </a:p>
      </dgm:t>
    </dgm:pt>
    <dgm:pt modelId="{B22B277D-0E7C-41D0-BEA4-84A64189CBC2}">
      <dgm:prSet custT="1"/>
      <dgm:spPr>
        <a:solidFill>
          <a:srgbClr val="0070C0"/>
        </a:solidFill>
      </dgm:spPr>
      <dgm:t>
        <a:bodyPr/>
        <a:lstStyle/>
        <a:p>
          <a:r>
            <a:rPr lang="es-MX" sz="1800">
              <a:latin typeface="Verdana" panose="020B0604030504040204" pitchFamily="34" charset="0"/>
              <a:ea typeface="Verdana" panose="020B0604030504040204" pitchFamily="34" charset="0"/>
            </a:rPr>
            <a:t>Generar líneas de acción vinculadas a las estrategias</a:t>
          </a:r>
        </a:p>
      </dgm:t>
    </dgm:pt>
    <dgm:pt modelId="{9758FA7A-2145-4247-AD19-176104759969}" type="parTrans" cxnId="{467D47B2-B13D-4219-83AB-23CE189B56AA}">
      <dgm:prSet/>
      <dgm:spPr/>
      <dgm:t>
        <a:bodyPr/>
        <a:lstStyle/>
        <a:p>
          <a:endParaRPr lang="es-MX" sz="1800">
            <a:latin typeface="Verdana" panose="020B0604030504040204" pitchFamily="34" charset="0"/>
            <a:ea typeface="Verdana" panose="020B0604030504040204" pitchFamily="34" charset="0"/>
          </a:endParaRPr>
        </a:p>
      </dgm:t>
    </dgm:pt>
    <dgm:pt modelId="{7FEBEEAB-2E22-4FB9-943F-B67F944D91F4}" type="sibTrans" cxnId="{467D47B2-B13D-4219-83AB-23CE189B56AA}">
      <dgm:prSet/>
      <dgm:spPr/>
      <dgm:t>
        <a:bodyPr/>
        <a:lstStyle/>
        <a:p>
          <a:endParaRPr lang="es-MX" sz="1800">
            <a:latin typeface="Verdana" panose="020B0604030504040204" pitchFamily="34" charset="0"/>
            <a:ea typeface="Verdana" panose="020B0604030504040204" pitchFamily="34" charset="0"/>
          </a:endParaRPr>
        </a:p>
      </dgm:t>
    </dgm:pt>
    <dgm:pt modelId="{211E0EAC-CDDF-4DED-A493-8630B5DBC262}">
      <dgm:prSet custT="1"/>
      <dgm:spPr>
        <a:solidFill>
          <a:srgbClr val="00B050"/>
        </a:solidFill>
      </dgm:spPr>
      <dgm:t>
        <a:bodyPr/>
        <a:lstStyle/>
        <a:p>
          <a:r>
            <a:rPr lang="es-MX" sz="1800">
              <a:latin typeface="Verdana" panose="020B0604030504040204" pitchFamily="34" charset="0"/>
              <a:ea typeface="Verdana" panose="020B0604030504040204" pitchFamily="34" charset="0"/>
            </a:rPr>
            <a:t>Clasificar la línea de acción</a:t>
          </a:r>
        </a:p>
      </dgm:t>
    </dgm:pt>
    <dgm:pt modelId="{2B124E06-7206-4A8C-A469-EC1383C3192C}" type="parTrans" cxnId="{303D6B1A-350F-4F1A-96F3-AEE2493E1239}">
      <dgm:prSet/>
      <dgm:spPr/>
      <dgm:t>
        <a:bodyPr/>
        <a:lstStyle/>
        <a:p>
          <a:endParaRPr lang="es-MX" sz="1800">
            <a:latin typeface="Verdana" panose="020B0604030504040204" pitchFamily="34" charset="0"/>
            <a:ea typeface="Verdana" panose="020B0604030504040204" pitchFamily="34" charset="0"/>
          </a:endParaRPr>
        </a:p>
      </dgm:t>
    </dgm:pt>
    <dgm:pt modelId="{1C479952-3E3E-49FF-BE04-57E41053F88E}" type="sibTrans" cxnId="{303D6B1A-350F-4F1A-96F3-AEE2493E1239}">
      <dgm:prSet/>
      <dgm:spPr/>
      <dgm:t>
        <a:bodyPr/>
        <a:lstStyle/>
        <a:p>
          <a:endParaRPr lang="es-MX" sz="1800">
            <a:latin typeface="Verdana" panose="020B0604030504040204" pitchFamily="34" charset="0"/>
            <a:ea typeface="Verdana" panose="020B0604030504040204" pitchFamily="34" charset="0"/>
          </a:endParaRPr>
        </a:p>
      </dgm:t>
    </dgm:pt>
    <dgm:pt modelId="{BC5BC87E-6070-42BD-B08B-75A551E9F773}">
      <dgm:prSet custT="1"/>
      <dgm:spPr>
        <a:solidFill>
          <a:srgbClr val="FF0066"/>
        </a:solidFill>
      </dgm:spPr>
      <dgm:t>
        <a:bodyPr/>
        <a:lstStyle/>
        <a:p>
          <a:r>
            <a:rPr lang="es-MX" sz="1800">
              <a:latin typeface="Verdana" panose="020B0604030504040204" pitchFamily="34" charset="0"/>
              <a:ea typeface="Verdana" panose="020B0604030504040204" pitchFamily="34" charset="0"/>
            </a:rPr>
            <a:t>Generar indicadores de gestión a la línea de acción</a:t>
          </a:r>
        </a:p>
      </dgm:t>
    </dgm:pt>
    <dgm:pt modelId="{1BBF605A-E654-482B-881B-2939723766F5}" type="parTrans" cxnId="{EB861CC5-342D-4BCC-A213-B96D1E3BC4E0}">
      <dgm:prSet/>
      <dgm:spPr/>
      <dgm:t>
        <a:bodyPr/>
        <a:lstStyle/>
        <a:p>
          <a:endParaRPr lang="es-MX" sz="1800">
            <a:latin typeface="Verdana" panose="020B0604030504040204" pitchFamily="34" charset="0"/>
            <a:ea typeface="Verdana" panose="020B0604030504040204" pitchFamily="34" charset="0"/>
          </a:endParaRPr>
        </a:p>
      </dgm:t>
    </dgm:pt>
    <dgm:pt modelId="{E8B45126-0BD1-4655-BD71-E13E4159E2F5}" type="sibTrans" cxnId="{EB861CC5-342D-4BCC-A213-B96D1E3BC4E0}">
      <dgm:prSet/>
      <dgm:spPr/>
      <dgm:t>
        <a:bodyPr/>
        <a:lstStyle/>
        <a:p>
          <a:endParaRPr lang="es-MX" sz="1800">
            <a:latin typeface="Verdana" panose="020B0604030504040204" pitchFamily="34" charset="0"/>
            <a:ea typeface="Verdana" panose="020B0604030504040204" pitchFamily="34" charset="0"/>
          </a:endParaRPr>
        </a:p>
      </dgm:t>
    </dgm:pt>
    <dgm:pt modelId="{64D5D988-8D08-468E-8C53-52690CEFB8E6}">
      <dgm:prSet custT="1"/>
      <dgm:spPr>
        <a:solidFill>
          <a:srgbClr val="FF0000"/>
        </a:solidFill>
      </dgm:spPr>
      <dgm:t>
        <a:bodyPr/>
        <a:lstStyle/>
        <a:p>
          <a:r>
            <a:rPr lang="es-MX" sz="1800">
              <a:latin typeface="Verdana" panose="020B0604030504040204" pitchFamily="34" charset="0"/>
              <a:ea typeface="Verdana" panose="020B0604030504040204" pitchFamily="34" charset="0"/>
            </a:rPr>
            <a:t>Revisar indicadores estratégicos y su vinculación</a:t>
          </a:r>
        </a:p>
      </dgm:t>
    </dgm:pt>
    <dgm:pt modelId="{64708381-3CD8-4B11-8D34-7F5DC1743535}" type="parTrans" cxnId="{B35F733F-E0BE-4164-B446-9C21740E2F04}">
      <dgm:prSet/>
      <dgm:spPr/>
      <dgm:t>
        <a:bodyPr/>
        <a:lstStyle/>
        <a:p>
          <a:endParaRPr lang="es-MX" sz="1800">
            <a:latin typeface="Verdana" panose="020B0604030504040204" pitchFamily="34" charset="0"/>
            <a:ea typeface="Verdana" panose="020B0604030504040204" pitchFamily="34" charset="0"/>
          </a:endParaRPr>
        </a:p>
      </dgm:t>
    </dgm:pt>
    <dgm:pt modelId="{32019E61-D47D-439A-BD3C-9E943DBE9074}" type="sibTrans" cxnId="{B35F733F-E0BE-4164-B446-9C21740E2F04}">
      <dgm:prSet/>
      <dgm:spPr/>
      <dgm:t>
        <a:bodyPr/>
        <a:lstStyle/>
        <a:p>
          <a:endParaRPr lang="es-MX" sz="1800">
            <a:latin typeface="Verdana" panose="020B0604030504040204" pitchFamily="34" charset="0"/>
            <a:ea typeface="Verdana" panose="020B0604030504040204" pitchFamily="34" charset="0"/>
          </a:endParaRPr>
        </a:p>
      </dgm:t>
    </dgm:pt>
    <dgm:pt modelId="{8EE30178-FF2B-4671-947D-725B5EE9ABEC}">
      <dgm:prSet custT="1"/>
      <dgm:spPr>
        <a:solidFill>
          <a:schemeClr val="tx1">
            <a:lumMod val="50000"/>
            <a:lumOff val="50000"/>
          </a:schemeClr>
        </a:solidFill>
      </dgm:spPr>
      <dgm:t>
        <a:bodyPr/>
        <a:lstStyle/>
        <a:p>
          <a:r>
            <a:rPr lang="es-MX" sz="1800">
              <a:latin typeface="Verdana" panose="020B0604030504040204" pitchFamily="34" charset="0"/>
              <a:ea typeface="Verdana" panose="020B0604030504040204" pitchFamily="34" charset="0"/>
            </a:rPr>
            <a:t>Seguimiento y monitoreo</a:t>
          </a:r>
        </a:p>
      </dgm:t>
    </dgm:pt>
    <dgm:pt modelId="{4682F9C3-B676-43E3-98E1-6735BF54ECF3}" type="parTrans" cxnId="{853D2E6F-01CB-42DF-9AF9-E2CF546DC96D}">
      <dgm:prSet/>
      <dgm:spPr/>
      <dgm:t>
        <a:bodyPr/>
        <a:lstStyle/>
        <a:p>
          <a:endParaRPr lang="es-MX" sz="1800">
            <a:latin typeface="Verdana" panose="020B0604030504040204" pitchFamily="34" charset="0"/>
            <a:ea typeface="Verdana" panose="020B0604030504040204" pitchFamily="34" charset="0"/>
          </a:endParaRPr>
        </a:p>
      </dgm:t>
    </dgm:pt>
    <dgm:pt modelId="{F829B137-176F-44EA-A000-0F26BBE3DE57}" type="sibTrans" cxnId="{853D2E6F-01CB-42DF-9AF9-E2CF546DC96D}">
      <dgm:prSet/>
      <dgm:spPr/>
      <dgm:t>
        <a:bodyPr/>
        <a:lstStyle/>
        <a:p>
          <a:endParaRPr lang="es-MX" sz="1800">
            <a:latin typeface="Verdana" panose="020B0604030504040204" pitchFamily="34" charset="0"/>
            <a:ea typeface="Verdana" panose="020B0604030504040204" pitchFamily="34" charset="0"/>
          </a:endParaRPr>
        </a:p>
      </dgm:t>
    </dgm:pt>
    <dgm:pt modelId="{981A39D9-0870-4CD7-AAC1-2D6E79FE4140}" type="pres">
      <dgm:prSet presAssocID="{16D3C8CC-1F96-4201-B5CB-1C6E5098E9A3}" presName="Name0" presStyleCnt="0">
        <dgm:presLayoutVars>
          <dgm:chMax val="7"/>
          <dgm:chPref val="7"/>
          <dgm:dir/>
        </dgm:presLayoutVars>
      </dgm:prSet>
      <dgm:spPr/>
    </dgm:pt>
    <dgm:pt modelId="{D60D442C-25CC-4F8B-AB3E-70C9131CDA89}" type="pres">
      <dgm:prSet presAssocID="{16D3C8CC-1F96-4201-B5CB-1C6E5098E9A3}" presName="Name1" presStyleCnt="0"/>
      <dgm:spPr/>
    </dgm:pt>
    <dgm:pt modelId="{3770EF9F-7E35-4BB8-95BF-BE9435E784D5}" type="pres">
      <dgm:prSet presAssocID="{16D3C8CC-1F96-4201-B5CB-1C6E5098E9A3}" presName="cycle" presStyleCnt="0"/>
      <dgm:spPr/>
    </dgm:pt>
    <dgm:pt modelId="{6457358E-3B09-43A2-8FBF-A5331EE27E4D}" type="pres">
      <dgm:prSet presAssocID="{16D3C8CC-1F96-4201-B5CB-1C6E5098E9A3}" presName="srcNode" presStyleLbl="node1" presStyleIdx="0" presStyleCnt="7"/>
      <dgm:spPr/>
    </dgm:pt>
    <dgm:pt modelId="{8CBA6869-8F9C-4C08-B07C-2D76D9AD314F}" type="pres">
      <dgm:prSet presAssocID="{16D3C8CC-1F96-4201-B5CB-1C6E5098E9A3}" presName="conn" presStyleLbl="parChTrans1D2" presStyleIdx="0" presStyleCnt="1"/>
      <dgm:spPr/>
    </dgm:pt>
    <dgm:pt modelId="{150E1394-01A6-48A0-A2DC-FA93BA8F023B}" type="pres">
      <dgm:prSet presAssocID="{16D3C8CC-1F96-4201-B5CB-1C6E5098E9A3}" presName="extraNode" presStyleLbl="node1" presStyleIdx="0" presStyleCnt="7"/>
      <dgm:spPr/>
    </dgm:pt>
    <dgm:pt modelId="{420C1C95-E820-49D2-89E2-7A7E334730D6}" type="pres">
      <dgm:prSet presAssocID="{16D3C8CC-1F96-4201-B5CB-1C6E5098E9A3}" presName="dstNode" presStyleLbl="node1" presStyleIdx="0" presStyleCnt="7"/>
      <dgm:spPr/>
    </dgm:pt>
    <dgm:pt modelId="{A160B551-8F31-4987-B942-95B5AC996A8E}" type="pres">
      <dgm:prSet presAssocID="{912FA29C-DFD1-482F-AA5F-25B03C60AF91}" presName="text_1" presStyleLbl="node1" presStyleIdx="0" presStyleCnt="7">
        <dgm:presLayoutVars>
          <dgm:bulletEnabled val="1"/>
        </dgm:presLayoutVars>
      </dgm:prSet>
      <dgm:spPr/>
    </dgm:pt>
    <dgm:pt modelId="{395D3DFE-0E44-4FDC-90FD-92392D399F3F}" type="pres">
      <dgm:prSet presAssocID="{912FA29C-DFD1-482F-AA5F-25B03C60AF91}" presName="accent_1" presStyleCnt="0"/>
      <dgm:spPr/>
    </dgm:pt>
    <dgm:pt modelId="{A17F09B4-B80B-487F-B30B-A7E92FDF66FB}" type="pres">
      <dgm:prSet presAssocID="{912FA29C-DFD1-482F-AA5F-25B03C60AF91}" presName="accentRepeatNode" presStyleLbl="solidFgAcc1" presStyleIdx="0" presStyleCnt="7"/>
      <dgm:spPr/>
    </dgm:pt>
    <dgm:pt modelId="{14892C0D-B0AD-4A84-BF93-190E40BCC792}" type="pres">
      <dgm:prSet presAssocID="{D53B49C1-7B0C-4FEA-8CB6-15B3F793F85C}" presName="text_2" presStyleLbl="node1" presStyleIdx="1" presStyleCnt="7">
        <dgm:presLayoutVars>
          <dgm:bulletEnabled val="1"/>
        </dgm:presLayoutVars>
      </dgm:prSet>
      <dgm:spPr/>
    </dgm:pt>
    <dgm:pt modelId="{1BAE8878-4AAC-4E91-B443-33DFA92E0729}" type="pres">
      <dgm:prSet presAssocID="{D53B49C1-7B0C-4FEA-8CB6-15B3F793F85C}" presName="accent_2" presStyleCnt="0"/>
      <dgm:spPr/>
    </dgm:pt>
    <dgm:pt modelId="{F0735622-C595-464D-92D7-90807F833FC1}" type="pres">
      <dgm:prSet presAssocID="{D53B49C1-7B0C-4FEA-8CB6-15B3F793F85C}" presName="accentRepeatNode" presStyleLbl="solidFgAcc1" presStyleIdx="1" presStyleCnt="7"/>
      <dgm:spPr/>
    </dgm:pt>
    <dgm:pt modelId="{AAF0DB6F-1DCA-47DB-AB9E-5D350F320A21}" type="pres">
      <dgm:prSet presAssocID="{B22B277D-0E7C-41D0-BEA4-84A64189CBC2}" presName="text_3" presStyleLbl="node1" presStyleIdx="2" presStyleCnt="7">
        <dgm:presLayoutVars>
          <dgm:bulletEnabled val="1"/>
        </dgm:presLayoutVars>
      </dgm:prSet>
      <dgm:spPr/>
    </dgm:pt>
    <dgm:pt modelId="{1D4ACCA2-AC8D-485D-ACC6-D613828852CE}" type="pres">
      <dgm:prSet presAssocID="{B22B277D-0E7C-41D0-BEA4-84A64189CBC2}" presName="accent_3" presStyleCnt="0"/>
      <dgm:spPr/>
    </dgm:pt>
    <dgm:pt modelId="{C25FC94C-D05A-4179-ABF6-6A521B74E3A8}" type="pres">
      <dgm:prSet presAssocID="{B22B277D-0E7C-41D0-BEA4-84A64189CBC2}" presName="accentRepeatNode" presStyleLbl="solidFgAcc1" presStyleIdx="2" presStyleCnt="7"/>
      <dgm:spPr/>
    </dgm:pt>
    <dgm:pt modelId="{E096E138-0A88-476F-ACA9-8807E32FC6E6}" type="pres">
      <dgm:prSet presAssocID="{211E0EAC-CDDF-4DED-A493-8630B5DBC262}" presName="text_4" presStyleLbl="node1" presStyleIdx="3" presStyleCnt="7">
        <dgm:presLayoutVars>
          <dgm:bulletEnabled val="1"/>
        </dgm:presLayoutVars>
      </dgm:prSet>
      <dgm:spPr/>
    </dgm:pt>
    <dgm:pt modelId="{5C979081-A0B6-43F6-B7C8-F97B02A0A4CB}" type="pres">
      <dgm:prSet presAssocID="{211E0EAC-CDDF-4DED-A493-8630B5DBC262}" presName="accent_4" presStyleCnt="0"/>
      <dgm:spPr/>
    </dgm:pt>
    <dgm:pt modelId="{377F21CE-37A7-4C65-BA5C-90AAD0FC1D74}" type="pres">
      <dgm:prSet presAssocID="{211E0EAC-CDDF-4DED-A493-8630B5DBC262}" presName="accentRepeatNode" presStyleLbl="solidFgAcc1" presStyleIdx="3" presStyleCnt="7"/>
      <dgm:spPr/>
    </dgm:pt>
    <dgm:pt modelId="{C199FA71-4950-449F-B3C7-41AD147189A0}" type="pres">
      <dgm:prSet presAssocID="{BC5BC87E-6070-42BD-B08B-75A551E9F773}" presName="text_5" presStyleLbl="node1" presStyleIdx="4" presStyleCnt="7">
        <dgm:presLayoutVars>
          <dgm:bulletEnabled val="1"/>
        </dgm:presLayoutVars>
      </dgm:prSet>
      <dgm:spPr/>
    </dgm:pt>
    <dgm:pt modelId="{41F45BA8-4991-4202-BF19-A90A3946AF54}" type="pres">
      <dgm:prSet presAssocID="{BC5BC87E-6070-42BD-B08B-75A551E9F773}" presName="accent_5" presStyleCnt="0"/>
      <dgm:spPr/>
    </dgm:pt>
    <dgm:pt modelId="{BED6B751-3AB1-4DBF-B3D3-073378B45180}" type="pres">
      <dgm:prSet presAssocID="{BC5BC87E-6070-42BD-B08B-75A551E9F773}" presName="accentRepeatNode" presStyleLbl="solidFgAcc1" presStyleIdx="4" presStyleCnt="7"/>
      <dgm:spPr/>
    </dgm:pt>
    <dgm:pt modelId="{DD01E744-A904-473D-AEB2-C69701B03672}" type="pres">
      <dgm:prSet presAssocID="{64D5D988-8D08-468E-8C53-52690CEFB8E6}" presName="text_6" presStyleLbl="node1" presStyleIdx="5" presStyleCnt="7">
        <dgm:presLayoutVars>
          <dgm:bulletEnabled val="1"/>
        </dgm:presLayoutVars>
      </dgm:prSet>
      <dgm:spPr/>
    </dgm:pt>
    <dgm:pt modelId="{C4AEAF38-E03A-4B37-967E-F6D542E6890E}" type="pres">
      <dgm:prSet presAssocID="{64D5D988-8D08-468E-8C53-52690CEFB8E6}" presName="accent_6" presStyleCnt="0"/>
      <dgm:spPr/>
    </dgm:pt>
    <dgm:pt modelId="{36D3A678-EE1A-4C82-A01B-556D2B4FDD68}" type="pres">
      <dgm:prSet presAssocID="{64D5D988-8D08-468E-8C53-52690CEFB8E6}" presName="accentRepeatNode" presStyleLbl="solidFgAcc1" presStyleIdx="5" presStyleCnt="7"/>
      <dgm:spPr/>
    </dgm:pt>
    <dgm:pt modelId="{628E0FB3-8C8C-49D6-8AB3-BD15A4D73287}" type="pres">
      <dgm:prSet presAssocID="{8EE30178-FF2B-4671-947D-725B5EE9ABEC}" presName="text_7" presStyleLbl="node1" presStyleIdx="6" presStyleCnt="7">
        <dgm:presLayoutVars>
          <dgm:bulletEnabled val="1"/>
        </dgm:presLayoutVars>
      </dgm:prSet>
      <dgm:spPr/>
    </dgm:pt>
    <dgm:pt modelId="{8142197F-EB6E-491E-9C7A-0C5D6A0C6434}" type="pres">
      <dgm:prSet presAssocID="{8EE30178-FF2B-4671-947D-725B5EE9ABEC}" presName="accent_7" presStyleCnt="0"/>
      <dgm:spPr/>
    </dgm:pt>
    <dgm:pt modelId="{95CA5992-54AD-4809-872C-E7072C3E8045}" type="pres">
      <dgm:prSet presAssocID="{8EE30178-FF2B-4671-947D-725B5EE9ABEC}" presName="accentRepeatNode" presStyleLbl="solidFgAcc1" presStyleIdx="6" presStyleCnt="7"/>
      <dgm:spPr/>
    </dgm:pt>
  </dgm:ptLst>
  <dgm:cxnLst>
    <dgm:cxn modelId="{AC04B303-E4A3-4FE8-B803-FAC140E358F5}" type="presOf" srcId="{D53B49C1-7B0C-4FEA-8CB6-15B3F793F85C}" destId="{14892C0D-B0AD-4A84-BF93-190E40BCC792}" srcOrd="0" destOrd="0" presId="urn:microsoft.com/office/officeart/2008/layout/VerticalCurvedList"/>
    <dgm:cxn modelId="{E6B92508-3BC9-46E6-80B0-6D91AB44A92D}" type="presOf" srcId="{B22B277D-0E7C-41D0-BEA4-84A64189CBC2}" destId="{AAF0DB6F-1DCA-47DB-AB9E-5D350F320A21}" srcOrd="0" destOrd="0" presId="urn:microsoft.com/office/officeart/2008/layout/VerticalCurvedList"/>
    <dgm:cxn modelId="{303D6B1A-350F-4F1A-96F3-AEE2493E1239}" srcId="{16D3C8CC-1F96-4201-B5CB-1C6E5098E9A3}" destId="{211E0EAC-CDDF-4DED-A493-8630B5DBC262}" srcOrd="3" destOrd="0" parTransId="{2B124E06-7206-4A8C-A469-EC1383C3192C}" sibTransId="{1C479952-3E3E-49FF-BE04-57E41053F88E}"/>
    <dgm:cxn modelId="{EAE5FE2E-EA84-4B08-B98D-5B653C337865}" type="presOf" srcId="{16D3C8CC-1F96-4201-B5CB-1C6E5098E9A3}" destId="{981A39D9-0870-4CD7-AAC1-2D6E79FE4140}" srcOrd="0" destOrd="0" presId="urn:microsoft.com/office/officeart/2008/layout/VerticalCurvedList"/>
    <dgm:cxn modelId="{B35F733F-E0BE-4164-B446-9C21740E2F04}" srcId="{16D3C8CC-1F96-4201-B5CB-1C6E5098E9A3}" destId="{64D5D988-8D08-468E-8C53-52690CEFB8E6}" srcOrd="5" destOrd="0" parTransId="{64708381-3CD8-4B11-8D34-7F5DC1743535}" sibTransId="{32019E61-D47D-439A-BD3C-9E943DBE9074}"/>
    <dgm:cxn modelId="{D5C6C942-32D5-4A0B-A571-78F572878688}" srcId="{16D3C8CC-1F96-4201-B5CB-1C6E5098E9A3}" destId="{912FA29C-DFD1-482F-AA5F-25B03C60AF91}" srcOrd="0" destOrd="0" parTransId="{40A2C9CD-F75C-4D15-A9F7-4D4470050A44}" sibTransId="{D737B11B-E57B-4ABF-B798-0CF594771CB7}"/>
    <dgm:cxn modelId="{424BDB4D-FA78-4E32-88F5-70DD0B798B5A}" type="presOf" srcId="{BC5BC87E-6070-42BD-B08B-75A551E9F773}" destId="{C199FA71-4950-449F-B3C7-41AD147189A0}" srcOrd="0" destOrd="0" presId="urn:microsoft.com/office/officeart/2008/layout/VerticalCurvedList"/>
    <dgm:cxn modelId="{853D2E6F-01CB-42DF-9AF9-E2CF546DC96D}" srcId="{16D3C8CC-1F96-4201-B5CB-1C6E5098E9A3}" destId="{8EE30178-FF2B-4671-947D-725B5EE9ABEC}" srcOrd="6" destOrd="0" parTransId="{4682F9C3-B676-43E3-98E1-6735BF54ECF3}" sibTransId="{F829B137-176F-44EA-A000-0F26BBE3DE57}"/>
    <dgm:cxn modelId="{624498A1-9962-4312-8C2E-EC327829483F}" type="presOf" srcId="{D737B11B-E57B-4ABF-B798-0CF594771CB7}" destId="{8CBA6869-8F9C-4C08-B07C-2D76D9AD314F}" srcOrd="0" destOrd="0" presId="urn:microsoft.com/office/officeart/2008/layout/VerticalCurvedList"/>
    <dgm:cxn modelId="{B015A4AB-625A-4633-972C-B8E90C775845}" srcId="{16D3C8CC-1F96-4201-B5CB-1C6E5098E9A3}" destId="{D53B49C1-7B0C-4FEA-8CB6-15B3F793F85C}" srcOrd="1" destOrd="0" parTransId="{90596C55-AB56-49AC-A7EB-3C144EDECBAE}" sibTransId="{53A5134C-4D84-4ED6-A37A-EB9E28D563A9}"/>
    <dgm:cxn modelId="{A9B94AB0-C89E-481E-890D-996F28AE6DF4}" type="presOf" srcId="{8EE30178-FF2B-4671-947D-725B5EE9ABEC}" destId="{628E0FB3-8C8C-49D6-8AB3-BD15A4D73287}" srcOrd="0" destOrd="0" presId="urn:microsoft.com/office/officeart/2008/layout/VerticalCurvedList"/>
    <dgm:cxn modelId="{467D47B2-B13D-4219-83AB-23CE189B56AA}" srcId="{16D3C8CC-1F96-4201-B5CB-1C6E5098E9A3}" destId="{B22B277D-0E7C-41D0-BEA4-84A64189CBC2}" srcOrd="2" destOrd="0" parTransId="{9758FA7A-2145-4247-AD19-176104759969}" sibTransId="{7FEBEEAB-2E22-4FB9-943F-B67F944D91F4}"/>
    <dgm:cxn modelId="{EB861CC5-342D-4BCC-A213-B96D1E3BC4E0}" srcId="{16D3C8CC-1F96-4201-B5CB-1C6E5098E9A3}" destId="{BC5BC87E-6070-42BD-B08B-75A551E9F773}" srcOrd="4" destOrd="0" parTransId="{1BBF605A-E654-482B-881B-2939723766F5}" sibTransId="{E8B45126-0BD1-4655-BD71-E13E4159E2F5}"/>
    <dgm:cxn modelId="{46880BC9-987D-43D6-A5A8-0895E87BBFE1}" type="presOf" srcId="{912FA29C-DFD1-482F-AA5F-25B03C60AF91}" destId="{A160B551-8F31-4987-B942-95B5AC996A8E}" srcOrd="0" destOrd="0" presId="urn:microsoft.com/office/officeart/2008/layout/VerticalCurvedList"/>
    <dgm:cxn modelId="{1BE2B1E3-2AF5-421F-A5CD-BEA5C243EC5B}" type="presOf" srcId="{64D5D988-8D08-468E-8C53-52690CEFB8E6}" destId="{DD01E744-A904-473D-AEB2-C69701B03672}" srcOrd="0" destOrd="0" presId="urn:microsoft.com/office/officeart/2008/layout/VerticalCurvedList"/>
    <dgm:cxn modelId="{A607C9EA-FDA3-4696-9E4D-F6F1ADBEA821}" type="presOf" srcId="{211E0EAC-CDDF-4DED-A493-8630B5DBC262}" destId="{E096E138-0A88-476F-ACA9-8807E32FC6E6}" srcOrd="0" destOrd="0" presId="urn:microsoft.com/office/officeart/2008/layout/VerticalCurvedList"/>
    <dgm:cxn modelId="{26FCFC59-1CC4-4A96-BD06-9533B9047133}" type="presParOf" srcId="{981A39D9-0870-4CD7-AAC1-2D6E79FE4140}" destId="{D60D442C-25CC-4F8B-AB3E-70C9131CDA89}" srcOrd="0" destOrd="0" presId="urn:microsoft.com/office/officeart/2008/layout/VerticalCurvedList"/>
    <dgm:cxn modelId="{AA99004C-70DD-47EC-9911-036ED229E16D}" type="presParOf" srcId="{D60D442C-25CC-4F8B-AB3E-70C9131CDA89}" destId="{3770EF9F-7E35-4BB8-95BF-BE9435E784D5}" srcOrd="0" destOrd="0" presId="urn:microsoft.com/office/officeart/2008/layout/VerticalCurvedList"/>
    <dgm:cxn modelId="{9D00AC64-D3DD-4296-95E1-5247804CF211}" type="presParOf" srcId="{3770EF9F-7E35-4BB8-95BF-BE9435E784D5}" destId="{6457358E-3B09-43A2-8FBF-A5331EE27E4D}" srcOrd="0" destOrd="0" presId="urn:microsoft.com/office/officeart/2008/layout/VerticalCurvedList"/>
    <dgm:cxn modelId="{98F6D3C3-9D88-471B-B2F7-E1DAFF7ED165}" type="presParOf" srcId="{3770EF9F-7E35-4BB8-95BF-BE9435E784D5}" destId="{8CBA6869-8F9C-4C08-B07C-2D76D9AD314F}" srcOrd="1" destOrd="0" presId="urn:microsoft.com/office/officeart/2008/layout/VerticalCurvedList"/>
    <dgm:cxn modelId="{59FBB7EE-F5E6-4260-988A-8E7E26E65884}" type="presParOf" srcId="{3770EF9F-7E35-4BB8-95BF-BE9435E784D5}" destId="{150E1394-01A6-48A0-A2DC-FA93BA8F023B}" srcOrd="2" destOrd="0" presId="urn:microsoft.com/office/officeart/2008/layout/VerticalCurvedList"/>
    <dgm:cxn modelId="{6B0F6629-DD4A-424D-830C-57CA77E96F2D}" type="presParOf" srcId="{3770EF9F-7E35-4BB8-95BF-BE9435E784D5}" destId="{420C1C95-E820-49D2-89E2-7A7E334730D6}" srcOrd="3" destOrd="0" presId="urn:microsoft.com/office/officeart/2008/layout/VerticalCurvedList"/>
    <dgm:cxn modelId="{C9780BF6-4362-43E6-B628-DD69D9598A81}" type="presParOf" srcId="{D60D442C-25CC-4F8B-AB3E-70C9131CDA89}" destId="{A160B551-8F31-4987-B942-95B5AC996A8E}" srcOrd="1" destOrd="0" presId="urn:microsoft.com/office/officeart/2008/layout/VerticalCurvedList"/>
    <dgm:cxn modelId="{13A656BB-2F21-4F29-9D1E-997C9F9D472D}" type="presParOf" srcId="{D60D442C-25CC-4F8B-AB3E-70C9131CDA89}" destId="{395D3DFE-0E44-4FDC-90FD-92392D399F3F}" srcOrd="2" destOrd="0" presId="urn:microsoft.com/office/officeart/2008/layout/VerticalCurvedList"/>
    <dgm:cxn modelId="{6C94AD96-7487-49E6-8C9D-44B98FD4EB12}" type="presParOf" srcId="{395D3DFE-0E44-4FDC-90FD-92392D399F3F}" destId="{A17F09B4-B80B-487F-B30B-A7E92FDF66FB}" srcOrd="0" destOrd="0" presId="urn:microsoft.com/office/officeart/2008/layout/VerticalCurvedList"/>
    <dgm:cxn modelId="{F9FCFBAB-FFD2-458C-84A7-A1D40D1CF230}" type="presParOf" srcId="{D60D442C-25CC-4F8B-AB3E-70C9131CDA89}" destId="{14892C0D-B0AD-4A84-BF93-190E40BCC792}" srcOrd="3" destOrd="0" presId="urn:microsoft.com/office/officeart/2008/layout/VerticalCurvedList"/>
    <dgm:cxn modelId="{7BBCD3A3-DF01-4C55-8DD1-8F53FD60FE0B}" type="presParOf" srcId="{D60D442C-25CC-4F8B-AB3E-70C9131CDA89}" destId="{1BAE8878-4AAC-4E91-B443-33DFA92E0729}" srcOrd="4" destOrd="0" presId="urn:microsoft.com/office/officeart/2008/layout/VerticalCurvedList"/>
    <dgm:cxn modelId="{F673D079-EC18-4A66-A8BE-CA8093B84E46}" type="presParOf" srcId="{1BAE8878-4AAC-4E91-B443-33DFA92E0729}" destId="{F0735622-C595-464D-92D7-90807F833FC1}" srcOrd="0" destOrd="0" presId="urn:microsoft.com/office/officeart/2008/layout/VerticalCurvedList"/>
    <dgm:cxn modelId="{A75087ED-9D59-4DDA-BA6F-2AFDC302D6DF}" type="presParOf" srcId="{D60D442C-25CC-4F8B-AB3E-70C9131CDA89}" destId="{AAF0DB6F-1DCA-47DB-AB9E-5D350F320A21}" srcOrd="5" destOrd="0" presId="urn:microsoft.com/office/officeart/2008/layout/VerticalCurvedList"/>
    <dgm:cxn modelId="{4F29DD1F-6A3C-4A01-A8C6-26B2E6CC08D0}" type="presParOf" srcId="{D60D442C-25CC-4F8B-AB3E-70C9131CDA89}" destId="{1D4ACCA2-AC8D-485D-ACC6-D613828852CE}" srcOrd="6" destOrd="0" presId="urn:microsoft.com/office/officeart/2008/layout/VerticalCurvedList"/>
    <dgm:cxn modelId="{A3DA6FF1-4CFB-483E-9C4A-29D963030746}" type="presParOf" srcId="{1D4ACCA2-AC8D-485D-ACC6-D613828852CE}" destId="{C25FC94C-D05A-4179-ABF6-6A521B74E3A8}" srcOrd="0" destOrd="0" presId="urn:microsoft.com/office/officeart/2008/layout/VerticalCurvedList"/>
    <dgm:cxn modelId="{6152645C-1DB0-4880-8A9F-49A384522065}" type="presParOf" srcId="{D60D442C-25CC-4F8B-AB3E-70C9131CDA89}" destId="{E096E138-0A88-476F-ACA9-8807E32FC6E6}" srcOrd="7" destOrd="0" presId="urn:microsoft.com/office/officeart/2008/layout/VerticalCurvedList"/>
    <dgm:cxn modelId="{480928F2-1906-4042-8A9F-8449FF292AB1}" type="presParOf" srcId="{D60D442C-25CC-4F8B-AB3E-70C9131CDA89}" destId="{5C979081-A0B6-43F6-B7C8-F97B02A0A4CB}" srcOrd="8" destOrd="0" presId="urn:microsoft.com/office/officeart/2008/layout/VerticalCurvedList"/>
    <dgm:cxn modelId="{07EF2A1C-B108-490E-9ADE-B5903CBCAE99}" type="presParOf" srcId="{5C979081-A0B6-43F6-B7C8-F97B02A0A4CB}" destId="{377F21CE-37A7-4C65-BA5C-90AAD0FC1D74}" srcOrd="0" destOrd="0" presId="urn:microsoft.com/office/officeart/2008/layout/VerticalCurvedList"/>
    <dgm:cxn modelId="{E62C2DB1-29B8-4477-B73E-077BBD557D25}" type="presParOf" srcId="{D60D442C-25CC-4F8B-AB3E-70C9131CDA89}" destId="{C199FA71-4950-449F-B3C7-41AD147189A0}" srcOrd="9" destOrd="0" presId="urn:microsoft.com/office/officeart/2008/layout/VerticalCurvedList"/>
    <dgm:cxn modelId="{2889FB26-34B8-4E3D-8D6E-643E1DD26BC9}" type="presParOf" srcId="{D60D442C-25CC-4F8B-AB3E-70C9131CDA89}" destId="{41F45BA8-4991-4202-BF19-A90A3946AF54}" srcOrd="10" destOrd="0" presId="urn:microsoft.com/office/officeart/2008/layout/VerticalCurvedList"/>
    <dgm:cxn modelId="{20B24423-28BD-4CA6-9EF0-B4E120581F07}" type="presParOf" srcId="{41F45BA8-4991-4202-BF19-A90A3946AF54}" destId="{BED6B751-3AB1-4DBF-B3D3-073378B45180}" srcOrd="0" destOrd="0" presId="urn:microsoft.com/office/officeart/2008/layout/VerticalCurvedList"/>
    <dgm:cxn modelId="{BC5B2EC6-061B-4E4E-AA47-58786B193812}" type="presParOf" srcId="{D60D442C-25CC-4F8B-AB3E-70C9131CDA89}" destId="{DD01E744-A904-473D-AEB2-C69701B03672}" srcOrd="11" destOrd="0" presId="urn:microsoft.com/office/officeart/2008/layout/VerticalCurvedList"/>
    <dgm:cxn modelId="{D63A6E31-6913-4FEE-98AF-543AA30CA0AF}" type="presParOf" srcId="{D60D442C-25CC-4F8B-AB3E-70C9131CDA89}" destId="{C4AEAF38-E03A-4B37-967E-F6D542E6890E}" srcOrd="12" destOrd="0" presId="urn:microsoft.com/office/officeart/2008/layout/VerticalCurvedList"/>
    <dgm:cxn modelId="{A9BF11A7-A749-4980-860C-158B3372A7D8}" type="presParOf" srcId="{C4AEAF38-E03A-4B37-967E-F6D542E6890E}" destId="{36D3A678-EE1A-4C82-A01B-556D2B4FDD68}" srcOrd="0" destOrd="0" presId="urn:microsoft.com/office/officeart/2008/layout/VerticalCurvedList"/>
    <dgm:cxn modelId="{E156FE91-D0FA-4952-9F9E-7ADA83697DB1}" type="presParOf" srcId="{D60D442C-25CC-4F8B-AB3E-70C9131CDA89}" destId="{628E0FB3-8C8C-49D6-8AB3-BD15A4D73287}" srcOrd="13" destOrd="0" presId="urn:microsoft.com/office/officeart/2008/layout/VerticalCurvedList"/>
    <dgm:cxn modelId="{2CC45929-8FD1-40A3-99FA-240F29B73557}" type="presParOf" srcId="{D60D442C-25CC-4F8B-AB3E-70C9131CDA89}" destId="{8142197F-EB6E-491E-9C7A-0C5D6A0C6434}" srcOrd="14" destOrd="0" presId="urn:microsoft.com/office/officeart/2008/layout/VerticalCurvedList"/>
    <dgm:cxn modelId="{15B7217B-88F2-4D09-AD4F-CE07C8DA388D}" type="presParOf" srcId="{8142197F-EB6E-491E-9C7A-0C5D6A0C6434}" destId="{95CA5992-54AD-4809-872C-E7072C3E8045}"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BA6869-8F9C-4C08-B07C-2D76D9AD314F}">
      <dsp:nvSpPr>
        <dsp:cNvPr id="0" name=""/>
        <dsp:cNvSpPr/>
      </dsp:nvSpPr>
      <dsp:spPr>
        <a:xfrm>
          <a:off x="-6175769" y="-945490"/>
          <a:ext cx="7356621" cy="7356621"/>
        </a:xfrm>
        <a:prstGeom prst="blockArc">
          <a:avLst>
            <a:gd name="adj1" fmla="val 18900000"/>
            <a:gd name="adj2" fmla="val 2700000"/>
            <a:gd name="adj3" fmla="val 294"/>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60B551-8F31-4987-B942-95B5AC996A8E}">
      <dsp:nvSpPr>
        <dsp:cNvPr id="0" name=""/>
        <dsp:cNvSpPr/>
      </dsp:nvSpPr>
      <dsp:spPr>
        <a:xfrm>
          <a:off x="383414" y="248468"/>
          <a:ext cx="9993905" cy="496717"/>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269" tIns="45720" rIns="45720" bIns="45720" numCol="1" spcCol="1270" anchor="ctr" anchorCtr="0">
          <a:noAutofit/>
        </a:bodyPr>
        <a:lstStyle/>
        <a:p>
          <a:pPr marL="0" lvl="0" indent="0" algn="l" defTabSz="800100">
            <a:lnSpc>
              <a:spcPct val="90000"/>
            </a:lnSpc>
            <a:spcBef>
              <a:spcPct val="0"/>
            </a:spcBef>
            <a:spcAft>
              <a:spcPct val="35000"/>
            </a:spcAft>
            <a:buNone/>
          </a:pPr>
          <a:r>
            <a:rPr lang="es-MX" sz="1800" kern="1200" dirty="0">
              <a:latin typeface="Verdana" panose="020B0604030504040204" pitchFamily="34" charset="0"/>
              <a:ea typeface="Verdana" panose="020B0604030504040204" pitchFamily="34" charset="0"/>
            </a:rPr>
            <a:t>Revisar las prioridades de la PEA</a:t>
          </a:r>
        </a:p>
      </dsp:txBody>
      <dsp:txXfrm>
        <a:off x="383414" y="248468"/>
        <a:ext cx="9993905" cy="496717"/>
      </dsp:txXfrm>
    </dsp:sp>
    <dsp:sp modelId="{A17F09B4-B80B-487F-B30B-A7E92FDF66FB}">
      <dsp:nvSpPr>
        <dsp:cNvPr id="0" name=""/>
        <dsp:cNvSpPr/>
      </dsp:nvSpPr>
      <dsp:spPr>
        <a:xfrm>
          <a:off x="72966" y="186378"/>
          <a:ext cx="620896" cy="62089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4892C0D-B0AD-4A84-BF93-190E40BCC792}">
      <dsp:nvSpPr>
        <dsp:cNvPr id="0" name=""/>
        <dsp:cNvSpPr/>
      </dsp:nvSpPr>
      <dsp:spPr>
        <a:xfrm>
          <a:off x="833236" y="993981"/>
          <a:ext cx="9544083" cy="496717"/>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269" tIns="45720" rIns="45720" bIns="45720" numCol="1" spcCol="1270" anchor="ctr" anchorCtr="0">
          <a:noAutofit/>
        </a:bodyPr>
        <a:lstStyle/>
        <a:p>
          <a:pPr marL="0" lvl="0" indent="0" algn="l" defTabSz="800100">
            <a:lnSpc>
              <a:spcPct val="90000"/>
            </a:lnSpc>
            <a:spcBef>
              <a:spcPct val="0"/>
            </a:spcBef>
            <a:spcAft>
              <a:spcPct val="35000"/>
            </a:spcAft>
            <a:buNone/>
          </a:pPr>
          <a:r>
            <a:rPr lang="es-MX" sz="1800" kern="1200" dirty="0">
              <a:latin typeface="Verdana" panose="020B0604030504040204" pitchFamily="34" charset="0"/>
              <a:ea typeface="Verdana" panose="020B0604030504040204" pitchFamily="34" charset="0"/>
            </a:rPr>
            <a:t>Generar estrategias vinculadas a las prioridades de la PEA</a:t>
          </a:r>
        </a:p>
      </dsp:txBody>
      <dsp:txXfrm>
        <a:off x="833236" y="993981"/>
        <a:ext cx="9544083" cy="496717"/>
      </dsp:txXfrm>
    </dsp:sp>
    <dsp:sp modelId="{F0735622-C595-464D-92D7-90807F833FC1}">
      <dsp:nvSpPr>
        <dsp:cNvPr id="0" name=""/>
        <dsp:cNvSpPr/>
      </dsp:nvSpPr>
      <dsp:spPr>
        <a:xfrm>
          <a:off x="522788" y="931891"/>
          <a:ext cx="620896" cy="62089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AF0DB6F-1DCA-47DB-AB9E-5D350F320A21}">
      <dsp:nvSpPr>
        <dsp:cNvPr id="0" name=""/>
        <dsp:cNvSpPr/>
      </dsp:nvSpPr>
      <dsp:spPr>
        <a:xfrm>
          <a:off x="1079737" y="1738948"/>
          <a:ext cx="9297583" cy="496717"/>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269" tIns="45720" rIns="45720" bIns="45720" numCol="1" spcCol="1270" anchor="ctr" anchorCtr="0">
          <a:noAutofit/>
        </a:bodyPr>
        <a:lstStyle/>
        <a:p>
          <a:pPr marL="0" lvl="0" indent="0" algn="l" defTabSz="800100">
            <a:lnSpc>
              <a:spcPct val="90000"/>
            </a:lnSpc>
            <a:spcBef>
              <a:spcPct val="0"/>
            </a:spcBef>
            <a:spcAft>
              <a:spcPct val="35000"/>
            </a:spcAft>
            <a:buNone/>
          </a:pPr>
          <a:r>
            <a:rPr lang="es-MX" sz="1800" kern="1200">
              <a:latin typeface="Verdana" panose="020B0604030504040204" pitchFamily="34" charset="0"/>
              <a:ea typeface="Verdana" panose="020B0604030504040204" pitchFamily="34" charset="0"/>
            </a:rPr>
            <a:t>Generar líneas de acción vinculadas a las estrategias</a:t>
          </a:r>
        </a:p>
      </dsp:txBody>
      <dsp:txXfrm>
        <a:off x="1079737" y="1738948"/>
        <a:ext cx="9297583" cy="496717"/>
      </dsp:txXfrm>
    </dsp:sp>
    <dsp:sp modelId="{C25FC94C-D05A-4179-ABF6-6A521B74E3A8}">
      <dsp:nvSpPr>
        <dsp:cNvPr id="0" name=""/>
        <dsp:cNvSpPr/>
      </dsp:nvSpPr>
      <dsp:spPr>
        <a:xfrm>
          <a:off x="769288" y="1676858"/>
          <a:ext cx="620896" cy="62089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96E138-0A88-476F-ACA9-8807E32FC6E6}">
      <dsp:nvSpPr>
        <dsp:cNvPr id="0" name=""/>
        <dsp:cNvSpPr/>
      </dsp:nvSpPr>
      <dsp:spPr>
        <a:xfrm>
          <a:off x="1158442" y="2484461"/>
          <a:ext cx="9218878" cy="496717"/>
        </a:xfrm>
        <a:prstGeom prst="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269" tIns="45720" rIns="45720" bIns="45720" numCol="1" spcCol="1270" anchor="ctr" anchorCtr="0">
          <a:noAutofit/>
        </a:bodyPr>
        <a:lstStyle/>
        <a:p>
          <a:pPr marL="0" lvl="0" indent="0" algn="l" defTabSz="800100">
            <a:lnSpc>
              <a:spcPct val="90000"/>
            </a:lnSpc>
            <a:spcBef>
              <a:spcPct val="0"/>
            </a:spcBef>
            <a:spcAft>
              <a:spcPct val="35000"/>
            </a:spcAft>
            <a:buNone/>
          </a:pPr>
          <a:r>
            <a:rPr lang="es-MX" sz="1800" kern="1200">
              <a:latin typeface="Verdana" panose="020B0604030504040204" pitchFamily="34" charset="0"/>
              <a:ea typeface="Verdana" panose="020B0604030504040204" pitchFamily="34" charset="0"/>
            </a:rPr>
            <a:t>Clasificar la línea de acción</a:t>
          </a:r>
        </a:p>
      </dsp:txBody>
      <dsp:txXfrm>
        <a:off x="1158442" y="2484461"/>
        <a:ext cx="9218878" cy="496717"/>
      </dsp:txXfrm>
    </dsp:sp>
    <dsp:sp modelId="{377F21CE-37A7-4C65-BA5C-90AAD0FC1D74}">
      <dsp:nvSpPr>
        <dsp:cNvPr id="0" name=""/>
        <dsp:cNvSpPr/>
      </dsp:nvSpPr>
      <dsp:spPr>
        <a:xfrm>
          <a:off x="847994" y="2422372"/>
          <a:ext cx="620896" cy="62089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99FA71-4950-449F-B3C7-41AD147189A0}">
      <dsp:nvSpPr>
        <dsp:cNvPr id="0" name=""/>
        <dsp:cNvSpPr/>
      </dsp:nvSpPr>
      <dsp:spPr>
        <a:xfrm>
          <a:off x="1079737" y="3229975"/>
          <a:ext cx="9297583" cy="496717"/>
        </a:xfrm>
        <a:prstGeom prst="rect">
          <a:avLst/>
        </a:prstGeom>
        <a:solidFill>
          <a:srgbClr val="FF00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269" tIns="45720" rIns="45720" bIns="45720" numCol="1" spcCol="1270" anchor="ctr" anchorCtr="0">
          <a:noAutofit/>
        </a:bodyPr>
        <a:lstStyle/>
        <a:p>
          <a:pPr marL="0" lvl="0" indent="0" algn="l" defTabSz="800100">
            <a:lnSpc>
              <a:spcPct val="90000"/>
            </a:lnSpc>
            <a:spcBef>
              <a:spcPct val="0"/>
            </a:spcBef>
            <a:spcAft>
              <a:spcPct val="35000"/>
            </a:spcAft>
            <a:buNone/>
          </a:pPr>
          <a:r>
            <a:rPr lang="es-MX" sz="1800" kern="1200">
              <a:latin typeface="Verdana" panose="020B0604030504040204" pitchFamily="34" charset="0"/>
              <a:ea typeface="Verdana" panose="020B0604030504040204" pitchFamily="34" charset="0"/>
            </a:rPr>
            <a:t>Generar indicadores de gestión a la línea de acción</a:t>
          </a:r>
        </a:p>
      </dsp:txBody>
      <dsp:txXfrm>
        <a:off x="1079737" y="3229975"/>
        <a:ext cx="9297583" cy="496717"/>
      </dsp:txXfrm>
    </dsp:sp>
    <dsp:sp modelId="{BED6B751-3AB1-4DBF-B3D3-073378B45180}">
      <dsp:nvSpPr>
        <dsp:cNvPr id="0" name=""/>
        <dsp:cNvSpPr/>
      </dsp:nvSpPr>
      <dsp:spPr>
        <a:xfrm>
          <a:off x="769288" y="3167885"/>
          <a:ext cx="620896" cy="62089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01E744-A904-473D-AEB2-C69701B03672}">
      <dsp:nvSpPr>
        <dsp:cNvPr id="0" name=""/>
        <dsp:cNvSpPr/>
      </dsp:nvSpPr>
      <dsp:spPr>
        <a:xfrm>
          <a:off x="833236" y="3974942"/>
          <a:ext cx="9544083" cy="496717"/>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269" tIns="45720" rIns="45720" bIns="45720" numCol="1" spcCol="1270" anchor="ctr" anchorCtr="0">
          <a:noAutofit/>
        </a:bodyPr>
        <a:lstStyle/>
        <a:p>
          <a:pPr marL="0" lvl="0" indent="0" algn="l" defTabSz="800100">
            <a:lnSpc>
              <a:spcPct val="90000"/>
            </a:lnSpc>
            <a:spcBef>
              <a:spcPct val="0"/>
            </a:spcBef>
            <a:spcAft>
              <a:spcPct val="35000"/>
            </a:spcAft>
            <a:buNone/>
          </a:pPr>
          <a:r>
            <a:rPr lang="es-MX" sz="1800" kern="1200">
              <a:latin typeface="Verdana" panose="020B0604030504040204" pitchFamily="34" charset="0"/>
              <a:ea typeface="Verdana" panose="020B0604030504040204" pitchFamily="34" charset="0"/>
            </a:rPr>
            <a:t>Revisar indicadores estratégicos y su vinculación</a:t>
          </a:r>
        </a:p>
      </dsp:txBody>
      <dsp:txXfrm>
        <a:off x="833236" y="3974942"/>
        <a:ext cx="9544083" cy="496717"/>
      </dsp:txXfrm>
    </dsp:sp>
    <dsp:sp modelId="{36D3A678-EE1A-4C82-A01B-556D2B4FDD68}">
      <dsp:nvSpPr>
        <dsp:cNvPr id="0" name=""/>
        <dsp:cNvSpPr/>
      </dsp:nvSpPr>
      <dsp:spPr>
        <a:xfrm>
          <a:off x="522788" y="3912852"/>
          <a:ext cx="620896" cy="62089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8E0FB3-8C8C-49D6-8AB3-BD15A4D73287}">
      <dsp:nvSpPr>
        <dsp:cNvPr id="0" name=""/>
        <dsp:cNvSpPr/>
      </dsp:nvSpPr>
      <dsp:spPr>
        <a:xfrm>
          <a:off x="383414" y="4720455"/>
          <a:ext cx="9993905" cy="496717"/>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269" tIns="45720" rIns="45720" bIns="45720" numCol="1" spcCol="1270" anchor="ctr" anchorCtr="0">
          <a:noAutofit/>
        </a:bodyPr>
        <a:lstStyle/>
        <a:p>
          <a:pPr marL="0" lvl="0" indent="0" algn="l" defTabSz="800100">
            <a:lnSpc>
              <a:spcPct val="90000"/>
            </a:lnSpc>
            <a:spcBef>
              <a:spcPct val="0"/>
            </a:spcBef>
            <a:spcAft>
              <a:spcPct val="35000"/>
            </a:spcAft>
            <a:buNone/>
          </a:pPr>
          <a:r>
            <a:rPr lang="es-MX" sz="1800" kern="1200">
              <a:latin typeface="Verdana" panose="020B0604030504040204" pitchFamily="34" charset="0"/>
              <a:ea typeface="Verdana" panose="020B0604030504040204" pitchFamily="34" charset="0"/>
            </a:rPr>
            <a:t>Seguimiento y monitoreo</a:t>
          </a:r>
        </a:p>
      </dsp:txBody>
      <dsp:txXfrm>
        <a:off x="383414" y="4720455"/>
        <a:ext cx="9993905" cy="496717"/>
      </dsp:txXfrm>
    </dsp:sp>
    <dsp:sp modelId="{95CA5992-54AD-4809-872C-E7072C3E8045}">
      <dsp:nvSpPr>
        <dsp:cNvPr id="0" name=""/>
        <dsp:cNvSpPr/>
      </dsp:nvSpPr>
      <dsp:spPr>
        <a:xfrm>
          <a:off x="72966" y="4658365"/>
          <a:ext cx="620896" cy="62089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F2132E-B780-469B-ACCF-1069DBA6DC1E}" type="datetimeFigureOut">
              <a:rPr lang="es-ES" smtClean="0"/>
              <a:t>10/11/2025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4DCACA-302C-4C97-ABF1-3876BBF90591}" type="slidenum">
              <a:rPr lang="es-ES" smtClean="0"/>
              <a:t>‹Nº›</a:t>
            </a:fld>
            <a:endParaRPr lang="es-ES"/>
          </a:p>
        </p:txBody>
      </p:sp>
    </p:spTree>
    <p:extLst>
      <p:ext uri="{BB962C8B-B14F-4D97-AF65-F5344CB8AC3E}">
        <p14:creationId xmlns:p14="http://schemas.microsoft.com/office/powerpoint/2010/main" val="2749769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solidFill>
          <a:srgbClr val="FFFEFC"/>
        </a:solidFill>
        <a:effectLst/>
      </p:bgPr>
    </p:bg>
    <p:spTree>
      <p:nvGrpSpPr>
        <p:cNvPr id="1" name=""/>
        <p:cNvGrpSpPr/>
        <p:nvPr/>
      </p:nvGrpSpPr>
      <p:grpSpPr>
        <a:xfrm>
          <a:off x="0" y="0"/>
          <a:ext cx="0" cy="0"/>
          <a:chOff x="0" y="0"/>
          <a:chExt cx="0" cy="0"/>
        </a:xfrm>
      </p:grpSpPr>
      <p:sp>
        <p:nvSpPr>
          <p:cNvPr id="7" name="Rectángulo 6"/>
          <p:cNvSpPr/>
          <p:nvPr userDrawn="1"/>
        </p:nvSpPr>
        <p:spPr>
          <a:xfrm>
            <a:off x="10104000" y="0"/>
            <a:ext cx="2088000" cy="6858000"/>
          </a:xfrm>
          <a:prstGeom prst="rect">
            <a:avLst/>
          </a:prstGeom>
          <a:solidFill>
            <a:srgbClr val="AE19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p:cNvSpPr txBox="1"/>
          <p:nvPr userDrawn="1"/>
        </p:nvSpPr>
        <p:spPr>
          <a:xfrm>
            <a:off x="426131" y="2551837"/>
            <a:ext cx="5877017" cy="1754326"/>
          </a:xfrm>
          <a:prstGeom prst="rect">
            <a:avLst/>
          </a:prstGeom>
          <a:noFill/>
        </p:spPr>
        <p:txBody>
          <a:bodyPr wrap="square" rtlCol="0">
            <a:spAutoFit/>
          </a:bodyPr>
          <a:lstStyle/>
          <a:p>
            <a:pPr algn="l"/>
            <a:r>
              <a:rPr lang="es-MX" sz="3600" b="1" dirty="0">
                <a:solidFill>
                  <a:srgbClr val="3C3C3C"/>
                </a:solidFill>
                <a:latin typeface="Montserrat" panose="00000500000000000000" pitchFamily="2" charset="0"/>
              </a:rPr>
              <a:t>Inducción al</a:t>
            </a:r>
          </a:p>
          <a:p>
            <a:pPr algn="l"/>
            <a:r>
              <a:rPr lang="es-MX" sz="3600" b="1" dirty="0">
                <a:solidFill>
                  <a:srgbClr val="009885"/>
                </a:solidFill>
                <a:latin typeface="Montserrat" panose="00000500000000000000" pitchFamily="2" charset="0"/>
              </a:rPr>
              <a:t>Sistema Anticorrupción del Estado de Chiapas</a:t>
            </a:r>
            <a:endParaRPr lang="es-ES" sz="3600" b="1" dirty="0">
              <a:solidFill>
                <a:srgbClr val="009885"/>
              </a:solidFill>
              <a:latin typeface="Montserrat" panose="00000500000000000000" pitchFamily="2" charset="0"/>
            </a:endParaRPr>
          </a:p>
        </p:txBody>
      </p:sp>
      <p:sp>
        <p:nvSpPr>
          <p:cNvPr id="9" name="Rectángulo 8"/>
          <p:cNvSpPr/>
          <p:nvPr userDrawn="1"/>
        </p:nvSpPr>
        <p:spPr>
          <a:xfrm>
            <a:off x="0" y="548640"/>
            <a:ext cx="1044000" cy="720000"/>
          </a:xfrm>
          <a:prstGeom prst="rect">
            <a:avLst/>
          </a:prstGeom>
          <a:solidFill>
            <a:srgbClr val="009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Imagen 9"/>
          <p:cNvPicPr>
            <a:picLocks noChangeAspect="1"/>
          </p:cNvPicPr>
          <p:nvPr userDrawn="1"/>
        </p:nvPicPr>
        <p:blipFill rotWithShape="1">
          <a:blip r:embed="rId2">
            <a:extLst>
              <a:ext uri="{28A0092B-C50C-407E-A947-70E740481C1C}">
                <a14:useLocalDpi xmlns:a14="http://schemas.microsoft.com/office/drawing/2010/main" val="0"/>
              </a:ext>
            </a:extLst>
          </a:blip>
          <a:srcRect l="58479" r="6379"/>
          <a:stretch/>
        </p:blipFill>
        <p:spPr>
          <a:xfrm>
            <a:off x="6806046" y="0"/>
            <a:ext cx="3999291" cy="6858000"/>
          </a:xfrm>
          <a:prstGeom prst="rect">
            <a:avLst/>
          </a:prstGeom>
        </p:spPr>
      </p:pic>
      <p:pic>
        <p:nvPicPr>
          <p:cNvPr id="4" name="Imagen 3" descr="Logotipo&#10;&#10;Descripción generada automáticamente con confianza baja">
            <a:extLst>
              <a:ext uri="{FF2B5EF4-FFF2-40B4-BE49-F238E27FC236}">
                <a16:creationId xmlns:a16="http://schemas.microsoft.com/office/drawing/2014/main" id="{28BAA3AC-0569-C97D-8725-319AD84058F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6663" y="5294966"/>
            <a:ext cx="3629600" cy="1016657"/>
          </a:xfrm>
          <a:prstGeom prst="rect">
            <a:avLst/>
          </a:prstGeom>
        </p:spPr>
      </p:pic>
    </p:spTree>
    <p:extLst>
      <p:ext uri="{BB962C8B-B14F-4D97-AF65-F5344CB8AC3E}">
        <p14:creationId xmlns:p14="http://schemas.microsoft.com/office/powerpoint/2010/main" val="26789126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4928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4980F38-D4C7-61F1-DE21-7AE1BFBB1E1D}"/>
              </a:ext>
            </a:extLst>
          </p:cNvPr>
          <p:cNvSpPr>
            <a:spLocks noGrp="1"/>
          </p:cNvSpPr>
          <p:nvPr>
            <p:ph type="dt" sz="half" idx="10"/>
          </p:nvPr>
        </p:nvSpPr>
        <p:spPr/>
        <p:txBody>
          <a:bodyPr/>
          <a:lstStyle/>
          <a:p>
            <a:fld id="{0809A4CC-B131-45F6-8F9D-4A0CE657B68A}" type="datetimeFigureOut">
              <a:rPr lang="es-MX" smtClean="0"/>
              <a:t>10/11/2025</a:t>
            </a:fld>
            <a:endParaRPr lang="es-MX"/>
          </a:p>
        </p:txBody>
      </p:sp>
      <p:sp>
        <p:nvSpPr>
          <p:cNvPr id="3" name="Marcador de pie de página 2">
            <a:extLst>
              <a:ext uri="{FF2B5EF4-FFF2-40B4-BE49-F238E27FC236}">
                <a16:creationId xmlns:a16="http://schemas.microsoft.com/office/drawing/2014/main" id="{A555BD6A-5D30-0097-819F-66A7E2F2EE57}"/>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F11E119F-E246-0F19-9D2A-C5DDC39CE47E}"/>
              </a:ext>
            </a:extLst>
          </p:cNvPr>
          <p:cNvSpPr>
            <a:spLocks noGrp="1"/>
          </p:cNvSpPr>
          <p:nvPr>
            <p:ph type="sldNum" sz="quarter" idx="12"/>
          </p:nvPr>
        </p:nvSpPr>
        <p:spPr/>
        <p:txBody>
          <a:bodyPr/>
          <a:lstStyle/>
          <a:p>
            <a:fld id="{8DDB1F02-517B-4E4D-B611-AE51A67BB169}" type="slidenum">
              <a:rPr lang="es-MX" smtClean="0"/>
              <a:t>‹Nº›</a:t>
            </a:fld>
            <a:endParaRPr lang="es-MX"/>
          </a:p>
        </p:txBody>
      </p:sp>
    </p:spTree>
    <p:extLst>
      <p:ext uri="{BB962C8B-B14F-4D97-AF65-F5344CB8AC3E}">
        <p14:creationId xmlns:p14="http://schemas.microsoft.com/office/powerpoint/2010/main" val="4179403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51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30A32B-3C2E-FE66-40D2-4CD7DE1F06E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057C8C0E-511F-EDBC-FE68-690EF0AFD1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BD38AE9E-AA93-7722-A787-BFC0B046B02F}"/>
              </a:ext>
            </a:extLst>
          </p:cNvPr>
          <p:cNvSpPr>
            <a:spLocks noGrp="1"/>
          </p:cNvSpPr>
          <p:nvPr>
            <p:ph type="dt" sz="half" idx="10"/>
          </p:nvPr>
        </p:nvSpPr>
        <p:spPr/>
        <p:txBody>
          <a:bodyPr/>
          <a:lstStyle/>
          <a:p>
            <a:fld id="{0809A4CC-B131-45F6-8F9D-4A0CE657B68A}" type="datetimeFigureOut">
              <a:rPr lang="es-MX" smtClean="0"/>
              <a:t>10/11/2025</a:t>
            </a:fld>
            <a:endParaRPr lang="es-MX"/>
          </a:p>
        </p:txBody>
      </p:sp>
      <p:sp>
        <p:nvSpPr>
          <p:cNvPr id="5" name="Marcador de pie de página 4">
            <a:extLst>
              <a:ext uri="{FF2B5EF4-FFF2-40B4-BE49-F238E27FC236}">
                <a16:creationId xmlns:a16="http://schemas.microsoft.com/office/drawing/2014/main" id="{A7A3102F-48CF-2B43-13C9-2B9DD7522ED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57765E6-BB28-C423-2E7B-819B8C06F0C9}"/>
              </a:ext>
            </a:extLst>
          </p:cNvPr>
          <p:cNvSpPr>
            <a:spLocks noGrp="1"/>
          </p:cNvSpPr>
          <p:nvPr>
            <p:ph type="sldNum" sz="quarter" idx="12"/>
          </p:nvPr>
        </p:nvSpPr>
        <p:spPr/>
        <p:txBody>
          <a:bodyPr/>
          <a:lstStyle/>
          <a:p>
            <a:fld id="{8DDB1F02-517B-4E4D-B611-AE51A67BB169}" type="slidenum">
              <a:rPr lang="es-MX" smtClean="0"/>
              <a:t>‹Nº›</a:t>
            </a:fld>
            <a:endParaRPr lang="es-MX"/>
          </a:p>
        </p:txBody>
      </p:sp>
    </p:spTree>
    <p:extLst>
      <p:ext uri="{BB962C8B-B14F-4D97-AF65-F5344CB8AC3E}">
        <p14:creationId xmlns:p14="http://schemas.microsoft.com/office/powerpoint/2010/main" val="2485107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4" name="Rectángulo 3"/>
          <p:cNvSpPr/>
          <p:nvPr userDrawn="1"/>
        </p:nvSpPr>
        <p:spPr>
          <a:xfrm>
            <a:off x="0" y="0"/>
            <a:ext cx="6087134" cy="6858000"/>
          </a:xfrm>
          <a:prstGeom prst="rect">
            <a:avLst/>
          </a:prstGeom>
          <a:solidFill>
            <a:srgbClr val="C90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Marcador de contenido 14">
            <a:extLst>
              <a:ext uri="{FF2B5EF4-FFF2-40B4-BE49-F238E27FC236}">
                <a16:creationId xmlns:a16="http://schemas.microsoft.com/office/drawing/2014/main" id="{DCFD8853-048A-41A4-AA01-620765608082}"/>
              </a:ext>
            </a:extLst>
          </p:cNvPr>
          <p:cNvSpPr txBox="1">
            <a:spLocks/>
          </p:cNvSpPr>
          <p:nvPr userDrawn="1"/>
        </p:nvSpPr>
        <p:spPr>
          <a:xfrm>
            <a:off x="138377" y="2923651"/>
            <a:ext cx="5399673" cy="1010698"/>
          </a:xfrm>
          <a:prstGeom prst="rect">
            <a:avLst/>
          </a:prstGeom>
        </p:spPr>
        <p:txBody>
          <a:bodyPr vert="horz" lIns="91440" tIns="45720" rIns="91440" bIns="45720"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Gandhi Serif" panose="02000000000000000000" pitchFamily="50"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Gandhi Serif" panose="02000000000000000000" pitchFamily="50"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Gandhi Serif" panose="02000000000000000000" pitchFamily="50"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andhi Serif" panose="02000000000000000000" pitchFamily="50"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andhi Serif" panose="02000000000000000000" pitchFamily="50"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ES" sz="6000" b="1" dirty="0">
                <a:solidFill>
                  <a:schemeClr val="bg1"/>
                </a:solidFill>
                <a:latin typeface="Gotham Medium" pitchFamily="2" charset="0"/>
                <a:cs typeface="Gotham Medium" pitchFamily="2" charset="0"/>
              </a:rPr>
              <a:t>Contenido</a:t>
            </a:r>
          </a:p>
        </p:txBody>
      </p:sp>
    </p:spTree>
    <p:extLst>
      <p:ext uri="{BB962C8B-B14F-4D97-AF65-F5344CB8AC3E}">
        <p14:creationId xmlns:p14="http://schemas.microsoft.com/office/powerpoint/2010/main" val="41612835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4494916"/>
      </p:ext>
    </p:extLst>
  </p:cSld>
  <p:clrMapOvr>
    <a:masterClrMapping/>
  </p:clrMapOvr>
  <p:hf hdr="0" ft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solidFill>
          <a:srgbClr val="00988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71454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4896276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5.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8000400"/>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4" r:id="rId3"/>
    <p:sldLayoutId id="2147483665" r:id="rId4"/>
    <p:sldLayoutId id="214748366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80063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ángulo 6"/>
          <p:cNvSpPr/>
          <p:nvPr userDrawn="1"/>
        </p:nvSpPr>
        <p:spPr>
          <a:xfrm>
            <a:off x="0" y="6761289"/>
            <a:ext cx="12192000" cy="108000"/>
          </a:xfrm>
          <a:prstGeom prst="rect">
            <a:avLst/>
          </a:prstGeom>
          <a:solidFill>
            <a:srgbClr val="AE19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p:cNvSpPr/>
          <p:nvPr userDrawn="1"/>
        </p:nvSpPr>
        <p:spPr>
          <a:xfrm>
            <a:off x="0" y="113215"/>
            <a:ext cx="108000" cy="648000"/>
          </a:xfrm>
          <a:prstGeom prst="rect">
            <a:avLst/>
          </a:prstGeom>
          <a:solidFill>
            <a:srgbClr val="009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p:cNvPicPr>
            <a:picLocks noChangeAspect="1"/>
          </p:cNvPicPr>
          <p:nvPr userDrawn="1"/>
        </p:nvPicPr>
        <p:blipFill>
          <a:blip r:embed="rId3" cstate="print">
            <a:duotone>
              <a:prstClr val="black"/>
              <a:srgbClr val="009885">
                <a:tint val="45000"/>
                <a:satMod val="400000"/>
              </a:srgbClr>
            </a:duotone>
            <a:extLst>
              <a:ext uri="{28A0092B-C50C-407E-A947-70E740481C1C}">
                <a14:useLocalDpi xmlns:a14="http://schemas.microsoft.com/office/drawing/2010/main" val="0"/>
              </a:ext>
            </a:extLst>
          </a:blip>
          <a:stretch>
            <a:fillRect/>
          </a:stretch>
        </p:blipFill>
        <p:spPr>
          <a:xfrm>
            <a:off x="11056184" y="6154564"/>
            <a:ext cx="1069850" cy="557785"/>
          </a:xfrm>
          <a:prstGeom prst="rect">
            <a:avLst/>
          </a:prstGeom>
        </p:spPr>
      </p:pic>
      <p:sp>
        <p:nvSpPr>
          <p:cNvPr id="5" name="Rectángulo 4">
            <a:extLst>
              <a:ext uri="{FF2B5EF4-FFF2-40B4-BE49-F238E27FC236}">
                <a16:creationId xmlns:a16="http://schemas.microsoft.com/office/drawing/2014/main" id="{A4F32D87-DB48-492B-AB8E-785534B213F8}"/>
              </a:ext>
            </a:extLst>
          </p:cNvPr>
          <p:cNvSpPr/>
          <p:nvPr userDrawn="1"/>
        </p:nvSpPr>
        <p:spPr>
          <a:xfrm>
            <a:off x="11381108" y="6180695"/>
            <a:ext cx="420002" cy="3497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5A5E32F3-6F8A-4603-83CF-18FA895D5AB0}" type="slidenum">
              <a:rPr lang="es-MX" sz="1100" smtClean="0">
                <a:solidFill>
                  <a:schemeClr val="bg1"/>
                </a:solidFill>
                <a:latin typeface="Montserrat" panose="00000500000000000000" pitchFamily="2" charset="0"/>
                <a:cs typeface="Gotham Medium" pitchFamily="2" charset="0"/>
              </a:rPr>
              <a:t>‹Nº›</a:t>
            </a:fld>
            <a:endParaRPr lang="es-MX" sz="1100" dirty="0">
              <a:solidFill>
                <a:schemeClr val="bg1"/>
              </a:solidFill>
              <a:latin typeface="Montserrat" panose="00000500000000000000" pitchFamily="2" charset="0"/>
              <a:cs typeface="Gotham Medium" pitchFamily="2" charset="0"/>
            </a:endParaRPr>
          </a:p>
        </p:txBody>
      </p:sp>
    </p:spTree>
    <p:extLst>
      <p:ext uri="{BB962C8B-B14F-4D97-AF65-F5344CB8AC3E}">
        <p14:creationId xmlns:p14="http://schemas.microsoft.com/office/powerpoint/2010/main" val="3135558982"/>
      </p:ext>
    </p:extLst>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0988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8766191"/>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ángulo 6"/>
          <p:cNvSpPr/>
          <p:nvPr userDrawn="1"/>
        </p:nvSpPr>
        <p:spPr>
          <a:xfrm>
            <a:off x="0" y="6761289"/>
            <a:ext cx="12192000" cy="108000"/>
          </a:xfrm>
          <a:prstGeom prst="rect">
            <a:avLst/>
          </a:prstGeom>
          <a:solidFill>
            <a:srgbClr val="AE19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p:cNvSpPr/>
          <p:nvPr userDrawn="1"/>
        </p:nvSpPr>
        <p:spPr>
          <a:xfrm>
            <a:off x="0" y="113215"/>
            <a:ext cx="108000" cy="648000"/>
          </a:xfrm>
          <a:prstGeom prst="rect">
            <a:avLst/>
          </a:prstGeom>
          <a:solidFill>
            <a:srgbClr val="009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9" name="Imagen 8"/>
          <p:cNvPicPr>
            <a:picLocks noChangeAspect="1"/>
          </p:cNvPicPr>
          <p:nvPr userDrawn="1"/>
        </p:nvPicPr>
        <p:blipFill>
          <a:blip r:embed="rId3" cstate="print">
            <a:duotone>
              <a:prstClr val="black"/>
              <a:srgbClr val="006666">
                <a:tint val="45000"/>
                <a:satMod val="400000"/>
              </a:srgbClr>
            </a:duotone>
            <a:extLst>
              <a:ext uri="{28A0092B-C50C-407E-A947-70E740481C1C}">
                <a14:useLocalDpi xmlns:a14="http://schemas.microsoft.com/office/drawing/2010/main" val="0"/>
              </a:ext>
            </a:extLst>
          </a:blip>
          <a:stretch>
            <a:fillRect/>
          </a:stretch>
        </p:blipFill>
        <p:spPr>
          <a:xfrm>
            <a:off x="65931" y="6154564"/>
            <a:ext cx="1069850" cy="557785"/>
          </a:xfrm>
          <a:prstGeom prst="rect">
            <a:avLst/>
          </a:prstGeom>
        </p:spPr>
      </p:pic>
      <p:sp>
        <p:nvSpPr>
          <p:cNvPr id="10" name="Rectángulo 9">
            <a:extLst>
              <a:ext uri="{FF2B5EF4-FFF2-40B4-BE49-F238E27FC236}">
                <a16:creationId xmlns:a16="http://schemas.microsoft.com/office/drawing/2014/main" id="{A4F32D87-DB48-492B-AB8E-785534B213F8}"/>
              </a:ext>
            </a:extLst>
          </p:cNvPr>
          <p:cNvSpPr/>
          <p:nvPr userDrawn="1"/>
        </p:nvSpPr>
        <p:spPr>
          <a:xfrm>
            <a:off x="390855" y="6180695"/>
            <a:ext cx="420002" cy="3497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5A5E32F3-6F8A-4603-83CF-18FA895D5AB0}" type="slidenum">
              <a:rPr lang="es-MX" sz="1100" smtClean="0">
                <a:solidFill>
                  <a:schemeClr val="bg1"/>
                </a:solidFill>
                <a:latin typeface="Montserrat" panose="00000500000000000000" pitchFamily="2" charset="0"/>
                <a:cs typeface="Gotham Medium" pitchFamily="2" charset="0"/>
              </a:rPr>
              <a:t>‹Nº›</a:t>
            </a:fld>
            <a:endParaRPr lang="es-MX" sz="1100" dirty="0">
              <a:solidFill>
                <a:schemeClr val="bg1"/>
              </a:solidFill>
              <a:latin typeface="Montserrat" panose="00000500000000000000" pitchFamily="2" charset="0"/>
              <a:cs typeface="Gotham Medium" pitchFamily="2" charset="0"/>
            </a:endParaRPr>
          </a:p>
        </p:txBody>
      </p:sp>
    </p:spTree>
    <p:extLst>
      <p:ext uri="{BB962C8B-B14F-4D97-AF65-F5344CB8AC3E}">
        <p14:creationId xmlns:p14="http://schemas.microsoft.com/office/powerpoint/2010/main" val="1424678262"/>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hyperlink" Target="https://ln.sesaech.gob.mx/lsaech"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ln.sesaech.gob.mx/pea-chiapas"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sesaech.gob.mx/politica-estatal-anticorrupcion/problematizacion-de-la-corrupcion"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sesaech.gob.mx/politica-estatal-anticorrupcion/integracion-del-consejo-consultivo" TargetMode="Externa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sesaech.gob.mx/politica-estatal-anticorrupcion/integracion-del-diagnostico"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sesaech.gob.mx/politica-estatal-anticorrupcion/taller-de-priorizacion"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hyperlink" Target="https://sesaech.gob.mx/politica-estatal-anticorrupcion/politica-estatal-anticorrupcion" TargetMode="Externa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sesaech.gob.mx/views/docs/normatividad/publicaciones-del-comite-coordinador/politica-estatal-anticorrupcion.pdf"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s://sesaech.gob.mx/views/docs/normatividad/publicaciones-del-comite-coordinador/politica-estatal-anticorrupcion.pdf" TargetMode="External"/><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2" Type="http://schemas.openxmlformats.org/officeDocument/2006/relationships/hyperlink" Target="https://sesaech.gob.mx/politica-estatal-anticorrupcion/introduccion-pi-pea"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0.png"/><Relationship Id="rId2" Type="http://schemas.openxmlformats.org/officeDocument/2006/relationships/hyperlink" Target="https://sesaech.gob.mx/politica-estatal-anticorrupcion/documento-pi-pea" TargetMode="Externa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sesaech.gob.mx/views/docs/normatividad/publicaciones-del-comite-coordinador/publicacion-en-el-periodico-pi-pea.pdf"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sesaech.gob.mx/views/docs/normatividad/publicaciones-del-comite-coordinador/publicacion-en-el-periodico-pi-pea.pdf"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sesaech.gob.mx/politica-estatal-anticorrupcion/documento-pi-pea"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hyperlink" Target="http://www.sesaech.gob.mx/" TargetMode="External"/><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sv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32A6E-426E-6F13-8835-6F2C7EB7947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22E130CD-90A3-77A4-85D2-C663FF3189A9}"/>
              </a:ext>
            </a:extLst>
          </p:cNvPr>
          <p:cNvSpPr txBox="1"/>
          <p:nvPr/>
        </p:nvSpPr>
        <p:spPr>
          <a:xfrm>
            <a:off x="1062990" y="3438108"/>
            <a:ext cx="10080000" cy="1569660"/>
          </a:xfrm>
          <a:prstGeom prst="rect">
            <a:avLst/>
          </a:prstGeom>
          <a:noFill/>
        </p:spPr>
        <p:txBody>
          <a:bodyPr wrap="square" rtlCol="0">
            <a:spAutoFit/>
          </a:bodyPr>
          <a:lstStyle/>
          <a:p>
            <a:pPr algn="ctr"/>
            <a:r>
              <a:rPr lang="es-MX" sz="4800" b="1" dirty="0">
                <a:solidFill>
                  <a:srgbClr val="FFFEFC"/>
                </a:solidFill>
                <a:latin typeface="Montserrat" panose="00000500000000000000" pitchFamily="50" charset="0"/>
              </a:rPr>
              <a:t>Política Estatal</a:t>
            </a:r>
          </a:p>
          <a:p>
            <a:pPr algn="ctr"/>
            <a:r>
              <a:rPr lang="es-MX" sz="4800" b="1" dirty="0">
                <a:solidFill>
                  <a:srgbClr val="FFFEFC"/>
                </a:solidFill>
                <a:latin typeface="Montserrat" panose="00000500000000000000" pitchFamily="50" charset="0"/>
              </a:rPr>
              <a:t>Anticorrupción</a:t>
            </a:r>
            <a:endParaRPr lang="es-ES" sz="4800" b="1" dirty="0">
              <a:solidFill>
                <a:srgbClr val="FFFEFC"/>
              </a:solidFill>
              <a:latin typeface="Montserrat" panose="00000500000000000000" pitchFamily="50" charset="0"/>
            </a:endParaRPr>
          </a:p>
        </p:txBody>
      </p:sp>
      <p:pic>
        <p:nvPicPr>
          <p:cNvPr id="4" name="Imagen 3" descr="Logotipo&#10;&#10;Descripción generada automáticamente">
            <a:extLst>
              <a:ext uri="{FF2B5EF4-FFF2-40B4-BE49-F238E27FC236}">
                <a16:creationId xmlns:a16="http://schemas.microsoft.com/office/drawing/2014/main" id="{73B83505-4037-4D01-3499-F492AF1739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53257" y="560070"/>
            <a:ext cx="2880000" cy="2092886"/>
          </a:xfrm>
          <a:prstGeom prst="rect">
            <a:avLst/>
          </a:prstGeom>
        </p:spPr>
      </p:pic>
    </p:spTree>
    <p:extLst>
      <p:ext uri="{BB962C8B-B14F-4D97-AF65-F5344CB8AC3E}">
        <p14:creationId xmlns:p14="http://schemas.microsoft.com/office/powerpoint/2010/main" val="3766268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E9083-7531-9897-3A18-3E253F63C01E}"/>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33B1B191-8711-EC98-2708-E3E90C1E4B4F}"/>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¿Qué es la Política Estatal Anticorrupción?</a:t>
            </a:r>
            <a:endParaRPr lang="es-ES" sz="2500" b="1" dirty="0">
              <a:latin typeface="Montserrat" panose="00000500000000000000" pitchFamily="50" charset="0"/>
            </a:endParaRPr>
          </a:p>
        </p:txBody>
      </p:sp>
      <p:sp>
        <p:nvSpPr>
          <p:cNvPr id="6" name="CuadroTexto 5">
            <a:extLst>
              <a:ext uri="{FF2B5EF4-FFF2-40B4-BE49-F238E27FC236}">
                <a16:creationId xmlns:a16="http://schemas.microsoft.com/office/drawing/2014/main" id="{0686F7F9-7884-8600-48D7-2D1DC219F98D}"/>
              </a:ext>
            </a:extLst>
          </p:cNvPr>
          <p:cNvSpPr txBox="1"/>
          <p:nvPr/>
        </p:nvSpPr>
        <p:spPr>
          <a:xfrm>
            <a:off x="336910" y="6203486"/>
            <a:ext cx="11515454"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Artículo 5, Párrafo 2</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y </a:t>
            </a:r>
            <a:r>
              <a:rPr lang="es-MX" sz="1200" b="1" kern="0" dirty="0">
                <a:solidFill>
                  <a:schemeClr val="tx1">
                    <a:lumMod val="75000"/>
                    <a:lumOff val="25000"/>
                  </a:schemeClr>
                </a:solidFill>
                <a:latin typeface="Montserrat" panose="00000500000000000000" pitchFamily="2" charset="0"/>
                <a:cs typeface="Segoe UI" panose="020B0502040204020203" pitchFamily="34" charset="0"/>
              </a:rPr>
              <a:t>Artículo 8, Fracción III</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de la </a:t>
            </a:r>
            <a:r>
              <a:rPr lang="es-MX" sz="1200" b="1" kern="0" dirty="0">
                <a:solidFill>
                  <a:schemeClr val="tx1">
                    <a:lumMod val="75000"/>
                    <a:lumOff val="25000"/>
                  </a:schemeClr>
                </a:solidFill>
                <a:latin typeface="Montserrat" panose="00000500000000000000" pitchFamily="2" charset="0"/>
                <a:cs typeface="Segoe UI" panose="020B0502040204020203" pitchFamily="34" charset="0"/>
              </a:rPr>
              <a:t>Ley del Sistema Anticorrupción del Estado de Chiapas</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rPr>
              <a:t>disponible en: </a:t>
            </a:r>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https://ln.sesaech.gob.mx/lsaech</a:t>
            </a:r>
            <a:endParaRPr lang="es-MX" sz="1200" kern="0" dirty="0">
              <a:solidFill>
                <a:schemeClr val="tx1">
                  <a:lumMod val="75000"/>
                  <a:lumOff val="25000"/>
                </a:schemeClr>
              </a:solidFill>
              <a:latin typeface="Montserrat" panose="00000500000000000000" pitchFamily="2" charset="0"/>
              <a:cs typeface="Segoe UI" panose="020B0502040204020203" pitchFamily="34" charset="0"/>
            </a:endParaRPr>
          </a:p>
        </p:txBody>
      </p:sp>
      <p:sp>
        <p:nvSpPr>
          <p:cNvPr id="18" name="CuadroTexto 17">
            <a:extLst>
              <a:ext uri="{FF2B5EF4-FFF2-40B4-BE49-F238E27FC236}">
                <a16:creationId xmlns:a16="http://schemas.microsoft.com/office/drawing/2014/main" id="{7383DCCC-2B81-B934-BD4D-6EDA4D1A18E3}"/>
              </a:ext>
            </a:extLst>
          </p:cNvPr>
          <p:cNvSpPr txBox="1"/>
          <p:nvPr/>
        </p:nvSpPr>
        <p:spPr>
          <a:xfrm>
            <a:off x="348340" y="777510"/>
            <a:ext cx="11504025" cy="707886"/>
          </a:xfrm>
          <a:prstGeom prst="rect">
            <a:avLst/>
          </a:prstGeom>
          <a:noFill/>
        </p:spPr>
        <p:txBody>
          <a:bodyPr wrap="square" rtlCol="0">
            <a:spAutoFit/>
          </a:bodyPr>
          <a:lstStyle/>
          <a:p>
            <a:pPr algn="just"/>
            <a:r>
              <a:rPr lang="es-MX" sz="2000" kern="0" dirty="0">
                <a:solidFill>
                  <a:schemeClr val="tx1">
                    <a:lumMod val="75000"/>
                    <a:lumOff val="25000"/>
                  </a:schemeClr>
                </a:solidFill>
                <a:latin typeface="Montserrat" panose="00000500000000000000" pitchFamily="2" charset="0"/>
                <a:cs typeface="Segoe UI" panose="020B0502040204020203" pitchFamily="34" charset="0"/>
              </a:rPr>
              <a:t>La Política Estatal Anticorrupción es la hoja de ruta para el combate y control de la corrupción y se divide en tres fases</a:t>
            </a:r>
          </a:p>
        </p:txBody>
      </p:sp>
      <p:grpSp>
        <p:nvGrpSpPr>
          <p:cNvPr id="49" name="Grupo 48">
            <a:extLst>
              <a:ext uri="{FF2B5EF4-FFF2-40B4-BE49-F238E27FC236}">
                <a16:creationId xmlns:a16="http://schemas.microsoft.com/office/drawing/2014/main" id="{571214FD-9BDF-AF89-C920-9E0085F8D99C}"/>
              </a:ext>
            </a:extLst>
          </p:cNvPr>
          <p:cNvGrpSpPr/>
          <p:nvPr/>
        </p:nvGrpSpPr>
        <p:grpSpPr>
          <a:xfrm>
            <a:off x="444467" y="1724665"/>
            <a:ext cx="4176772" cy="3899697"/>
            <a:chOff x="558767" y="1946522"/>
            <a:chExt cx="4176772" cy="3899697"/>
          </a:xfrm>
        </p:grpSpPr>
        <p:sp>
          <p:nvSpPr>
            <p:cNvPr id="36" name="Rectángulo 35">
              <a:extLst>
                <a:ext uri="{FF2B5EF4-FFF2-40B4-BE49-F238E27FC236}">
                  <a16:creationId xmlns:a16="http://schemas.microsoft.com/office/drawing/2014/main" id="{F12BC402-ED5A-2937-6ABE-2472F870750A}"/>
                </a:ext>
              </a:extLst>
            </p:cNvPr>
            <p:cNvSpPr/>
            <p:nvPr/>
          </p:nvSpPr>
          <p:spPr>
            <a:xfrm>
              <a:off x="1014120" y="2901179"/>
              <a:ext cx="108000" cy="19800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Oval 47">
              <a:extLst>
                <a:ext uri="{FF2B5EF4-FFF2-40B4-BE49-F238E27FC236}">
                  <a16:creationId xmlns:a16="http://schemas.microsoft.com/office/drawing/2014/main" id="{A5129957-91DE-3804-22DC-3C4725673E89}"/>
                </a:ext>
              </a:extLst>
            </p:cNvPr>
            <p:cNvSpPr/>
            <p:nvPr/>
          </p:nvSpPr>
          <p:spPr>
            <a:xfrm rot="3010630" flipV="1">
              <a:off x="570196" y="1946522"/>
              <a:ext cx="1086347" cy="1086347"/>
            </a:xfrm>
            <a:prstGeom prst="ellipse">
              <a:avLst/>
            </a:prstGeom>
            <a:solidFill>
              <a:srgbClr val="C901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48">
              <a:extLst>
                <a:ext uri="{FF2B5EF4-FFF2-40B4-BE49-F238E27FC236}">
                  <a16:creationId xmlns:a16="http://schemas.microsoft.com/office/drawing/2014/main" id="{48C3BA02-C67F-F0E8-BAC1-FDFC7931E704}"/>
                </a:ext>
              </a:extLst>
            </p:cNvPr>
            <p:cNvSpPr/>
            <p:nvPr/>
          </p:nvSpPr>
          <p:spPr>
            <a:xfrm rot="21437455" flipV="1">
              <a:off x="720038" y="2096364"/>
              <a:ext cx="786663" cy="786663"/>
            </a:xfrm>
            <a:prstGeom prst="ellipse">
              <a:avLst/>
            </a:prstGeom>
            <a:gradFill>
              <a:gsLst>
                <a:gs pos="0">
                  <a:schemeClr val="bg1"/>
                </a:gs>
                <a:gs pos="100000">
                  <a:schemeClr val="bg1">
                    <a:lumMod val="9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9">
              <a:extLst>
                <a:ext uri="{FF2B5EF4-FFF2-40B4-BE49-F238E27FC236}">
                  <a16:creationId xmlns:a16="http://schemas.microsoft.com/office/drawing/2014/main" id="{689FBC93-D552-FD6D-D2CE-DD3520034214}"/>
                </a:ext>
              </a:extLst>
            </p:cNvPr>
            <p:cNvSpPr txBox="1"/>
            <p:nvPr/>
          </p:nvSpPr>
          <p:spPr>
            <a:xfrm>
              <a:off x="846094" y="2258377"/>
              <a:ext cx="522910" cy="449276"/>
            </a:xfrm>
            <a:prstGeom prst="rect">
              <a:avLst/>
            </a:prstGeom>
            <a:noFill/>
          </p:spPr>
          <p:txBody>
            <a:bodyPr wrap="square" lIns="0" tIns="0" rIns="0" bIns="0" rtlCol="0" anchor="ctr">
              <a:noAutofit/>
            </a:bodyPr>
            <a:lstStyle/>
            <a:p>
              <a:pPr algn="ctr"/>
              <a:r>
                <a:rPr lang="en-IN" b="1" dirty="0">
                  <a:solidFill>
                    <a:srgbClr val="C90166"/>
                  </a:solidFill>
                </a:rPr>
                <a:t>01</a:t>
              </a:r>
              <a:endParaRPr lang="en-US" b="1" dirty="0">
                <a:solidFill>
                  <a:srgbClr val="C90166"/>
                </a:solidFill>
              </a:endParaRPr>
            </a:p>
          </p:txBody>
        </p:sp>
        <p:sp>
          <p:nvSpPr>
            <p:cNvPr id="34" name="Isosceles Triangle 27">
              <a:extLst>
                <a:ext uri="{FF2B5EF4-FFF2-40B4-BE49-F238E27FC236}">
                  <a16:creationId xmlns:a16="http://schemas.microsoft.com/office/drawing/2014/main" id="{AC9D4147-5770-2C62-7AD2-81C97FD6DD2D}"/>
                </a:ext>
              </a:extLst>
            </p:cNvPr>
            <p:cNvSpPr/>
            <p:nvPr/>
          </p:nvSpPr>
          <p:spPr>
            <a:xfrm rot="16200000" flipV="1">
              <a:off x="1555786" y="2376241"/>
              <a:ext cx="349740" cy="226908"/>
            </a:xfrm>
            <a:prstGeom prst="triangle">
              <a:avLst/>
            </a:prstGeom>
            <a:solidFill>
              <a:srgbClr val="C901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テキスト プレースホルダー 8">
              <a:extLst>
                <a:ext uri="{FF2B5EF4-FFF2-40B4-BE49-F238E27FC236}">
                  <a16:creationId xmlns:a16="http://schemas.microsoft.com/office/drawing/2014/main" id="{B80AFC16-1663-87EC-E88A-0FA175066CF3}"/>
                </a:ext>
              </a:extLst>
            </p:cNvPr>
            <p:cNvSpPr txBox="1">
              <a:spLocks/>
            </p:cNvSpPr>
            <p:nvPr/>
          </p:nvSpPr>
          <p:spPr>
            <a:xfrm>
              <a:off x="1855539" y="2140548"/>
              <a:ext cx="2880000" cy="720000"/>
            </a:xfrm>
            <a:prstGeom prst="rect">
              <a:avLst/>
            </a:prstGeom>
          </p:spPr>
          <p:txBody>
            <a:bodyPr anchor="ctr"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ndhi Serif" panose="020000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ndhi Serif" panose="020000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ndhi Serif" panose="020000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ndhi Serif" panose="020000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ndhi Serif" panose="020000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Aft>
                  <a:spcPts val="600"/>
                </a:spcAft>
                <a:buClr>
                  <a:srgbClr val="662424"/>
                </a:buClr>
                <a:buSzPct val="120000"/>
                <a:buNone/>
              </a:pPr>
              <a:r>
                <a:rPr lang="es-MX" sz="2000" b="1" dirty="0">
                  <a:solidFill>
                    <a:schemeClr val="bg2">
                      <a:lumMod val="50000"/>
                    </a:schemeClr>
                  </a:solidFill>
                  <a:latin typeface="Montserrat" panose="00000500000000000000" pitchFamily="2" charset="0"/>
                  <a:cs typeface="Segoe UI" panose="020B0502040204020203" pitchFamily="34" charset="0"/>
                </a:rPr>
                <a:t>Priorización de las Acciones</a:t>
              </a:r>
              <a:endParaRPr lang="es-MX" sz="2000" dirty="0">
                <a:solidFill>
                  <a:schemeClr val="bg2">
                    <a:lumMod val="50000"/>
                  </a:schemeClr>
                </a:solidFill>
                <a:latin typeface="Montserrat" panose="00000500000000000000" pitchFamily="2" charset="0"/>
                <a:cs typeface="Segoe UI" panose="020B0502040204020203" pitchFamily="34" charset="0"/>
              </a:endParaRPr>
            </a:p>
          </p:txBody>
        </p:sp>
        <p:sp>
          <p:nvSpPr>
            <p:cNvPr id="37" name="Oval 47">
              <a:extLst>
                <a:ext uri="{FF2B5EF4-FFF2-40B4-BE49-F238E27FC236}">
                  <a16:creationId xmlns:a16="http://schemas.microsoft.com/office/drawing/2014/main" id="{FDF3E4C9-CB36-2A75-CCD4-1551DDB5EE2F}"/>
                </a:ext>
              </a:extLst>
            </p:cNvPr>
            <p:cNvSpPr/>
            <p:nvPr/>
          </p:nvSpPr>
          <p:spPr>
            <a:xfrm rot="3010630" flipV="1">
              <a:off x="558767" y="3362305"/>
              <a:ext cx="1086347" cy="1086347"/>
            </a:xfrm>
            <a:prstGeom prst="ellipse">
              <a:avLst/>
            </a:prstGeom>
            <a:solidFill>
              <a:srgbClr val="0098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48">
              <a:extLst>
                <a:ext uri="{FF2B5EF4-FFF2-40B4-BE49-F238E27FC236}">
                  <a16:creationId xmlns:a16="http://schemas.microsoft.com/office/drawing/2014/main" id="{EEB2BC64-C86B-E52C-0482-3924872ADA85}"/>
                </a:ext>
              </a:extLst>
            </p:cNvPr>
            <p:cNvSpPr/>
            <p:nvPr/>
          </p:nvSpPr>
          <p:spPr>
            <a:xfrm rot="21437455" flipV="1">
              <a:off x="708609" y="3512147"/>
              <a:ext cx="786663" cy="786663"/>
            </a:xfrm>
            <a:prstGeom prst="ellipse">
              <a:avLst/>
            </a:prstGeom>
            <a:gradFill>
              <a:gsLst>
                <a:gs pos="0">
                  <a:schemeClr val="bg1"/>
                </a:gs>
                <a:gs pos="100000">
                  <a:schemeClr val="bg1">
                    <a:lumMod val="9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9">
              <a:extLst>
                <a:ext uri="{FF2B5EF4-FFF2-40B4-BE49-F238E27FC236}">
                  <a16:creationId xmlns:a16="http://schemas.microsoft.com/office/drawing/2014/main" id="{9EB9C9EC-95F8-D8AA-295B-6EF895C386DC}"/>
                </a:ext>
              </a:extLst>
            </p:cNvPr>
            <p:cNvSpPr txBox="1"/>
            <p:nvPr/>
          </p:nvSpPr>
          <p:spPr>
            <a:xfrm>
              <a:off x="834665" y="3674160"/>
              <a:ext cx="522910" cy="449276"/>
            </a:xfrm>
            <a:prstGeom prst="rect">
              <a:avLst/>
            </a:prstGeom>
            <a:noFill/>
          </p:spPr>
          <p:txBody>
            <a:bodyPr wrap="square" lIns="0" tIns="0" rIns="0" bIns="0" rtlCol="0" anchor="ctr">
              <a:noAutofit/>
            </a:bodyPr>
            <a:lstStyle/>
            <a:p>
              <a:pPr algn="ctr"/>
              <a:r>
                <a:rPr lang="en-IN" b="1" dirty="0">
                  <a:solidFill>
                    <a:srgbClr val="009885"/>
                  </a:solidFill>
                </a:rPr>
                <a:t>02</a:t>
              </a:r>
              <a:endParaRPr lang="en-US" b="1" dirty="0">
                <a:solidFill>
                  <a:srgbClr val="009885"/>
                </a:solidFill>
              </a:endParaRPr>
            </a:p>
          </p:txBody>
        </p:sp>
        <p:sp>
          <p:nvSpPr>
            <p:cNvPr id="40" name="Isosceles Triangle 27">
              <a:extLst>
                <a:ext uri="{FF2B5EF4-FFF2-40B4-BE49-F238E27FC236}">
                  <a16:creationId xmlns:a16="http://schemas.microsoft.com/office/drawing/2014/main" id="{73FF07E4-A4AB-FB6B-AAED-082BCF01C7AA}"/>
                </a:ext>
              </a:extLst>
            </p:cNvPr>
            <p:cNvSpPr/>
            <p:nvPr/>
          </p:nvSpPr>
          <p:spPr>
            <a:xfrm rot="16200000" flipV="1">
              <a:off x="1544357" y="3792024"/>
              <a:ext cx="349740" cy="226908"/>
            </a:xfrm>
            <a:prstGeom prst="triangle">
              <a:avLst/>
            </a:prstGeom>
            <a:solidFill>
              <a:srgbClr val="0098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テキスト プレースホルダー 8">
              <a:extLst>
                <a:ext uri="{FF2B5EF4-FFF2-40B4-BE49-F238E27FC236}">
                  <a16:creationId xmlns:a16="http://schemas.microsoft.com/office/drawing/2014/main" id="{9581E89D-43E9-4792-2240-9FE93E2193FD}"/>
                </a:ext>
              </a:extLst>
            </p:cNvPr>
            <p:cNvSpPr txBox="1">
              <a:spLocks/>
            </p:cNvSpPr>
            <p:nvPr/>
          </p:nvSpPr>
          <p:spPr>
            <a:xfrm>
              <a:off x="1844110" y="3544901"/>
              <a:ext cx="2880000" cy="720000"/>
            </a:xfrm>
            <a:prstGeom prst="rect">
              <a:avLst/>
            </a:prstGeom>
          </p:spPr>
          <p:txBody>
            <a:bodyPr anchor="ctr"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ndhi Serif" panose="020000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ndhi Serif" panose="020000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ndhi Serif" panose="020000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ndhi Serif" panose="020000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ndhi Serif" panose="020000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Aft>
                  <a:spcPts val="600"/>
                </a:spcAft>
                <a:buClr>
                  <a:srgbClr val="662424"/>
                </a:buClr>
                <a:buSzPct val="120000"/>
                <a:buNone/>
              </a:pPr>
              <a:r>
                <a:rPr lang="es-MX" sz="2000" b="1" dirty="0">
                  <a:solidFill>
                    <a:schemeClr val="bg2">
                      <a:lumMod val="50000"/>
                    </a:schemeClr>
                  </a:solidFill>
                  <a:latin typeface="Montserrat" panose="00000500000000000000" pitchFamily="2" charset="0"/>
                  <a:cs typeface="Segoe UI" panose="020B0502040204020203" pitchFamily="34" charset="0"/>
                </a:rPr>
                <a:t>Implementación de las Acciones</a:t>
              </a:r>
              <a:endParaRPr lang="es-MX" sz="2000" dirty="0">
                <a:solidFill>
                  <a:schemeClr val="bg2">
                    <a:lumMod val="50000"/>
                  </a:schemeClr>
                </a:solidFill>
                <a:latin typeface="Montserrat" panose="00000500000000000000" pitchFamily="2" charset="0"/>
                <a:cs typeface="Segoe UI" panose="020B0502040204020203" pitchFamily="34" charset="0"/>
              </a:endParaRPr>
            </a:p>
          </p:txBody>
        </p:sp>
        <p:sp>
          <p:nvSpPr>
            <p:cNvPr id="42" name="Oval 47">
              <a:extLst>
                <a:ext uri="{FF2B5EF4-FFF2-40B4-BE49-F238E27FC236}">
                  <a16:creationId xmlns:a16="http://schemas.microsoft.com/office/drawing/2014/main" id="{3CB3F1D9-843E-585A-144B-9EC9111F1A84}"/>
                </a:ext>
              </a:extLst>
            </p:cNvPr>
            <p:cNvSpPr/>
            <p:nvPr/>
          </p:nvSpPr>
          <p:spPr>
            <a:xfrm rot="3010630" flipV="1">
              <a:off x="570196" y="4759872"/>
              <a:ext cx="1086347" cy="1086347"/>
            </a:xfrm>
            <a:prstGeom prst="ellipse">
              <a:avLst/>
            </a:prstGeom>
            <a:solidFill>
              <a:srgbClr val="C901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8">
              <a:extLst>
                <a:ext uri="{FF2B5EF4-FFF2-40B4-BE49-F238E27FC236}">
                  <a16:creationId xmlns:a16="http://schemas.microsoft.com/office/drawing/2014/main" id="{7F4525B1-855B-0945-4F33-9648CDDECAE9}"/>
                </a:ext>
              </a:extLst>
            </p:cNvPr>
            <p:cNvSpPr/>
            <p:nvPr/>
          </p:nvSpPr>
          <p:spPr>
            <a:xfrm rot="21437455" flipV="1">
              <a:off x="720038" y="4909714"/>
              <a:ext cx="786663" cy="786663"/>
            </a:xfrm>
            <a:prstGeom prst="ellipse">
              <a:avLst/>
            </a:prstGeom>
            <a:gradFill>
              <a:gsLst>
                <a:gs pos="0">
                  <a:schemeClr val="bg1"/>
                </a:gs>
                <a:gs pos="100000">
                  <a:schemeClr val="bg1">
                    <a:lumMod val="9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9">
              <a:extLst>
                <a:ext uri="{FF2B5EF4-FFF2-40B4-BE49-F238E27FC236}">
                  <a16:creationId xmlns:a16="http://schemas.microsoft.com/office/drawing/2014/main" id="{25447681-B54A-5F77-4D9C-93CF443E2212}"/>
                </a:ext>
              </a:extLst>
            </p:cNvPr>
            <p:cNvSpPr txBox="1"/>
            <p:nvPr/>
          </p:nvSpPr>
          <p:spPr>
            <a:xfrm>
              <a:off x="846094" y="5071727"/>
              <a:ext cx="522910" cy="449276"/>
            </a:xfrm>
            <a:prstGeom prst="rect">
              <a:avLst/>
            </a:prstGeom>
            <a:noFill/>
          </p:spPr>
          <p:txBody>
            <a:bodyPr wrap="square" lIns="0" tIns="0" rIns="0" bIns="0" rtlCol="0" anchor="ctr">
              <a:noAutofit/>
            </a:bodyPr>
            <a:lstStyle/>
            <a:p>
              <a:pPr algn="ctr"/>
              <a:r>
                <a:rPr lang="en-IN" b="1" dirty="0">
                  <a:solidFill>
                    <a:srgbClr val="C90166"/>
                  </a:solidFill>
                </a:rPr>
                <a:t>03</a:t>
              </a:r>
              <a:endParaRPr lang="en-US" b="1" dirty="0">
                <a:solidFill>
                  <a:srgbClr val="C90166"/>
                </a:solidFill>
              </a:endParaRPr>
            </a:p>
          </p:txBody>
        </p:sp>
        <p:sp>
          <p:nvSpPr>
            <p:cNvPr id="45" name="Isosceles Triangle 27">
              <a:extLst>
                <a:ext uri="{FF2B5EF4-FFF2-40B4-BE49-F238E27FC236}">
                  <a16:creationId xmlns:a16="http://schemas.microsoft.com/office/drawing/2014/main" id="{D0145C86-2075-4FB8-C892-DC79F7D75BF5}"/>
                </a:ext>
              </a:extLst>
            </p:cNvPr>
            <p:cNvSpPr/>
            <p:nvPr/>
          </p:nvSpPr>
          <p:spPr>
            <a:xfrm rot="16200000" flipV="1">
              <a:off x="1555786" y="5189591"/>
              <a:ext cx="349740" cy="226908"/>
            </a:xfrm>
            <a:prstGeom prst="triangle">
              <a:avLst/>
            </a:prstGeom>
            <a:solidFill>
              <a:srgbClr val="C901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テキスト プレースホルダー 8">
              <a:extLst>
                <a:ext uri="{FF2B5EF4-FFF2-40B4-BE49-F238E27FC236}">
                  <a16:creationId xmlns:a16="http://schemas.microsoft.com/office/drawing/2014/main" id="{9207FB1E-701A-B713-CE18-088537E9008D}"/>
                </a:ext>
              </a:extLst>
            </p:cNvPr>
            <p:cNvSpPr txBox="1">
              <a:spLocks/>
            </p:cNvSpPr>
            <p:nvPr/>
          </p:nvSpPr>
          <p:spPr>
            <a:xfrm>
              <a:off x="1855539" y="4953898"/>
              <a:ext cx="2880000" cy="720000"/>
            </a:xfrm>
            <a:prstGeom prst="rect">
              <a:avLst/>
            </a:prstGeom>
          </p:spPr>
          <p:txBody>
            <a:bodyPr anchor="ctr"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ndhi Serif" panose="020000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ndhi Serif" panose="020000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ndhi Serif" panose="020000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ndhi Serif" panose="020000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ndhi Serif" panose="020000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Aft>
                  <a:spcPts val="600"/>
                </a:spcAft>
                <a:buClr>
                  <a:srgbClr val="662424"/>
                </a:buClr>
                <a:buSzPct val="120000"/>
                <a:buNone/>
              </a:pPr>
              <a:r>
                <a:rPr lang="es-MX" sz="2000" b="1" dirty="0">
                  <a:solidFill>
                    <a:schemeClr val="bg2">
                      <a:lumMod val="50000"/>
                    </a:schemeClr>
                  </a:solidFill>
                  <a:latin typeface="Montserrat" panose="00000500000000000000" pitchFamily="2" charset="0"/>
                  <a:cs typeface="Segoe UI" panose="020B0502040204020203" pitchFamily="34" charset="0"/>
                </a:rPr>
                <a:t>Evaluación de las Acciones</a:t>
              </a:r>
              <a:endParaRPr lang="es-MX" sz="2000" dirty="0">
                <a:solidFill>
                  <a:schemeClr val="bg2">
                    <a:lumMod val="50000"/>
                  </a:schemeClr>
                </a:solidFill>
                <a:latin typeface="Montserrat" panose="00000500000000000000" pitchFamily="2" charset="0"/>
                <a:cs typeface="Segoe UI" panose="020B0502040204020203" pitchFamily="34" charset="0"/>
              </a:endParaRPr>
            </a:p>
          </p:txBody>
        </p:sp>
      </p:grpSp>
      <p:sp>
        <p:nvSpPr>
          <p:cNvPr id="48" name="CuadroTexto 47">
            <a:extLst>
              <a:ext uri="{FF2B5EF4-FFF2-40B4-BE49-F238E27FC236}">
                <a16:creationId xmlns:a16="http://schemas.microsoft.com/office/drawing/2014/main" id="{C401F8AE-7CB3-18E0-FD09-D9A1E973DB21}"/>
              </a:ext>
            </a:extLst>
          </p:cNvPr>
          <p:cNvSpPr txBox="1"/>
          <p:nvPr/>
        </p:nvSpPr>
        <p:spPr>
          <a:xfrm>
            <a:off x="5486401" y="1804675"/>
            <a:ext cx="5680709" cy="3785652"/>
          </a:xfrm>
          <a:prstGeom prst="rect">
            <a:avLst/>
          </a:prstGeom>
          <a:solidFill>
            <a:srgbClr val="AE192D"/>
          </a:solidFill>
          <a:ln w="19050">
            <a:noFill/>
          </a:ln>
        </p:spPr>
        <p:txBody>
          <a:bodyPr wrap="square" rtlCol="0">
            <a:spAutoFit/>
          </a:bodyPr>
          <a:lstStyle/>
          <a:p>
            <a:pPr algn="just"/>
            <a:r>
              <a:rPr lang="es-MX" sz="1600" b="1" kern="0" dirty="0">
                <a:solidFill>
                  <a:schemeClr val="bg1"/>
                </a:solidFill>
                <a:latin typeface="Montserrat" panose="00000500000000000000" pitchFamily="2" charset="0"/>
                <a:cs typeface="Segoe UI" panose="020B0502040204020203" pitchFamily="34" charset="0"/>
              </a:rPr>
              <a:t>Artículo 5, Párrafo 2</a:t>
            </a:r>
            <a:r>
              <a:rPr lang="es-MX" sz="1600" kern="0" dirty="0">
                <a:solidFill>
                  <a:schemeClr val="bg1"/>
                </a:solidFill>
                <a:latin typeface="Montserrat" panose="00000500000000000000" pitchFamily="2" charset="0"/>
                <a:cs typeface="Segoe UI" panose="020B0502040204020203" pitchFamily="34" charset="0"/>
              </a:rPr>
              <a:t>, de la </a:t>
            </a:r>
            <a:r>
              <a:rPr lang="es-MX" sz="1600" b="1" kern="0" dirty="0">
                <a:solidFill>
                  <a:schemeClr val="bg1"/>
                </a:solidFill>
                <a:latin typeface="Montserrat" panose="00000500000000000000" pitchFamily="2" charset="0"/>
                <a:cs typeface="Segoe UI" panose="020B0502040204020203" pitchFamily="34" charset="0"/>
              </a:rPr>
              <a:t>Ley del Sistema Anticorrupción del Estado de Chiapas</a:t>
            </a:r>
            <a:r>
              <a:rPr lang="es-MX" sz="1600" kern="0" dirty="0">
                <a:solidFill>
                  <a:schemeClr val="bg1"/>
                </a:solidFill>
                <a:latin typeface="Montserrat" panose="00000500000000000000" pitchFamily="2" charset="0"/>
                <a:cs typeface="Segoe UI" panose="020B0502040204020203" pitchFamily="34" charset="0"/>
              </a:rPr>
              <a:t>:</a:t>
            </a:r>
          </a:p>
          <a:p>
            <a:pPr algn="just"/>
            <a:endParaRPr lang="es-MX" sz="1600" kern="0" dirty="0">
              <a:solidFill>
                <a:schemeClr val="bg1"/>
              </a:solidFill>
              <a:latin typeface="Montserrat" panose="00000500000000000000" pitchFamily="2" charset="0"/>
              <a:cs typeface="Segoe UI" panose="020B0502040204020203" pitchFamily="34" charset="0"/>
            </a:endParaRPr>
          </a:p>
          <a:p>
            <a:pPr algn="just"/>
            <a:r>
              <a:rPr lang="es-MX" sz="1600" kern="0" dirty="0">
                <a:solidFill>
                  <a:schemeClr val="bg1"/>
                </a:solidFill>
                <a:latin typeface="Montserrat" panose="00000500000000000000" pitchFamily="2" charset="0"/>
                <a:cs typeface="Segoe UI" panose="020B0502040204020203" pitchFamily="34" charset="0"/>
              </a:rPr>
              <a:t>“… Las políticas públicas que establezca el Comité Coordinador del Sistema Anticorrupción del Estado de Chiapas, deberán ser implementadas por todos los Entes Públicos, la Secretaría Ejecutiva dará seguimiento a dichas políticas.”</a:t>
            </a:r>
          </a:p>
          <a:p>
            <a:pPr algn="just"/>
            <a:endParaRPr lang="es-MX" sz="1600" kern="0" dirty="0">
              <a:solidFill>
                <a:schemeClr val="bg1"/>
              </a:solidFill>
              <a:latin typeface="Montserrat" panose="00000500000000000000" pitchFamily="2" charset="0"/>
              <a:cs typeface="Segoe UI" panose="020B0502040204020203" pitchFamily="34" charset="0"/>
            </a:endParaRPr>
          </a:p>
          <a:p>
            <a:pPr algn="just"/>
            <a:r>
              <a:rPr lang="es-MX" sz="1600" b="1" kern="0" dirty="0">
                <a:solidFill>
                  <a:schemeClr val="bg1"/>
                </a:solidFill>
                <a:latin typeface="Montserrat" panose="00000500000000000000" pitchFamily="2" charset="0"/>
                <a:cs typeface="Segoe UI" panose="020B0502040204020203" pitchFamily="34" charset="0"/>
              </a:rPr>
              <a:t>Artículo 8, Fracción III</a:t>
            </a:r>
            <a:r>
              <a:rPr lang="es-MX" sz="1600" kern="0" dirty="0">
                <a:solidFill>
                  <a:schemeClr val="bg1"/>
                </a:solidFill>
                <a:latin typeface="Montserrat" panose="00000500000000000000" pitchFamily="2" charset="0"/>
                <a:cs typeface="Segoe UI" panose="020B0502040204020203" pitchFamily="34" charset="0"/>
              </a:rPr>
              <a:t>, de la </a:t>
            </a:r>
            <a:r>
              <a:rPr lang="es-MX" sz="1600" b="1" kern="0" dirty="0">
                <a:solidFill>
                  <a:schemeClr val="bg1"/>
                </a:solidFill>
                <a:latin typeface="Montserrat" panose="00000500000000000000" pitchFamily="2" charset="0"/>
                <a:cs typeface="Segoe UI" panose="020B0502040204020203" pitchFamily="34" charset="0"/>
              </a:rPr>
              <a:t>Ley del Sistema Anticorrupción del Estado de Chiapas</a:t>
            </a:r>
            <a:r>
              <a:rPr lang="es-MX" sz="1600" kern="0" dirty="0">
                <a:solidFill>
                  <a:schemeClr val="bg1"/>
                </a:solidFill>
                <a:latin typeface="Montserrat" panose="00000500000000000000" pitchFamily="2" charset="0"/>
                <a:cs typeface="Segoe UI" panose="020B0502040204020203" pitchFamily="34" charset="0"/>
              </a:rPr>
              <a:t>:</a:t>
            </a:r>
          </a:p>
          <a:p>
            <a:pPr algn="just"/>
            <a:endParaRPr lang="es-MX" sz="1600" kern="0" dirty="0">
              <a:solidFill>
                <a:schemeClr val="bg1"/>
              </a:solidFill>
              <a:latin typeface="Montserrat" panose="00000500000000000000" pitchFamily="2" charset="0"/>
              <a:cs typeface="Segoe UI" panose="020B0502040204020203" pitchFamily="34" charset="0"/>
            </a:endParaRPr>
          </a:p>
          <a:p>
            <a:pPr algn="just"/>
            <a:r>
              <a:rPr lang="es-MX" sz="1600" kern="0" dirty="0">
                <a:solidFill>
                  <a:schemeClr val="bg1"/>
                </a:solidFill>
                <a:latin typeface="Montserrat" panose="00000500000000000000" pitchFamily="2" charset="0"/>
                <a:cs typeface="Segoe UI" panose="020B0502040204020203" pitchFamily="34" charset="0"/>
              </a:rPr>
              <a:t>“… La aprobación, diseño y promoción de la política estatal en la materia, así como su evaluación periódica, ajuste y modificación.</a:t>
            </a:r>
          </a:p>
        </p:txBody>
      </p:sp>
    </p:spTree>
    <p:extLst>
      <p:ext uri="{BB962C8B-B14F-4D97-AF65-F5344CB8AC3E}">
        <p14:creationId xmlns:p14="http://schemas.microsoft.com/office/powerpoint/2010/main" val="938783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83FB6-1FD4-2129-2299-FA2BBA23A450}"/>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205854FD-A18A-1787-64AD-7B20D396FE3A}"/>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Estrategias Implementadas</a:t>
            </a:r>
            <a:endParaRPr lang="es-ES" sz="2500" b="1" dirty="0">
              <a:latin typeface="Montserrat" panose="00000500000000000000" pitchFamily="50" charset="0"/>
            </a:endParaRPr>
          </a:p>
        </p:txBody>
      </p:sp>
      <p:grpSp>
        <p:nvGrpSpPr>
          <p:cNvPr id="51" name="Grupo 50">
            <a:extLst>
              <a:ext uri="{FF2B5EF4-FFF2-40B4-BE49-F238E27FC236}">
                <a16:creationId xmlns:a16="http://schemas.microsoft.com/office/drawing/2014/main" id="{7144C4BE-0496-1278-5F6F-4DB805DD4D6C}"/>
              </a:ext>
            </a:extLst>
          </p:cNvPr>
          <p:cNvGrpSpPr/>
          <p:nvPr/>
        </p:nvGrpSpPr>
        <p:grpSpPr>
          <a:xfrm>
            <a:off x="1827570" y="891540"/>
            <a:ext cx="8546340" cy="5233869"/>
            <a:chOff x="1827570" y="891540"/>
            <a:chExt cx="8546340" cy="5233869"/>
          </a:xfrm>
        </p:grpSpPr>
        <p:sp>
          <p:nvSpPr>
            <p:cNvPr id="3" name="Rectángulo: esquinas redondeadas 2">
              <a:extLst>
                <a:ext uri="{FF2B5EF4-FFF2-40B4-BE49-F238E27FC236}">
                  <a16:creationId xmlns:a16="http://schemas.microsoft.com/office/drawing/2014/main" id="{1EB6056D-B143-ED22-1454-2F60C1DC725E}"/>
                </a:ext>
              </a:extLst>
            </p:cNvPr>
            <p:cNvSpPr/>
            <p:nvPr/>
          </p:nvSpPr>
          <p:spPr>
            <a:xfrm>
              <a:off x="1827570" y="891540"/>
              <a:ext cx="4140000" cy="360000"/>
            </a:xfrm>
            <a:prstGeom prst="roundRect">
              <a:avLst/>
            </a:prstGeom>
            <a:solidFill>
              <a:srgbClr val="C9016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b="1" dirty="0">
                  <a:solidFill>
                    <a:schemeClr val="bg1"/>
                  </a:solidFill>
                </a:rPr>
                <a:t>Política Estatal Anticorrupción</a:t>
              </a:r>
            </a:p>
          </p:txBody>
        </p:sp>
        <p:sp>
          <p:nvSpPr>
            <p:cNvPr id="4" name="Rectángulo: esquinas redondeadas 3">
              <a:extLst>
                <a:ext uri="{FF2B5EF4-FFF2-40B4-BE49-F238E27FC236}">
                  <a16:creationId xmlns:a16="http://schemas.microsoft.com/office/drawing/2014/main" id="{E4C05995-2A8A-7A08-0238-1308EEC81B71}"/>
                </a:ext>
              </a:extLst>
            </p:cNvPr>
            <p:cNvSpPr/>
            <p:nvPr/>
          </p:nvSpPr>
          <p:spPr>
            <a:xfrm>
              <a:off x="1827570" y="1363980"/>
              <a:ext cx="1620000" cy="756000"/>
            </a:xfrm>
            <a:prstGeom prst="roundRect">
              <a:avLst/>
            </a:prstGeom>
            <a:solidFill>
              <a:srgbClr val="009885"/>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chemeClr val="bg1"/>
                  </a:solidFill>
                </a:rPr>
                <a:t>1. Diagnóstico</a:t>
              </a:r>
            </a:p>
          </p:txBody>
        </p:sp>
        <p:sp>
          <p:nvSpPr>
            <p:cNvPr id="5" name="Rectángulo: esquinas redondeadas 4">
              <a:extLst>
                <a:ext uri="{FF2B5EF4-FFF2-40B4-BE49-F238E27FC236}">
                  <a16:creationId xmlns:a16="http://schemas.microsoft.com/office/drawing/2014/main" id="{DE034270-74FA-84FD-12FB-3A87E01BF519}"/>
                </a:ext>
              </a:extLst>
            </p:cNvPr>
            <p:cNvSpPr/>
            <p:nvPr/>
          </p:nvSpPr>
          <p:spPr>
            <a:xfrm>
              <a:off x="1827570" y="3345180"/>
              <a:ext cx="1620000" cy="756000"/>
            </a:xfrm>
            <a:prstGeom prst="roundRect">
              <a:avLst/>
            </a:prstGeom>
            <a:solidFill>
              <a:srgbClr val="009885"/>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chemeClr val="bg1"/>
                  </a:solidFill>
                </a:rPr>
                <a:t>2. Priorización</a:t>
              </a:r>
            </a:p>
          </p:txBody>
        </p:sp>
        <p:sp>
          <p:nvSpPr>
            <p:cNvPr id="8" name="Rectángulo: esquinas redondeadas 7">
              <a:extLst>
                <a:ext uri="{FF2B5EF4-FFF2-40B4-BE49-F238E27FC236}">
                  <a16:creationId xmlns:a16="http://schemas.microsoft.com/office/drawing/2014/main" id="{FFA04248-ECE5-C0B3-F598-E239F0AD82FC}"/>
                </a:ext>
              </a:extLst>
            </p:cNvPr>
            <p:cNvSpPr/>
            <p:nvPr/>
          </p:nvSpPr>
          <p:spPr>
            <a:xfrm>
              <a:off x="1827570" y="4217670"/>
              <a:ext cx="1620000" cy="756000"/>
            </a:xfrm>
            <a:prstGeom prst="roundRect">
              <a:avLst/>
            </a:prstGeom>
            <a:solidFill>
              <a:srgbClr val="009885"/>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chemeClr val="bg1"/>
                  </a:solidFill>
                </a:rPr>
                <a:t>3. Política Estatal Anticorrupción</a:t>
              </a:r>
            </a:p>
          </p:txBody>
        </p:sp>
        <p:sp>
          <p:nvSpPr>
            <p:cNvPr id="9" name="Rectángulo: esquinas redondeadas 8">
              <a:extLst>
                <a:ext uri="{FF2B5EF4-FFF2-40B4-BE49-F238E27FC236}">
                  <a16:creationId xmlns:a16="http://schemas.microsoft.com/office/drawing/2014/main" id="{EA47082D-9A98-8CEA-CBB0-2ECD6EA1012D}"/>
                </a:ext>
              </a:extLst>
            </p:cNvPr>
            <p:cNvSpPr/>
            <p:nvPr/>
          </p:nvSpPr>
          <p:spPr>
            <a:xfrm>
              <a:off x="1827570" y="5115075"/>
              <a:ext cx="1620000" cy="756000"/>
            </a:xfrm>
            <a:prstGeom prst="roundRect">
              <a:avLst/>
            </a:prstGeom>
            <a:solidFill>
              <a:srgbClr val="009885"/>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chemeClr val="bg1"/>
                  </a:solidFill>
                </a:rPr>
                <a:t>4. Programa de Implementación de la PEA</a:t>
              </a:r>
            </a:p>
          </p:txBody>
        </p:sp>
        <p:sp>
          <p:nvSpPr>
            <p:cNvPr id="10" name="Rectángulo: esquinas redondeadas 9">
              <a:extLst>
                <a:ext uri="{FF2B5EF4-FFF2-40B4-BE49-F238E27FC236}">
                  <a16:creationId xmlns:a16="http://schemas.microsoft.com/office/drawing/2014/main" id="{52FEA663-30CC-8490-083D-F5246CCDCAFB}"/>
                </a:ext>
              </a:extLst>
            </p:cNvPr>
            <p:cNvSpPr/>
            <p:nvPr/>
          </p:nvSpPr>
          <p:spPr>
            <a:xfrm>
              <a:off x="3785910" y="1363252"/>
              <a:ext cx="6588000" cy="1894298"/>
            </a:xfrm>
            <a:prstGeom prst="roundRect">
              <a:avLst>
                <a:gd name="adj" fmla="val 5909"/>
              </a:avLst>
            </a:prstGeom>
            <a:solidFill>
              <a:schemeClr val="bg1">
                <a:lumMod val="9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400" b="1" dirty="0">
                <a:solidFill>
                  <a:schemeClr val="bg1"/>
                </a:solidFill>
              </a:endParaRPr>
            </a:p>
          </p:txBody>
        </p:sp>
        <p:sp>
          <p:nvSpPr>
            <p:cNvPr id="12" name="Rectángulo 11">
              <a:extLst>
                <a:ext uri="{FF2B5EF4-FFF2-40B4-BE49-F238E27FC236}">
                  <a16:creationId xmlns:a16="http://schemas.microsoft.com/office/drawing/2014/main" id="{5FA50EB6-1E8D-F283-98A9-6C925D63FA14}"/>
                </a:ext>
              </a:extLst>
            </p:cNvPr>
            <p:cNvSpPr/>
            <p:nvPr/>
          </p:nvSpPr>
          <p:spPr>
            <a:xfrm>
              <a:off x="3897630" y="1405688"/>
              <a:ext cx="6377940" cy="1840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buClr>
                  <a:srgbClr val="AE192D"/>
                </a:buClr>
              </a:pPr>
              <a:r>
                <a:rPr lang="es-MX" sz="1400" dirty="0">
                  <a:solidFill>
                    <a:schemeClr val="tx1"/>
                  </a:solidFill>
                </a:rPr>
                <a:t>1.1. Integración del Consejo Consultivo.</a:t>
              </a:r>
            </a:p>
            <a:p>
              <a:pPr algn="just">
                <a:buClr>
                  <a:srgbClr val="AE192D"/>
                </a:buClr>
              </a:pPr>
              <a:r>
                <a:rPr lang="es-MX" sz="1400" dirty="0">
                  <a:solidFill>
                    <a:schemeClr val="tx1"/>
                  </a:solidFill>
                </a:rPr>
                <a:t>1.2. Consulta en línea.</a:t>
              </a:r>
            </a:p>
            <a:p>
              <a:pPr algn="just">
                <a:buClr>
                  <a:srgbClr val="AE192D"/>
                </a:buClr>
              </a:pPr>
              <a:r>
                <a:rPr lang="es-MX" sz="1400" dirty="0">
                  <a:solidFill>
                    <a:schemeClr val="tx1"/>
                  </a:solidFill>
                </a:rPr>
                <a:t>1.3. Encuestas a comunidades indígenas y poco comunicadas.</a:t>
              </a:r>
            </a:p>
            <a:p>
              <a:pPr algn="just">
                <a:buClr>
                  <a:srgbClr val="AE192D"/>
                </a:buClr>
              </a:pPr>
              <a:r>
                <a:rPr lang="es-MX" sz="1400" dirty="0">
                  <a:solidFill>
                    <a:schemeClr val="tx1"/>
                  </a:solidFill>
                </a:rPr>
                <a:t>1.4. Conversatorios con actores representativos regionales.</a:t>
              </a:r>
            </a:p>
            <a:p>
              <a:pPr algn="just">
                <a:buClr>
                  <a:srgbClr val="AE192D"/>
                </a:buClr>
              </a:pPr>
              <a:r>
                <a:rPr lang="es-MX" sz="1400" dirty="0">
                  <a:solidFill>
                    <a:schemeClr val="tx1"/>
                  </a:solidFill>
                </a:rPr>
                <a:t>1.5. Estudio sobre fortalecimiento Institucional a Órganos Internos de Control y Unidades de Transparencia Municipales.</a:t>
              </a:r>
            </a:p>
            <a:p>
              <a:pPr algn="just">
                <a:buClr>
                  <a:srgbClr val="AE192D"/>
                </a:buClr>
              </a:pPr>
              <a:r>
                <a:rPr lang="es-MX" sz="1400" dirty="0">
                  <a:solidFill>
                    <a:schemeClr val="tx1"/>
                  </a:solidFill>
                </a:rPr>
                <a:t>1.6. Revisión Documental.</a:t>
              </a:r>
            </a:p>
            <a:p>
              <a:pPr algn="just">
                <a:buClr>
                  <a:srgbClr val="AE192D"/>
                </a:buClr>
              </a:pPr>
              <a:r>
                <a:rPr lang="es-MX" sz="1400" dirty="0">
                  <a:solidFill>
                    <a:schemeClr val="tx1"/>
                  </a:solidFill>
                </a:rPr>
                <a:t>1.7. Aportación de los Integrantes del Comité Coordinador</a:t>
              </a:r>
            </a:p>
          </p:txBody>
        </p:sp>
        <p:cxnSp>
          <p:nvCxnSpPr>
            <p:cNvPr id="14" name="Conector: angular 13">
              <a:extLst>
                <a:ext uri="{FF2B5EF4-FFF2-40B4-BE49-F238E27FC236}">
                  <a16:creationId xmlns:a16="http://schemas.microsoft.com/office/drawing/2014/main" id="{962A54C5-CD9F-16DA-259E-754569812668}"/>
                </a:ext>
              </a:extLst>
            </p:cNvPr>
            <p:cNvCxnSpPr>
              <a:stCxn id="3" idx="1"/>
              <a:endCxn id="9" idx="1"/>
            </p:cNvCxnSpPr>
            <p:nvPr/>
          </p:nvCxnSpPr>
          <p:spPr>
            <a:xfrm rot="10800000" flipV="1">
              <a:off x="1827570" y="1071539"/>
              <a:ext cx="12700" cy="4421535"/>
            </a:xfrm>
            <a:prstGeom prst="bentConnector3">
              <a:avLst>
                <a:gd name="adj1" fmla="val 1800000"/>
              </a:avLst>
            </a:prstGeom>
            <a:ln w="19050">
              <a:solidFill>
                <a:srgbClr val="AE192D"/>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5" name="Triángulo isósceles 14">
              <a:extLst>
                <a:ext uri="{FF2B5EF4-FFF2-40B4-BE49-F238E27FC236}">
                  <a16:creationId xmlns:a16="http://schemas.microsoft.com/office/drawing/2014/main" id="{7D12363F-5B02-05BA-9375-77D1AF1FA814}"/>
                </a:ext>
              </a:extLst>
            </p:cNvPr>
            <p:cNvSpPr/>
            <p:nvPr/>
          </p:nvSpPr>
          <p:spPr>
            <a:xfrm rot="5400000">
              <a:off x="3502853" y="1601062"/>
              <a:ext cx="252525" cy="245835"/>
            </a:xfrm>
            <a:prstGeom prst="triangle">
              <a:avLst/>
            </a:prstGeom>
            <a:solidFill>
              <a:srgbClr val="AE19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6" name="Conector: angular 15">
              <a:extLst>
                <a:ext uri="{FF2B5EF4-FFF2-40B4-BE49-F238E27FC236}">
                  <a16:creationId xmlns:a16="http://schemas.microsoft.com/office/drawing/2014/main" id="{906832D3-C288-C746-CCF7-CBAA90E16A7B}"/>
                </a:ext>
              </a:extLst>
            </p:cNvPr>
            <p:cNvCxnSpPr>
              <a:cxnSpLocks/>
              <a:stCxn id="3" idx="1"/>
              <a:endCxn id="4" idx="1"/>
            </p:cNvCxnSpPr>
            <p:nvPr/>
          </p:nvCxnSpPr>
          <p:spPr>
            <a:xfrm rot="10800000" flipV="1">
              <a:off x="1827570" y="1071540"/>
              <a:ext cx="12700" cy="670440"/>
            </a:xfrm>
            <a:prstGeom prst="bentConnector3">
              <a:avLst>
                <a:gd name="adj1" fmla="val 1800000"/>
              </a:avLst>
            </a:prstGeom>
            <a:ln w="19050">
              <a:solidFill>
                <a:srgbClr val="AE192D"/>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 name="Conector: angular 16">
              <a:extLst>
                <a:ext uri="{FF2B5EF4-FFF2-40B4-BE49-F238E27FC236}">
                  <a16:creationId xmlns:a16="http://schemas.microsoft.com/office/drawing/2014/main" id="{982E133A-A361-183B-7642-70A91633127C}"/>
                </a:ext>
              </a:extLst>
            </p:cNvPr>
            <p:cNvCxnSpPr>
              <a:cxnSpLocks/>
              <a:stCxn id="3" idx="1"/>
              <a:endCxn id="5" idx="1"/>
            </p:cNvCxnSpPr>
            <p:nvPr/>
          </p:nvCxnSpPr>
          <p:spPr>
            <a:xfrm rot="10800000" flipV="1">
              <a:off x="1827570" y="1071540"/>
              <a:ext cx="12700" cy="2651640"/>
            </a:xfrm>
            <a:prstGeom prst="bentConnector3">
              <a:avLst>
                <a:gd name="adj1" fmla="val 1800000"/>
              </a:avLst>
            </a:prstGeom>
            <a:ln w="19050">
              <a:solidFill>
                <a:srgbClr val="AE192D"/>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Conector: angular 18">
              <a:extLst>
                <a:ext uri="{FF2B5EF4-FFF2-40B4-BE49-F238E27FC236}">
                  <a16:creationId xmlns:a16="http://schemas.microsoft.com/office/drawing/2014/main" id="{DEC22145-CA36-F89E-4247-C9972C8B4790}"/>
                </a:ext>
              </a:extLst>
            </p:cNvPr>
            <p:cNvCxnSpPr>
              <a:cxnSpLocks/>
              <a:stCxn id="3" idx="1"/>
              <a:endCxn id="8" idx="1"/>
            </p:cNvCxnSpPr>
            <p:nvPr/>
          </p:nvCxnSpPr>
          <p:spPr>
            <a:xfrm rot="10800000" flipV="1">
              <a:off x="1827570" y="1071540"/>
              <a:ext cx="12700" cy="3524130"/>
            </a:xfrm>
            <a:prstGeom prst="bentConnector3">
              <a:avLst>
                <a:gd name="adj1" fmla="val 1800000"/>
              </a:avLst>
            </a:prstGeom>
            <a:ln w="19050">
              <a:solidFill>
                <a:srgbClr val="AE192D"/>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0" name="Rectángulo: esquinas redondeadas 29">
              <a:extLst>
                <a:ext uri="{FF2B5EF4-FFF2-40B4-BE49-F238E27FC236}">
                  <a16:creationId xmlns:a16="http://schemas.microsoft.com/office/drawing/2014/main" id="{3454E839-CD77-9066-1149-CC3E8FFC8C25}"/>
                </a:ext>
              </a:extLst>
            </p:cNvPr>
            <p:cNvSpPr/>
            <p:nvPr/>
          </p:nvSpPr>
          <p:spPr>
            <a:xfrm>
              <a:off x="3785910" y="3345180"/>
              <a:ext cx="6588000" cy="756000"/>
            </a:xfrm>
            <a:prstGeom prst="roundRect">
              <a:avLst>
                <a:gd name="adj" fmla="val 5909"/>
              </a:avLst>
            </a:prstGeom>
            <a:solidFill>
              <a:schemeClr val="bg1">
                <a:lumMod val="9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400" b="1" dirty="0">
                <a:solidFill>
                  <a:schemeClr val="bg1"/>
                </a:solidFill>
              </a:endParaRPr>
            </a:p>
          </p:txBody>
        </p:sp>
        <p:sp>
          <p:nvSpPr>
            <p:cNvPr id="32" name="Rectángulo 31">
              <a:extLst>
                <a:ext uri="{FF2B5EF4-FFF2-40B4-BE49-F238E27FC236}">
                  <a16:creationId xmlns:a16="http://schemas.microsoft.com/office/drawing/2014/main" id="{D18991F4-17F6-5FAD-6163-DA9BBCAF665E}"/>
                </a:ext>
              </a:extLst>
            </p:cNvPr>
            <p:cNvSpPr/>
            <p:nvPr/>
          </p:nvSpPr>
          <p:spPr>
            <a:xfrm>
              <a:off x="3897630" y="3536206"/>
              <a:ext cx="6377940" cy="3355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buClr>
                  <a:srgbClr val="AE192D"/>
                </a:buClr>
              </a:pPr>
              <a:r>
                <a:rPr lang="es-MX" sz="1400" dirty="0">
                  <a:solidFill>
                    <a:schemeClr val="tx1"/>
                  </a:solidFill>
                </a:rPr>
                <a:t>2.1. Priorización de Acciones para el combate y control de la corrupción</a:t>
              </a:r>
            </a:p>
          </p:txBody>
        </p:sp>
        <p:sp>
          <p:nvSpPr>
            <p:cNvPr id="34" name="Triángulo isósceles 33">
              <a:extLst>
                <a:ext uri="{FF2B5EF4-FFF2-40B4-BE49-F238E27FC236}">
                  <a16:creationId xmlns:a16="http://schemas.microsoft.com/office/drawing/2014/main" id="{81AEC610-C511-8E43-03E1-A6B6C5F115F6}"/>
                </a:ext>
              </a:extLst>
            </p:cNvPr>
            <p:cNvSpPr/>
            <p:nvPr/>
          </p:nvSpPr>
          <p:spPr>
            <a:xfrm rot="5400000">
              <a:off x="3502853" y="3582990"/>
              <a:ext cx="252525" cy="245835"/>
            </a:xfrm>
            <a:prstGeom prst="triangle">
              <a:avLst/>
            </a:prstGeom>
            <a:solidFill>
              <a:srgbClr val="AE19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5" name="Rectángulo: esquinas redondeadas 34">
              <a:extLst>
                <a:ext uri="{FF2B5EF4-FFF2-40B4-BE49-F238E27FC236}">
                  <a16:creationId xmlns:a16="http://schemas.microsoft.com/office/drawing/2014/main" id="{E312243B-764F-B7E0-ED0C-0D8E45E68107}"/>
                </a:ext>
              </a:extLst>
            </p:cNvPr>
            <p:cNvSpPr/>
            <p:nvPr/>
          </p:nvSpPr>
          <p:spPr>
            <a:xfrm>
              <a:off x="3785910" y="4217963"/>
              <a:ext cx="6588000" cy="756000"/>
            </a:xfrm>
            <a:prstGeom prst="roundRect">
              <a:avLst>
                <a:gd name="adj" fmla="val 5909"/>
              </a:avLst>
            </a:prstGeom>
            <a:solidFill>
              <a:schemeClr val="bg1">
                <a:lumMod val="9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400" b="1" dirty="0">
                <a:solidFill>
                  <a:schemeClr val="bg1"/>
                </a:solidFill>
              </a:endParaRPr>
            </a:p>
          </p:txBody>
        </p:sp>
        <p:sp>
          <p:nvSpPr>
            <p:cNvPr id="37" name="Rectángulo 36">
              <a:extLst>
                <a:ext uri="{FF2B5EF4-FFF2-40B4-BE49-F238E27FC236}">
                  <a16:creationId xmlns:a16="http://schemas.microsoft.com/office/drawing/2014/main" id="{C3DF67CE-E68A-3864-4A15-1C97915BDFD2}"/>
                </a:ext>
              </a:extLst>
            </p:cNvPr>
            <p:cNvSpPr/>
            <p:nvPr/>
          </p:nvSpPr>
          <p:spPr>
            <a:xfrm>
              <a:off x="3897630" y="4328979"/>
              <a:ext cx="6377940" cy="5464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buClr>
                  <a:srgbClr val="AE192D"/>
                </a:buClr>
              </a:pPr>
              <a:r>
                <a:rPr lang="es-MX" sz="1400" dirty="0">
                  <a:solidFill>
                    <a:schemeClr val="tx1"/>
                  </a:solidFill>
                </a:rPr>
                <a:t>3.1. Aprobación de la Política Estatal Anticorrupción.</a:t>
              </a:r>
            </a:p>
            <a:p>
              <a:pPr>
                <a:buClr>
                  <a:srgbClr val="AE192D"/>
                </a:buClr>
              </a:pPr>
              <a:r>
                <a:rPr lang="es-MX" sz="1400" dirty="0">
                  <a:solidFill>
                    <a:schemeClr val="tx1"/>
                  </a:solidFill>
                </a:rPr>
                <a:t>3.2. Publicación de la Política Estatal Anticorrupción.</a:t>
              </a:r>
            </a:p>
          </p:txBody>
        </p:sp>
        <p:sp>
          <p:nvSpPr>
            <p:cNvPr id="39" name="Triángulo isósceles 38">
              <a:extLst>
                <a:ext uri="{FF2B5EF4-FFF2-40B4-BE49-F238E27FC236}">
                  <a16:creationId xmlns:a16="http://schemas.microsoft.com/office/drawing/2014/main" id="{5BFD7876-F748-4F25-A6EB-E7AFF046BCCB}"/>
                </a:ext>
              </a:extLst>
            </p:cNvPr>
            <p:cNvSpPr/>
            <p:nvPr/>
          </p:nvSpPr>
          <p:spPr>
            <a:xfrm rot="5400000">
              <a:off x="3502853" y="4455773"/>
              <a:ext cx="252525" cy="245835"/>
            </a:xfrm>
            <a:prstGeom prst="triangle">
              <a:avLst/>
            </a:prstGeom>
            <a:solidFill>
              <a:srgbClr val="AE19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0" name="Rectángulo: esquinas redondeadas 39">
              <a:extLst>
                <a:ext uri="{FF2B5EF4-FFF2-40B4-BE49-F238E27FC236}">
                  <a16:creationId xmlns:a16="http://schemas.microsoft.com/office/drawing/2014/main" id="{D2BE6968-43FD-3868-DE27-E69817371433}"/>
                </a:ext>
              </a:extLst>
            </p:cNvPr>
            <p:cNvSpPr/>
            <p:nvPr/>
          </p:nvSpPr>
          <p:spPr>
            <a:xfrm>
              <a:off x="3785910" y="5108639"/>
              <a:ext cx="6588000" cy="1016770"/>
            </a:xfrm>
            <a:prstGeom prst="roundRect">
              <a:avLst>
                <a:gd name="adj" fmla="val 5909"/>
              </a:avLst>
            </a:prstGeom>
            <a:solidFill>
              <a:schemeClr val="bg1">
                <a:lumMod val="9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sz="1400" b="1" dirty="0">
                <a:solidFill>
                  <a:schemeClr val="bg1"/>
                </a:solidFill>
              </a:endParaRPr>
            </a:p>
          </p:txBody>
        </p:sp>
        <p:sp>
          <p:nvSpPr>
            <p:cNvPr id="44" name="Triángulo isósceles 43">
              <a:extLst>
                <a:ext uri="{FF2B5EF4-FFF2-40B4-BE49-F238E27FC236}">
                  <a16:creationId xmlns:a16="http://schemas.microsoft.com/office/drawing/2014/main" id="{E2C5B663-B0BF-C150-2FAE-852FE8745A70}"/>
                </a:ext>
              </a:extLst>
            </p:cNvPr>
            <p:cNvSpPr/>
            <p:nvPr/>
          </p:nvSpPr>
          <p:spPr>
            <a:xfrm rot="5400000">
              <a:off x="3502853" y="5346450"/>
              <a:ext cx="252525" cy="245835"/>
            </a:xfrm>
            <a:prstGeom prst="triangle">
              <a:avLst/>
            </a:prstGeom>
            <a:solidFill>
              <a:srgbClr val="AE19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6" name="Rectángulo 45">
              <a:extLst>
                <a:ext uri="{FF2B5EF4-FFF2-40B4-BE49-F238E27FC236}">
                  <a16:creationId xmlns:a16="http://schemas.microsoft.com/office/drawing/2014/main" id="{67974073-C6F8-BD86-3477-4FF3F5EBF803}"/>
                </a:ext>
              </a:extLst>
            </p:cNvPr>
            <p:cNvSpPr/>
            <p:nvPr/>
          </p:nvSpPr>
          <p:spPr>
            <a:xfrm>
              <a:off x="3844170" y="5129331"/>
              <a:ext cx="6431400" cy="9160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buClr>
                  <a:srgbClr val="AE192D"/>
                </a:buClr>
              </a:pPr>
              <a:r>
                <a:rPr lang="es-MX" sz="1400" dirty="0">
                  <a:solidFill>
                    <a:schemeClr val="tx1"/>
                  </a:solidFill>
                </a:rPr>
                <a:t>4.1. Consejo Consultivo.</a:t>
              </a:r>
            </a:p>
            <a:p>
              <a:pPr>
                <a:buClr>
                  <a:srgbClr val="AE192D"/>
                </a:buClr>
              </a:pPr>
              <a:r>
                <a:rPr lang="es-MX" sz="1400" dirty="0">
                  <a:solidFill>
                    <a:schemeClr val="tx1"/>
                  </a:solidFill>
                </a:rPr>
                <a:t>4.2. Grupo Técnico.</a:t>
              </a:r>
            </a:p>
            <a:p>
              <a:pPr>
                <a:buClr>
                  <a:srgbClr val="AE192D"/>
                </a:buClr>
              </a:pPr>
              <a:r>
                <a:rPr lang="es-MX" sz="1400" dirty="0">
                  <a:solidFill>
                    <a:schemeClr val="tx1"/>
                  </a:solidFill>
                </a:rPr>
                <a:t>4.3. Aprobación del Programa de Implementación de la Política Estatal Anticorrupción.</a:t>
              </a:r>
            </a:p>
            <a:p>
              <a:pPr>
                <a:buClr>
                  <a:srgbClr val="AE192D"/>
                </a:buClr>
              </a:pPr>
              <a:r>
                <a:rPr lang="es-MX" sz="1400" dirty="0">
                  <a:solidFill>
                    <a:schemeClr val="tx1"/>
                  </a:solidFill>
                </a:rPr>
                <a:t>4.4. Publicación del Programa de Implementación de la Política Estatal Anticorrupción.</a:t>
              </a:r>
            </a:p>
          </p:txBody>
        </p:sp>
      </p:grpSp>
      <p:sp>
        <p:nvSpPr>
          <p:cNvPr id="48" name="CuadroTexto 47">
            <a:extLst>
              <a:ext uri="{FF2B5EF4-FFF2-40B4-BE49-F238E27FC236}">
                <a16:creationId xmlns:a16="http://schemas.microsoft.com/office/drawing/2014/main" id="{6453F933-D196-E8C7-8749-60D23B957671}"/>
              </a:ext>
            </a:extLst>
          </p:cNvPr>
          <p:cNvSpPr txBox="1"/>
          <p:nvPr/>
        </p:nvSpPr>
        <p:spPr>
          <a:xfrm>
            <a:off x="332366" y="6411969"/>
            <a:ext cx="11520000" cy="276999"/>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Política Estatal Anticorrupción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 </a:t>
            </a:r>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https://ln.sesaech.gob.mx/pea-chiapas</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endParaRPr lang="es-MX" sz="1200" b="1" kern="0" dirty="0">
              <a:solidFill>
                <a:schemeClr val="tx1">
                  <a:lumMod val="75000"/>
                  <a:lumOff val="25000"/>
                </a:schemeClr>
              </a:solidFill>
              <a:latin typeface="Montserrat" panose="00000500000000000000" pitchFamily="2" charset="0"/>
              <a:cs typeface="Segoe UI" panose="020B0502040204020203" pitchFamily="34" charset="0"/>
            </a:endParaRPr>
          </a:p>
        </p:txBody>
      </p:sp>
    </p:spTree>
    <p:extLst>
      <p:ext uri="{BB962C8B-B14F-4D97-AF65-F5344CB8AC3E}">
        <p14:creationId xmlns:p14="http://schemas.microsoft.com/office/powerpoint/2010/main" val="393600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B29FC-E595-9DFE-D553-A583107C29DF}"/>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DAF13915-6B18-38F7-7BB4-D9090B0558A1}"/>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Criterios Metodológicos para el Diagnóstico de la PEA</a:t>
            </a:r>
            <a:endParaRPr lang="es-ES" sz="2500" b="1" dirty="0">
              <a:latin typeface="Montserrat" panose="00000500000000000000" pitchFamily="50" charset="0"/>
            </a:endParaRPr>
          </a:p>
        </p:txBody>
      </p:sp>
      <p:sp>
        <p:nvSpPr>
          <p:cNvPr id="37" name="CuadroTexto 36">
            <a:extLst>
              <a:ext uri="{FF2B5EF4-FFF2-40B4-BE49-F238E27FC236}">
                <a16:creationId xmlns:a16="http://schemas.microsoft.com/office/drawing/2014/main" id="{D40E3ED6-F058-41A5-2B62-BBD4FC7B16C4}"/>
              </a:ext>
            </a:extLst>
          </p:cNvPr>
          <p:cNvSpPr txBox="1"/>
          <p:nvPr/>
        </p:nvSpPr>
        <p:spPr>
          <a:xfrm>
            <a:off x="332366" y="6411969"/>
            <a:ext cx="11520000" cy="276999"/>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Política Estatal Anticorrupción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 </a:t>
            </a:r>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https://sesaech.gob.mx/politica-estatal-anticorrupcion/problematizacion-de-la-corrupcion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endParaRPr lang="es-MX" sz="1200" b="1" kern="0" dirty="0">
              <a:solidFill>
                <a:schemeClr val="tx1">
                  <a:lumMod val="75000"/>
                  <a:lumOff val="25000"/>
                </a:schemeClr>
              </a:solidFill>
              <a:latin typeface="Montserrat" panose="00000500000000000000" pitchFamily="2" charset="0"/>
              <a:cs typeface="Segoe UI" panose="020B0502040204020203" pitchFamily="34" charset="0"/>
            </a:endParaRPr>
          </a:p>
        </p:txBody>
      </p:sp>
      <p:pic>
        <p:nvPicPr>
          <p:cNvPr id="39" name="Imagen 38" descr="Diagrama&#10;&#10;El contenido generado por IA puede ser incorrecto.">
            <a:extLst>
              <a:ext uri="{FF2B5EF4-FFF2-40B4-BE49-F238E27FC236}">
                <a16:creationId xmlns:a16="http://schemas.microsoft.com/office/drawing/2014/main" id="{F316310E-7110-F6E1-1422-591272FE75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900" y="1315920"/>
            <a:ext cx="11520000" cy="4230845"/>
          </a:xfrm>
          <a:prstGeom prst="rect">
            <a:avLst/>
          </a:prstGeom>
        </p:spPr>
      </p:pic>
    </p:spTree>
    <p:extLst>
      <p:ext uri="{BB962C8B-B14F-4D97-AF65-F5344CB8AC3E}">
        <p14:creationId xmlns:p14="http://schemas.microsoft.com/office/powerpoint/2010/main" val="2528691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5040E-D324-F35C-CABE-04A7B0448F53}"/>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08AA2559-D65E-1353-22D8-A26CA85F2240}"/>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1.1. Integración del Consejo Consultivo</a:t>
            </a:r>
            <a:endParaRPr lang="es-ES" sz="2500" b="1" dirty="0">
              <a:latin typeface="Montserrat" panose="00000500000000000000" pitchFamily="50" charset="0"/>
            </a:endParaRPr>
          </a:p>
        </p:txBody>
      </p:sp>
      <p:sp>
        <p:nvSpPr>
          <p:cNvPr id="37" name="CuadroTexto 36">
            <a:extLst>
              <a:ext uri="{FF2B5EF4-FFF2-40B4-BE49-F238E27FC236}">
                <a16:creationId xmlns:a16="http://schemas.microsoft.com/office/drawing/2014/main" id="{68FDDBBA-B0AE-9AE5-A3CF-ABD32B028F5F}"/>
              </a:ext>
            </a:extLst>
          </p:cNvPr>
          <p:cNvSpPr txBox="1"/>
          <p:nvPr/>
        </p:nvSpPr>
        <p:spPr>
          <a:xfrm>
            <a:off x="332366" y="6240519"/>
            <a:ext cx="11520000"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Integración del Consejo Consultivo</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rPr>
              <a:t>disponible en: </a:t>
            </a:r>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https://sesaech.gob.mx/politica-estatal-anticorrupcion/integracion-del-consejo-consultivo</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endParaRPr lang="es-MX" sz="1200" b="1" kern="0" dirty="0">
              <a:solidFill>
                <a:schemeClr val="tx1">
                  <a:lumMod val="75000"/>
                  <a:lumOff val="25000"/>
                </a:schemeClr>
              </a:solidFill>
              <a:latin typeface="Montserrat" panose="00000500000000000000" pitchFamily="2" charset="0"/>
              <a:cs typeface="Segoe UI" panose="020B0502040204020203" pitchFamily="34" charset="0"/>
            </a:endParaRPr>
          </a:p>
        </p:txBody>
      </p:sp>
      <p:sp>
        <p:nvSpPr>
          <p:cNvPr id="12" name="CuadroTexto 11">
            <a:extLst>
              <a:ext uri="{FF2B5EF4-FFF2-40B4-BE49-F238E27FC236}">
                <a16:creationId xmlns:a16="http://schemas.microsoft.com/office/drawing/2014/main" id="{5875541D-83C7-F41A-E43C-E058EA922BE3}"/>
              </a:ext>
            </a:extLst>
          </p:cNvPr>
          <p:cNvSpPr txBox="1"/>
          <p:nvPr/>
        </p:nvSpPr>
        <p:spPr>
          <a:xfrm>
            <a:off x="348341" y="1284084"/>
            <a:ext cx="11520000" cy="1077218"/>
          </a:xfrm>
          <a:prstGeom prst="rect">
            <a:avLst/>
          </a:prstGeom>
          <a:noFill/>
        </p:spPr>
        <p:txBody>
          <a:bodyPr wrap="square" rtlCol="0">
            <a:spAutoFit/>
          </a:bodyPr>
          <a:lstStyle/>
          <a:p>
            <a:pPr algn="just"/>
            <a:r>
              <a:rPr lang="es-MX" sz="1600" kern="0" dirty="0">
                <a:solidFill>
                  <a:schemeClr val="tx1">
                    <a:lumMod val="75000"/>
                    <a:lumOff val="25000"/>
                  </a:schemeClr>
                </a:solidFill>
                <a:latin typeface="Montserrat" panose="00000500000000000000" pitchFamily="2" charset="0"/>
                <a:cs typeface="Segoe UI" panose="020B0502040204020203" pitchFamily="34" charset="0"/>
              </a:rPr>
              <a:t>Es un </a:t>
            </a:r>
            <a:r>
              <a:rPr lang="es-MX" sz="1600" b="1" kern="0" dirty="0">
                <a:solidFill>
                  <a:schemeClr val="tx1">
                    <a:lumMod val="75000"/>
                    <a:lumOff val="25000"/>
                  </a:schemeClr>
                </a:solidFill>
                <a:latin typeface="Montserrat" panose="00000500000000000000" pitchFamily="2" charset="0"/>
                <a:cs typeface="Segoe UI" panose="020B0502040204020203" pitchFamily="34" charset="0"/>
              </a:rPr>
              <a:t>cuerpo colegiado de participación ciudadana y de conformación plural</a:t>
            </a:r>
            <a:r>
              <a:rPr lang="es-MX" sz="1600" kern="0" dirty="0">
                <a:solidFill>
                  <a:schemeClr val="tx1">
                    <a:lumMod val="75000"/>
                    <a:lumOff val="25000"/>
                  </a:schemeClr>
                </a:solidFill>
                <a:latin typeface="Montserrat" panose="00000500000000000000" pitchFamily="2" charset="0"/>
                <a:cs typeface="Segoe UI" panose="020B0502040204020203" pitchFamily="34" charset="0"/>
              </a:rPr>
              <a:t>, integrado por ciudadanos que representan al </a:t>
            </a:r>
            <a:r>
              <a:rPr lang="es-MX" sz="1600" b="1" kern="0" dirty="0">
                <a:solidFill>
                  <a:schemeClr val="tx1">
                    <a:lumMod val="75000"/>
                    <a:lumOff val="25000"/>
                  </a:schemeClr>
                </a:solidFill>
                <a:latin typeface="Montserrat" panose="00000500000000000000" pitchFamily="2" charset="0"/>
                <a:cs typeface="Segoe UI" panose="020B0502040204020203" pitchFamily="34" charset="0"/>
              </a:rPr>
              <a:t>sector de la sociedad civil, académico, empresarial y de la Comisión estatal de Derechos Humanos</a:t>
            </a:r>
            <a:r>
              <a:rPr lang="es-MX" sz="1600" kern="0" dirty="0">
                <a:solidFill>
                  <a:schemeClr val="tx1">
                    <a:lumMod val="75000"/>
                    <a:lumOff val="25000"/>
                  </a:schemeClr>
                </a:solidFill>
                <a:latin typeface="Montserrat" panose="00000500000000000000" pitchFamily="2" charset="0"/>
                <a:cs typeface="Segoe UI" panose="020B0502040204020203" pitchFamily="34" charset="0"/>
              </a:rPr>
              <a:t>, que tienen como objetivo, opinar, asesorar en materia de estudios técnicos sobre corrupción y enriquecer los análisis de los insumos para la construcción de la </a:t>
            </a:r>
            <a:r>
              <a:rPr lang="es-MX" sz="1600" b="1" kern="0" dirty="0">
                <a:solidFill>
                  <a:schemeClr val="tx1">
                    <a:lumMod val="75000"/>
                    <a:lumOff val="25000"/>
                  </a:schemeClr>
                </a:solidFill>
                <a:latin typeface="Montserrat" panose="00000500000000000000" pitchFamily="2" charset="0"/>
                <a:cs typeface="Segoe UI" panose="020B0502040204020203" pitchFamily="34" charset="0"/>
              </a:rPr>
              <a:t>Política Estatal Anticorrupción</a:t>
            </a:r>
            <a:r>
              <a:rPr lang="es-MX" sz="1600" kern="0" dirty="0">
                <a:solidFill>
                  <a:schemeClr val="tx1">
                    <a:lumMod val="75000"/>
                    <a:lumOff val="25000"/>
                  </a:schemeClr>
                </a:solidFill>
                <a:latin typeface="Montserrat" panose="00000500000000000000" pitchFamily="2" charset="0"/>
                <a:cs typeface="Segoe UI" panose="020B0502040204020203" pitchFamily="34" charset="0"/>
              </a:rPr>
              <a:t>.</a:t>
            </a:r>
          </a:p>
        </p:txBody>
      </p:sp>
      <p:sp>
        <p:nvSpPr>
          <p:cNvPr id="55" name="CuadroTexto 54">
            <a:extLst>
              <a:ext uri="{FF2B5EF4-FFF2-40B4-BE49-F238E27FC236}">
                <a16:creationId xmlns:a16="http://schemas.microsoft.com/office/drawing/2014/main" id="{7C8E0BDF-C8A9-76DD-5D49-2ECF2DC5A10E}"/>
              </a:ext>
            </a:extLst>
          </p:cNvPr>
          <p:cNvSpPr txBox="1"/>
          <p:nvPr/>
        </p:nvSpPr>
        <p:spPr>
          <a:xfrm>
            <a:off x="1703070" y="2830563"/>
            <a:ext cx="877163" cy="1200329"/>
          </a:xfrm>
          <a:prstGeom prst="rect">
            <a:avLst/>
          </a:prstGeom>
          <a:noFill/>
        </p:spPr>
        <p:txBody>
          <a:bodyPr wrap="none" rtlCol="0">
            <a:spAutoFit/>
          </a:bodyPr>
          <a:lstStyle/>
          <a:p>
            <a:pPr algn="ctr"/>
            <a:r>
              <a:rPr lang="es-MX" sz="7200" dirty="0">
                <a:solidFill>
                  <a:srgbClr val="009885"/>
                </a:solidFill>
                <a:latin typeface="Font Awesome 6 Free Solid" panose="02000903000000000000" pitchFamily="50" charset="0"/>
              </a:rPr>
              <a:t></a:t>
            </a:r>
          </a:p>
        </p:txBody>
      </p:sp>
      <p:sp>
        <p:nvSpPr>
          <p:cNvPr id="56" name="Rectángulo: esquinas redondeadas 55">
            <a:extLst>
              <a:ext uri="{FF2B5EF4-FFF2-40B4-BE49-F238E27FC236}">
                <a16:creationId xmlns:a16="http://schemas.microsoft.com/office/drawing/2014/main" id="{530F3EE4-0354-C296-350C-16AA8E80A163}"/>
              </a:ext>
            </a:extLst>
          </p:cNvPr>
          <p:cNvSpPr/>
          <p:nvPr/>
        </p:nvSpPr>
        <p:spPr>
          <a:xfrm>
            <a:off x="1253081" y="4182470"/>
            <a:ext cx="1800000" cy="576000"/>
          </a:xfrm>
          <a:prstGeom prst="roundRect">
            <a:avLst/>
          </a:prstGeom>
          <a:solidFill>
            <a:srgbClr val="C9016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b="1" dirty="0">
                <a:solidFill>
                  <a:schemeClr val="bg1"/>
                </a:solidFill>
              </a:rPr>
              <a:t>Sector Sociedad Civil</a:t>
            </a:r>
          </a:p>
        </p:txBody>
      </p:sp>
      <p:sp>
        <p:nvSpPr>
          <p:cNvPr id="57" name="Rectángulo: esquinas redondeadas 56">
            <a:extLst>
              <a:ext uri="{FF2B5EF4-FFF2-40B4-BE49-F238E27FC236}">
                <a16:creationId xmlns:a16="http://schemas.microsoft.com/office/drawing/2014/main" id="{9D3CBAC0-1C09-07C0-1A81-58F761D8FEF1}"/>
              </a:ext>
            </a:extLst>
          </p:cNvPr>
          <p:cNvSpPr/>
          <p:nvPr/>
        </p:nvSpPr>
        <p:spPr>
          <a:xfrm>
            <a:off x="3760061" y="4182470"/>
            <a:ext cx="1800000" cy="576000"/>
          </a:xfrm>
          <a:prstGeom prst="roundRect">
            <a:avLst/>
          </a:prstGeom>
          <a:solidFill>
            <a:srgbClr val="C9016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b="1" dirty="0">
                <a:solidFill>
                  <a:schemeClr val="bg1"/>
                </a:solidFill>
              </a:rPr>
              <a:t>Sector</a:t>
            </a:r>
          </a:p>
          <a:p>
            <a:pPr algn="ctr"/>
            <a:r>
              <a:rPr lang="es-MX" sz="1600" b="1" dirty="0">
                <a:solidFill>
                  <a:schemeClr val="bg1"/>
                </a:solidFill>
              </a:rPr>
              <a:t>Académico</a:t>
            </a:r>
          </a:p>
        </p:txBody>
      </p:sp>
      <p:sp>
        <p:nvSpPr>
          <p:cNvPr id="58" name="CuadroTexto 57">
            <a:extLst>
              <a:ext uri="{FF2B5EF4-FFF2-40B4-BE49-F238E27FC236}">
                <a16:creationId xmlns:a16="http://schemas.microsoft.com/office/drawing/2014/main" id="{75319E0A-495B-AD5C-C534-D13607E080EE}"/>
              </a:ext>
            </a:extLst>
          </p:cNvPr>
          <p:cNvSpPr txBox="1"/>
          <p:nvPr/>
        </p:nvSpPr>
        <p:spPr>
          <a:xfrm>
            <a:off x="3990647" y="2837501"/>
            <a:ext cx="1338829" cy="1200329"/>
          </a:xfrm>
          <a:prstGeom prst="rect">
            <a:avLst/>
          </a:prstGeom>
          <a:noFill/>
        </p:spPr>
        <p:txBody>
          <a:bodyPr wrap="none" rtlCol="0">
            <a:spAutoFit/>
          </a:bodyPr>
          <a:lstStyle/>
          <a:p>
            <a:pPr algn="ctr"/>
            <a:r>
              <a:rPr lang="es-MX" sz="7200" dirty="0">
                <a:solidFill>
                  <a:srgbClr val="009885"/>
                </a:solidFill>
                <a:latin typeface="Font Awesome 6 Free Solid" panose="02000903000000000000" pitchFamily="50" charset="0"/>
              </a:rPr>
              <a:t></a:t>
            </a:r>
          </a:p>
        </p:txBody>
      </p:sp>
      <p:sp>
        <p:nvSpPr>
          <p:cNvPr id="59" name="CuadroTexto 58">
            <a:extLst>
              <a:ext uri="{FF2B5EF4-FFF2-40B4-BE49-F238E27FC236}">
                <a16:creationId xmlns:a16="http://schemas.microsoft.com/office/drawing/2014/main" id="{29012FD3-6F72-5703-F3C4-B31CDC3AD86D}"/>
              </a:ext>
            </a:extLst>
          </p:cNvPr>
          <p:cNvSpPr txBox="1"/>
          <p:nvPr/>
        </p:nvSpPr>
        <p:spPr>
          <a:xfrm>
            <a:off x="6864668" y="2837501"/>
            <a:ext cx="1338829" cy="1200329"/>
          </a:xfrm>
          <a:prstGeom prst="rect">
            <a:avLst/>
          </a:prstGeom>
          <a:noFill/>
        </p:spPr>
        <p:txBody>
          <a:bodyPr wrap="none" rtlCol="0">
            <a:spAutoFit/>
          </a:bodyPr>
          <a:lstStyle/>
          <a:p>
            <a:pPr algn="ctr"/>
            <a:r>
              <a:rPr lang="es-MX" sz="7200" dirty="0">
                <a:solidFill>
                  <a:srgbClr val="009885"/>
                </a:solidFill>
                <a:latin typeface="Font Awesome 6 Free Solid" panose="02000903000000000000" pitchFamily="50" charset="0"/>
              </a:rPr>
              <a:t></a:t>
            </a:r>
          </a:p>
        </p:txBody>
      </p:sp>
      <p:sp>
        <p:nvSpPr>
          <p:cNvPr id="60" name="Rectángulo: esquinas redondeadas 59">
            <a:extLst>
              <a:ext uri="{FF2B5EF4-FFF2-40B4-BE49-F238E27FC236}">
                <a16:creationId xmlns:a16="http://schemas.microsoft.com/office/drawing/2014/main" id="{A4BDEDB9-71E7-83C6-A87B-E1DB448F9E76}"/>
              </a:ext>
            </a:extLst>
          </p:cNvPr>
          <p:cNvSpPr/>
          <p:nvPr/>
        </p:nvSpPr>
        <p:spPr>
          <a:xfrm>
            <a:off x="6645512" y="4166548"/>
            <a:ext cx="1800000" cy="576000"/>
          </a:xfrm>
          <a:prstGeom prst="roundRect">
            <a:avLst/>
          </a:prstGeom>
          <a:solidFill>
            <a:srgbClr val="C9016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b="1" dirty="0">
                <a:solidFill>
                  <a:schemeClr val="bg1"/>
                </a:solidFill>
              </a:rPr>
              <a:t>Sector Empresarial</a:t>
            </a:r>
          </a:p>
        </p:txBody>
      </p:sp>
      <p:sp>
        <p:nvSpPr>
          <p:cNvPr id="61" name="Rectángulo: esquinas redondeadas 60">
            <a:extLst>
              <a:ext uri="{FF2B5EF4-FFF2-40B4-BE49-F238E27FC236}">
                <a16:creationId xmlns:a16="http://schemas.microsoft.com/office/drawing/2014/main" id="{CA6B71BB-3098-EAD4-0335-B901D0C4DB7E}"/>
              </a:ext>
            </a:extLst>
          </p:cNvPr>
          <p:cNvSpPr/>
          <p:nvPr/>
        </p:nvSpPr>
        <p:spPr>
          <a:xfrm>
            <a:off x="9152492" y="4166548"/>
            <a:ext cx="1800000" cy="576000"/>
          </a:xfrm>
          <a:prstGeom prst="roundRect">
            <a:avLst/>
          </a:prstGeom>
          <a:solidFill>
            <a:srgbClr val="C9016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600" b="1" dirty="0">
                <a:solidFill>
                  <a:schemeClr val="bg1"/>
                </a:solidFill>
              </a:rPr>
              <a:t>Sector</a:t>
            </a:r>
          </a:p>
          <a:p>
            <a:pPr algn="ctr"/>
            <a:r>
              <a:rPr lang="es-MX" sz="1600" b="1" dirty="0">
                <a:solidFill>
                  <a:schemeClr val="bg1"/>
                </a:solidFill>
              </a:rPr>
              <a:t>Púbico</a:t>
            </a:r>
          </a:p>
        </p:txBody>
      </p:sp>
      <p:sp>
        <p:nvSpPr>
          <p:cNvPr id="62" name="CuadroTexto 61">
            <a:extLst>
              <a:ext uri="{FF2B5EF4-FFF2-40B4-BE49-F238E27FC236}">
                <a16:creationId xmlns:a16="http://schemas.microsoft.com/office/drawing/2014/main" id="{DE210B19-6DC4-7427-DA30-75620F356E41}"/>
              </a:ext>
            </a:extLst>
          </p:cNvPr>
          <p:cNvSpPr txBox="1"/>
          <p:nvPr/>
        </p:nvSpPr>
        <p:spPr>
          <a:xfrm>
            <a:off x="9498494" y="2833009"/>
            <a:ext cx="1107996" cy="1200329"/>
          </a:xfrm>
          <a:prstGeom prst="rect">
            <a:avLst/>
          </a:prstGeom>
          <a:noFill/>
        </p:spPr>
        <p:txBody>
          <a:bodyPr wrap="none" rtlCol="0">
            <a:spAutoFit/>
          </a:bodyPr>
          <a:lstStyle/>
          <a:p>
            <a:pPr algn="ctr"/>
            <a:r>
              <a:rPr lang="es-MX" sz="7200" dirty="0">
                <a:solidFill>
                  <a:srgbClr val="009885"/>
                </a:solidFill>
                <a:latin typeface="Font Awesome 6 Free Solid" panose="02000903000000000000" pitchFamily="50" charset="0"/>
              </a:rPr>
              <a:t></a:t>
            </a:r>
          </a:p>
        </p:txBody>
      </p:sp>
      <p:sp>
        <p:nvSpPr>
          <p:cNvPr id="63" name="Rounded Rectangle 6">
            <a:extLst>
              <a:ext uri="{FF2B5EF4-FFF2-40B4-BE49-F238E27FC236}">
                <a16:creationId xmlns:a16="http://schemas.microsoft.com/office/drawing/2014/main" id="{391D539B-EEF6-FCF4-6257-C4F24581BE25}"/>
              </a:ext>
            </a:extLst>
          </p:cNvPr>
          <p:cNvSpPr/>
          <p:nvPr/>
        </p:nvSpPr>
        <p:spPr>
          <a:xfrm rot="3564405">
            <a:off x="11043649" y="197693"/>
            <a:ext cx="720000" cy="720000"/>
          </a:xfrm>
          <a:prstGeom prst="roundRect">
            <a:avLst/>
          </a:prstGeom>
          <a:noFill/>
          <a:ln>
            <a:solidFill>
              <a:srgbClr val="E9723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egoe UI" panose="020B0502040204020203" pitchFamily="34" charset="0"/>
              <a:cs typeface="Segoe UI" panose="020B0502040204020203" pitchFamily="34" charset="0"/>
            </a:endParaRPr>
          </a:p>
        </p:txBody>
      </p:sp>
      <p:pic>
        <p:nvPicPr>
          <p:cNvPr id="64" name="Gráfico 63" descr="Sala de juntas contorno">
            <a:extLst>
              <a:ext uri="{FF2B5EF4-FFF2-40B4-BE49-F238E27FC236}">
                <a16:creationId xmlns:a16="http://schemas.microsoft.com/office/drawing/2014/main" id="{F58D8B46-ECC0-971B-893D-0F3395AA78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91190" y="258451"/>
            <a:ext cx="572043" cy="572043"/>
          </a:xfrm>
          <a:prstGeom prst="rect">
            <a:avLst/>
          </a:prstGeom>
        </p:spPr>
      </p:pic>
    </p:spTree>
    <p:extLst>
      <p:ext uri="{BB962C8B-B14F-4D97-AF65-F5344CB8AC3E}">
        <p14:creationId xmlns:p14="http://schemas.microsoft.com/office/powerpoint/2010/main" val="3449564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A7321-C20E-D258-2DC2-33465CD4A503}"/>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F6DCBDAE-2F07-FF15-EE36-6DC44977CB76}"/>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Integración del Diagnóstico</a:t>
            </a:r>
          </a:p>
        </p:txBody>
      </p:sp>
      <p:sp>
        <p:nvSpPr>
          <p:cNvPr id="37" name="CuadroTexto 36">
            <a:extLst>
              <a:ext uri="{FF2B5EF4-FFF2-40B4-BE49-F238E27FC236}">
                <a16:creationId xmlns:a16="http://schemas.microsoft.com/office/drawing/2014/main" id="{F0DC41B9-0031-5907-4D04-B3BB64E03500}"/>
              </a:ext>
            </a:extLst>
          </p:cNvPr>
          <p:cNvSpPr txBox="1"/>
          <p:nvPr/>
        </p:nvSpPr>
        <p:spPr>
          <a:xfrm>
            <a:off x="332366" y="6240519"/>
            <a:ext cx="11520000"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Diagnóstico de la Política Estatal Anticorrupción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https://sesaech.gob.mx/politica-estatal-anticorrupcion/integracion-del-diagnostico</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endParaRPr lang="es-MX" sz="1200" b="1" kern="0" dirty="0">
              <a:solidFill>
                <a:schemeClr val="tx1">
                  <a:lumMod val="75000"/>
                  <a:lumOff val="25000"/>
                </a:schemeClr>
              </a:solidFill>
              <a:latin typeface="Montserrat" panose="00000500000000000000" pitchFamily="2" charset="0"/>
              <a:cs typeface="Segoe UI" panose="020B0502040204020203" pitchFamily="34" charset="0"/>
            </a:endParaRPr>
          </a:p>
        </p:txBody>
      </p:sp>
      <p:sp>
        <p:nvSpPr>
          <p:cNvPr id="12" name="CuadroTexto 11">
            <a:extLst>
              <a:ext uri="{FF2B5EF4-FFF2-40B4-BE49-F238E27FC236}">
                <a16:creationId xmlns:a16="http://schemas.microsoft.com/office/drawing/2014/main" id="{2CD532A7-2E59-6D4F-4851-D79024C24ACA}"/>
              </a:ext>
            </a:extLst>
          </p:cNvPr>
          <p:cNvSpPr txBox="1"/>
          <p:nvPr/>
        </p:nvSpPr>
        <p:spPr>
          <a:xfrm>
            <a:off x="4103370" y="1284084"/>
            <a:ext cx="7748996" cy="4349909"/>
          </a:xfrm>
          <a:prstGeom prst="rect">
            <a:avLst/>
          </a:prstGeom>
          <a:noFill/>
        </p:spPr>
        <p:txBody>
          <a:bodyPr wrap="square" rtlCol="0">
            <a:spAutoFit/>
          </a:bodyPr>
          <a:lstStyle/>
          <a:p>
            <a:pPr algn="just">
              <a:spcAft>
                <a:spcPts val="1000"/>
              </a:spcAft>
            </a:pPr>
            <a:r>
              <a:rPr lang="es-MX" sz="2000" kern="0" dirty="0">
                <a:solidFill>
                  <a:schemeClr val="tx1">
                    <a:lumMod val="75000"/>
                    <a:lumOff val="25000"/>
                  </a:schemeClr>
                </a:solidFill>
                <a:latin typeface="Montserrat" panose="00000500000000000000" pitchFamily="2" charset="0"/>
                <a:cs typeface="Segoe UI" panose="020B0502040204020203" pitchFamily="34" charset="0"/>
              </a:rPr>
              <a:t>Desde su planeación y diseño el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Diagnóstico de la Política Estatal Anticorrupción</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fue elaborado con la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participación ciudadana</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de diferentes sectores: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academia, empresarios, organizaciones de la sociedad civil, sindicatos, trabajadores y servidores públicos</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a:t>
            </a:r>
          </a:p>
          <a:p>
            <a:pPr algn="just">
              <a:spcAft>
                <a:spcPts val="1000"/>
              </a:spcAft>
            </a:pPr>
            <a:r>
              <a:rPr lang="es-MX" sz="2000" kern="0" dirty="0">
                <a:solidFill>
                  <a:schemeClr val="tx1">
                    <a:lumMod val="75000"/>
                    <a:lumOff val="25000"/>
                  </a:schemeClr>
                </a:solidFill>
                <a:latin typeface="Montserrat" panose="00000500000000000000" pitchFamily="2" charset="0"/>
                <a:cs typeface="Segoe UI" panose="020B0502040204020203" pitchFamily="34" charset="0"/>
              </a:rPr>
              <a:t>Se diseñó con un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enfoque de género</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ya que la información que se generó se puede analizar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tanto para hombres como para mujeres</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y en todas las etapas de la metodología la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participación de las mujeres</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fue esencial para la elaboración de éste diagnóstico.</a:t>
            </a:r>
          </a:p>
          <a:p>
            <a:pPr algn="just">
              <a:spcAft>
                <a:spcPts val="1000"/>
              </a:spcAft>
            </a:pPr>
            <a:r>
              <a:rPr lang="es-MX" sz="2000" kern="0" dirty="0">
                <a:solidFill>
                  <a:schemeClr val="tx1">
                    <a:lumMod val="75000"/>
                    <a:lumOff val="25000"/>
                  </a:schemeClr>
                </a:solidFill>
                <a:latin typeface="Montserrat" panose="00000500000000000000" pitchFamily="2" charset="0"/>
                <a:cs typeface="Segoe UI" panose="020B0502040204020203" pitchFamily="34" charset="0"/>
              </a:rPr>
              <a:t>Este diagnóstico es un insumo para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priorizar estrategias</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y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acciones</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de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Política Estatal Anticorrupción</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así como para la implementación.</a:t>
            </a:r>
          </a:p>
        </p:txBody>
      </p:sp>
      <p:pic>
        <p:nvPicPr>
          <p:cNvPr id="3" name="Imagen 2" descr="Aplicación&#10;&#10;El contenido generado por IA puede ser incorrecto.">
            <a:extLst>
              <a:ext uri="{FF2B5EF4-FFF2-40B4-BE49-F238E27FC236}">
                <a16:creationId xmlns:a16="http://schemas.microsoft.com/office/drawing/2014/main" id="{804D4541-3DC7-9A1D-B035-D23B984443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796" y="1269177"/>
            <a:ext cx="3312000" cy="4320000"/>
          </a:xfrm>
          <a:prstGeom prst="rect">
            <a:avLst/>
          </a:prstGeom>
          <a:ln>
            <a:solidFill>
              <a:schemeClr val="bg2">
                <a:lumMod val="25000"/>
              </a:schemeClr>
            </a:solidFill>
          </a:ln>
        </p:spPr>
      </p:pic>
    </p:spTree>
    <p:extLst>
      <p:ext uri="{BB962C8B-B14F-4D97-AF65-F5344CB8AC3E}">
        <p14:creationId xmlns:p14="http://schemas.microsoft.com/office/powerpoint/2010/main" val="3290050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6F4C0-B77B-FA62-DD62-9EE93971BD2E}"/>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38BF8BF1-41A8-1DCB-CAD9-114A7BD66CB2}"/>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2.1. Priorización de Acciones</a:t>
            </a:r>
          </a:p>
        </p:txBody>
      </p:sp>
      <p:sp>
        <p:nvSpPr>
          <p:cNvPr id="37" name="CuadroTexto 36">
            <a:extLst>
              <a:ext uri="{FF2B5EF4-FFF2-40B4-BE49-F238E27FC236}">
                <a16:creationId xmlns:a16="http://schemas.microsoft.com/office/drawing/2014/main" id="{C375A545-3412-63B2-E15B-E11930A6DBB7}"/>
              </a:ext>
            </a:extLst>
          </p:cNvPr>
          <p:cNvSpPr txBox="1"/>
          <p:nvPr/>
        </p:nvSpPr>
        <p:spPr>
          <a:xfrm>
            <a:off x="332366" y="6240519"/>
            <a:ext cx="11520000"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Talleres para Priorizar Acciones en el Combate y Control de la 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https://sesaech.gob.mx/politica-estatal-anticorrupcion/taller-de-priorizacion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endParaRPr lang="es-MX" sz="1200" b="1" kern="0" dirty="0">
              <a:solidFill>
                <a:schemeClr val="tx1">
                  <a:lumMod val="75000"/>
                  <a:lumOff val="25000"/>
                </a:schemeClr>
              </a:solidFill>
              <a:latin typeface="Montserrat" panose="00000500000000000000" pitchFamily="2" charset="0"/>
              <a:cs typeface="Segoe UI" panose="020B0502040204020203" pitchFamily="34" charset="0"/>
            </a:endParaRPr>
          </a:p>
        </p:txBody>
      </p:sp>
      <p:sp>
        <p:nvSpPr>
          <p:cNvPr id="12" name="CuadroTexto 11">
            <a:extLst>
              <a:ext uri="{FF2B5EF4-FFF2-40B4-BE49-F238E27FC236}">
                <a16:creationId xmlns:a16="http://schemas.microsoft.com/office/drawing/2014/main" id="{DC8BBB2C-2077-253D-E937-517F9A9F1BB6}"/>
              </a:ext>
            </a:extLst>
          </p:cNvPr>
          <p:cNvSpPr txBox="1"/>
          <p:nvPr/>
        </p:nvSpPr>
        <p:spPr>
          <a:xfrm>
            <a:off x="348341" y="849744"/>
            <a:ext cx="11504025" cy="1938992"/>
          </a:xfrm>
          <a:prstGeom prst="rect">
            <a:avLst/>
          </a:prstGeom>
          <a:noFill/>
        </p:spPr>
        <p:txBody>
          <a:bodyPr wrap="square" rtlCol="0">
            <a:spAutoFit/>
          </a:bodyPr>
          <a:lstStyle/>
          <a:p>
            <a:pPr algn="just">
              <a:spcAft>
                <a:spcPts val="1000"/>
              </a:spcAft>
            </a:pPr>
            <a:r>
              <a:rPr lang="es-MX" sz="2000" kern="0" dirty="0">
                <a:solidFill>
                  <a:schemeClr val="tx1">
                    <a:lumMod val="75000"/>
                    <a:lumOff val="25000"/>
                  </a:schemeClr>
                </a:solidFill>
                <a:latin typeface="Montserrat" panose="00000500000000000000" pitchFamily="2" charset="0"/>
                <a:cs typeface="Segoe UI" panose="020B0502040204020203" pitchFamily="34" charset="0"/>
              </a:rPr>
              <a:t>Como parte de las estrategias para la elaboración de la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Política Estatal Anticorrupción (PEA)</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se consideró contar con la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participación ciudadana de los diferentes sectores: academia, empresarios, organizaciones de la sociedad civil, sindicatos, trabajadores y servidores públicos</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Para la participación de estos sectores se realizó el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Taller para Priorizar Acciones en el Combate y Control de la Corrupción</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en el cual se trabajó tomando como base los siguientes ejes:</a:t>
            </a:r>
          </a:p>
        </p:txBody>
      </p:sp>
      <p:graphicFrame>
        <p:nvGraphicFramePr>
          <p:cNvPr id="5" name="Tabla 4">
            <a:extLst>
              <a:ext uri="{FF2B5EF4-FFF2-40B4-BE49-F238E27FC236}">
                <a16:creationId xmlns:a16="http://schemas.microsoft.com/office/drawing/2014/main" id="{D496EC94-CD38-122B-4C25-1596DD91989F}"/>
              </a:ext>
            </a:extLst>
          </p:cNvPr>
          <p:cNvGraphicFramePr>
            <a:graphicFrameLocks noGrp="1"/>
          </p:cNvGraphicFramePr>
          <p:nvPr>
            <p:extLst>
              <p:ext uri="{D42A27DB-BD31-4B8C-83A1-F6EECF244321}">
                <p14:modId xmlns:p14="http://schemas.microsoft.com/office/powerpoint/2010/main" val="3452530346"/>
              </p:ext>
            </p:extLst>
          </p:nvPr>
        </p:nvGraphicFramePr>
        <p:xfrm>
          <a:off x="348341" y="3223260"/>
          <a:ext cx="11504025" cy="1828800"/>
        </p:xfrm>
        <a:graphic>
          <a:graphicData uri="http://schemas.openxmlformats.org/drawingml/2006/table">
            <a:tbl>
              <a:tblPr firstRow="1" bandRow="1">
                <a:tableStyleId>{2D5ABB26-0587-4C30-8999-92F81FD0307C}</a:tableStyleId>
              </a:tblPr>
              <a:tblGrid>
                <a:gridCol w="832337">
                  <a:extLst>
                    <a:ext uri="{9D8B030D-6E8A-4147-A177-3AD203B41FA5}">
                      <a16:colId xmlns:a16="http://schemas.microsoft.com/office/drawing/2014/main" val="1950501071"/>
                    </a:ext>
                  </a:extLst>
                </a:gridCol>
                <a:gridCol w="10671688">
                  <a:extLst>
                    <a:ext uri="{9D8B030D-6E8A-4147-A177-3AD203B41FA5}">
                      <a16:colId xmlns:a16="http://schemas.microsoft.com/office/drawing/2014/main" val="3571249072"/>
                    </a:ext>
                  </a:extLst>
                </a:gridCol>
              </a:tblGrid>
              <a:tr h="370840">
                <a:tc>
                  <a:txBody>
                    <a:bodyPr/>
                    <a:lstStyle/>
                    <a:p>
                      <a:pPr algn="ctr"/>
                      <a:r>
                        <a:rPr lang="es-MX" sz="2400" dirty="0">
                          <a:solidFill>
                            <a:srgbClr val="C31E72"/>
                          </a:solidFill>
                          <a:latin typeface="Font Awesome 6 Free Solid" panose="02000903000000000000" pitchFamily="50" charset="0"/>
                        </a:rPr>
                        <a:t></a:t>
                      </a:r>
                      <a:endParaRPr lang="es-MX" sz="1800" dirty="0">
                        <a:solidFill>
                          <a:srgbClr val="C31E72"/>
                        </a:solidFill>
                        <a:latin typeface="Font Awesome 6 Free Solid" panose="02000903000000000000" pitchFamily="50"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s-MX" sz="1700" b="1" dirty="0">
                          <a:latin typeface="Montserrat" panose="00000500000000000000" pitchFamily="2" charset="0"/>
                        </a:rPr>
                        <a:t>Eje 1:</a:t>
                      </a:r>
                      <a:r>
                        <a:rPr lang="es-MX" sz="1700" dirty="0">
                          <a:latin typeface="Montserrat" panose="00000500000000000000" pitchFamily="2" charset="0"/>
                        </a:rPr>
                        <a:t> Combatir a la corrupción e impunidad.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55522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400" b="0" i="0" u="none" strike="noStrike" kern="1200" cap="none" spc="0" normalizeH="0" baseline="0" noProof="0" dirty="0">
                          <a:ln>
                            <a:noFill/>
                          </a:ln>
                          <a:solidFill>
                            <a:srgbClr val="C31E72"/>
                          </a:solidFill>
                          <a:effectLst/>
                          <a:uLnTx/>
                          <a:uFillTx/>
                          <a:latin typeface="Font Awesome 6 Free Solid" panose="02000903000000000000" pitchFamily="50" charset="0"/>
                          <a:ea typeface="+mn-ea"/>
                          <a:cs typeface="+mn-cs"/>
                        </a:rPr>
                        <a:t></a:t>
                      </a:r>
                      <a:endParaRPr kumimoji="0" lang="es-MX" sz="1800" b="0" i="0" u="none" strike="noStrike" kern="1200" cap="none" spc="0" normalizeH="0" baseline="0" noProof="0" dirty="0">
                        <a:ln>
                          <a:noFill/>
                        </a:ln>
                        <a:solidFill>
                          <a:srgbClr val="C31E72"/>
                        </a:solidFill>
                        <a:effectLst/>
                        <a:uLnTx/>
                        <a:uFillTx/>
                        <a:latin typeface="Font Awesome 6 Free Solid" panose="02000903000000000000" pitchFamily="50"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7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Eje 2:</a:t>
                      </a:r>
                      <a:r>
                        <a:rPr kumimoji="0" lang="es-MX" sz="17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Combatir la arbitrariedad y el abuso de poder.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79120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400" b="0" i="0" u="none" strike="noStrike" kern="1200" cap="none" spc="0" normalizeH="0" baseline="0" noProof="0" dirty="0">
                          <a:ln>
                            <a:noFill/>
                          </a:ln>
                          <a:solidFill>
                            <a:srgbClr val="C31E72"/>
                          </a:solidFill>
                          <a:effectLst/>
                          <a:uLnTx/>
                          <a:uFillTx/>
                          <a:latin typeface="Font Awesome 6 Free Solid" panose="02000903000000000000" pitchFamily="50" charset="0"/>
                          <a:ea typeface="+mn-ea"/>
                          <a:cs typeface="+mn-cs"/>
                        </a:rPr>
                        <a:t></a:t>
                      </a:r>
                      <a:endParaRPr kumimoji="0" lang="es-MX" sz="1800" b="0" i="0" u="none" strike="noStrike" kern="1200" cap="none" spc="0" normalizeH="0" baseline="0" noProof="0" dirty="0">
                        <a:ln>
                          <a:noFill/>
                        </a:ln>
                        <a:solidFill>
                          <a:srgbClr val="C31E72"/>
                        </a:solidFill>
                        <a:effectLst/>
                        <a:uLnTx/>
                        <a:uFillTx/>
                        <a:latin typeface="Font Awesome 6 Free Solid" panose="02000903000000000000" pitchFamily="50"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7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Eje 3:</a:t>
                      </a:r>
                      <a:r>
                        <a:rPr kumimoji="0" lang="es-MX" sz="17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Promover la mejora de la gestión pública y de los puntos de contacto gobierno-sociedad.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16002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2400" b="0" i="0" u="none" strike="noStrike" kern="1200" cap="none" spc="0" normalizeH="0" baseline="0" noProof="0" dirty="0">
                          <a:ln>
                            <a:noFill/>
                          </a:ln>
                          <a:solidFill>
                            <a:srgbClr val="C31E72"/>
                          </a:solidFill>
                          <a:effectLst/>
                          <a:uLnTx/>
                          <a:uFillTx/>
                          <a:latin typeface="Font Awesome 6 Free Solid" panose="02000903000000000000" pitchFamily="50" charset="0"/>
                          <a:ea typeface="+mn-ea"/>
                          <a:cs typeface="+mn-cs"/>
                        </a:rPr>
                        <a:t></a:t>
                      </a:r>
                      <a:endParaRPr kumimoji="0" lang="es-MX" sz="1800" b="0" i="0" u="none" strike="noStrike" kern="1200" cap="none" spc="0" normalizeH="0" baseline="0" noProof="0" dirty="0">
                        <a:ln>
                          <a:noFill/>
                        </a:ln>
                        <a:solidFill>
                          <a:srgbClr val="C31E72"/>
                        </a:solidFill>
                        <a:effectLst/>
                        <a:uLnTx/>
                        <a:uFillTx/>
                        <a:latin typeface="Font Awesome 6 Free Solid" panose="02000903000000000000" pitchFamily="50"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7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Eje 4:</a:t>
                      </a:r>
                      <a:r>
                        <a:rPr kumimoji="0" lang="es-MX" sz="17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Involucrar a la sociedad y el sector privado.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4915032"/>
                  </a:ext>
                </a:extLst>
              </a:tr>
            </a:tbl>
          </a:graphicData>
        </a:graphic>
      </p:graphicFrame>
    </p:spTree>
    <p:extLst>
      <p:ext uri="{BB962C8B-B14F-4D97-AF65-F5344CB8AC3E}">
        <p14:creationId xmlns:p14="http://schemas.microsoft.com/office/powerpoint/2010/main" val="397572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F25B5-F350-AB62-E6BC-1B770B2E5287}"/>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C99BCC3C-7074-84D0-D4A6-494E2BA6A862}"/>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3.1. Política Estatal Anticorrupción</a:t>
            </a:r>
          </a:p>
        </p:txBody>
      </p:sp>
      <p:sp>
        <p:nvSpPr>
          <p:cNvPr id="37" name="CuadroTexto 36">
            <a:extLst>
              <a:ext uri="{FF2B5EF4-FFF2-40B4-BE49-F238E27FC236}">
                <a16:creationId xmlns:a16="http://schemas.microsoft.com/office/drawing/2014/main" id="{7878DA16-5934-1564-F25B-9D24F0C5EBC3}"/>
              </a:ext>
            </a:extLst>
          </p:cNvPr>
          <p:cNvSpPr txBox="1"/>
          <p:nvPr/>
        </p:nvSpPr>
        <p:spPr>
          <a:xfrm>
            <a:off x="332366" y="6240519"/>
            <a:ext cx="11520000"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Política Estatal Anticorrupción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https://sesaech.gob.mx/politica-estatal-anticorrupcion/politica-estatal-anticorrupcion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endParaRPr lang="es-MX" sz="1200" b="1" kern="0" dirty="0">
              <a:solidFill>
                <a:schemeClr val="tx1">
                  <a:lumMod val="75000"/>
                  <a:lumOff val="25000"/>
                </a:schemeClr>
              </a:solidFill>
              <a:latin typeface="Montserrat" panose="00000500000000000000" pitchFamily="2" charset="0"/>
              <a:cs typeface="Segoe UI" panose="020B0502040204020203" pitchFamily="34" charset="0"/>
            </a:endParaRPr>
          </a:p>
        </p:txBody>
      </p:sp>
      <p:pic>
        <p:nvPicPr>
          <p:cNvPr id="2" name="Imagen 1">
            <a:extLst>
              <a:ext uri="{FF2B5EF4-FFF2-40B4-BE49-F238E27FC236}">
                <a16:creationId xmlns:a16="http://schemas.microsoft.com/office/drawing/2014/main" id="{8D2B98C1-A68B-6C8D-F952-7B1F54F39341}"/>
              </a:ext>
            </a:extLst>
          </p:cNvPr>
          <p:cNvPicPr>
            <a:picLocks noChangeAspect="1"/>
          </p:cNvPicPr>
          <p:nvPr/>
        </p:nvPicPr>
        <p:blipFill>
          <a:blip r:embed="rId3"/>
          <a:srcRect l="5832" t="4608" r="5651" b="4666"/>
          <a:stretch/>
        </p:blipFill>
        <p:spPr>
          <a:xfrm>
            <a:off x="348341" y="1082258"/>
            <a:ext cx="3595009" cy="4693484"/>
          </a:xfrm>
          <a:prstGeom prst="rect">
            <a:avLst/>
          </a:prstGeom>
          <a:ln>
            <a:solidFill>
              <a:schemeClr val="bg2">
                <a:lumMod val="25000"/>
              </a:schemeClr>
            </a:solidFill>
          </a:ln>
          <a:effectLst/>
        </p:spPr>
      </p:pic>
      <p:sp>
        <p:nvSpPr>
          <p:cNvPr id="3" name="CuadroTexto 2">
            <a:extLst>
              <a:ext uri="{FF2B5EF4-FFF2-40B4-BE49-F238E27FC236}">
                <a16:creationId xmlns:a16="http://schemas.microsoft.com/office/drawing/2014/main" id="{CB6B7289-54EC-5211-B7C5-ECF7A2715E35}"/>
              </a:ext>
            </a:extLst>
          </p:cNvPr>
          <p:cNvSpPr txBox="1"/>
          <p:nvPr/>
        </p:nvSpPr>
        <p:spPr>
          <a:xfrm>
            <a:off x="4652010" y="1082258"/>
            <a:ext cx="7200356" cy="1631216"/>
          </a:xfrm>
          <a:prstGeom prst="rect">
            <a:avLst/>
          </a:prstGeom>
          <a:noFill/>
        </p:spPr>
        <p:txBody>
          <a:bodyPr wrap="square" rtlCol="0">
            <a:spAutoFit/>
          </a:bodyPr>
          <a:lstStyle/>
          <a:p>
            <a:pPr algn="just">
              <a:spcAft>
                <a:spcPts val="1000"/>
              </a:spcAft>
            </a:pPr>
            <a:r>
              <a:rPr lang="es-MX" sz="2000" kern="0" dirty="0">
                <a:solidFill>
                  <a:schemeClr val="tx1">
                    <a:lumMod val="75000"/>
                    <a:lumOff val="25000"/>
                  </a:schemeClr>
                </a:solidFill>
                <a:latin typeface="Montserrat" panose="00000500000000000000" pitchFamily="2" charset="0"/>
                <a:cs typeface="Segoe UI" panose="020B0502040204020203" pitchFamily="34" charset="0"/>
              </a:rPr>
              <a:t>Aprobada mediante el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Acta número SO-03-CC/SAECH/2022</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de la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Tercera Sesión Ordinaria</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del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Comité Coordinador del Sistema Anticorrupción del Estado de Chiapas</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realizada el 17 de noviembre de 2022.</a:t>
            </a:r>
          </a:p>
        </p:txBody>
      </p:sp>
      <p:sp>
        <p:nvSpPr>
          <p:cNvPr id="6" name="Freeform 11">
            <a:extLst>
              <a:ext uri="{FF2B5EF4-FFF2-40B4-BE49-F238E27FC236}">
                <a16:creationId xmlns:a16="http://schemas.microsoft.com/office/drawing/2014/main" id="{49C9FEA0-D787-99E2-5990-5E223D66C332}"/>
              </a:ext>
            </a:extLst>
          </p:cNvPr>
          <p:cNvSpPr/>
          <p:nvPr/>
        </p:nvSpPr>
        <p:spPr>
          <a:xfrm>
            <a:off x="10303591" y="3057707"/>
            <a:ext cx="972000" cy="972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chemeClr val="bg1"/>
          </a:solidFill>
          <a:ln>
            <a:solidFill>
              <a:srgbClr val="AE19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36" name="Rounded Rectangle 54">
            <a:extLst>
              <a:ext uri="{FF2B5EF4-FFF2-40B4-BE49-F238E27FC236}">
                <a16:creationId xmlns:a16="http://schemas.microsoft.com/office/drawing/2014/main" id="{0E1368B2-FD11-37EE-592B-96F75B7B8AE4}"/>
              </a:ext>
            </a:extLst>
          </p:cNvPr>
          <p:cNvSpPr/>
          <p:nvPr/>
        </p:nvSpPr>
        <p:spPr>
          <a:xfrm>
            <a:off x="9701004" y="4327455"/>
            <a:ext cx="2160000" cy="1440000"/>
          </a:xfrm>
          <a:prstGeom prst="roundRect">
            <a:avLst>
              <a:gd name="adj" fmla="val 1125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41" name="Rounded Rectangle 55">
            <a:extLst>
              <a:ext uri="{FF2B5EF4-FFF2-40B4-BE49-F238E27FC236}">
                <a16:creationId xmlns:a16="http://schemas.microsoft.com/office/drawing/2014/main" id="{4A2BD0D2-12A4-F88B-B338-A1471E8CC50B}"/>
              </a:ext>
            </a:extLst>
          </p:cNvPr>
          <p:cNvSpPr/>
          <p:nvPr/>
        </p:nvSpPr>
        <p:spPr>
          <a:xfrm>
            <a:off x="10030542" y="4122600"/>
            <a:ext cx="1512000" cy="396000"/>
          </a:xfrm>
          <a:prstGeom prst="roundRect">
            <a:avLst>
              <a:gd name="adj" fmla="val 50000"/>
            </a:avLst>
          </a:prstGeom>
          <a:solidFill>
            <a:srgbClr val="AE19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43" name="TextBox 58">
            <a:extLst>
              <a:ext uri="{FF2B5EF4-FFF2-40B4-BE49-F238E27FC236}">
                <a16:creationId xmlns:a16="http://schemas.microsoft.com/office/drawing/2014/main" id="{64B18F9E-D96B-71D4-DE12-A744240AC261}"/>
              </a:ext>
            </a:extLst>
          </p:cNvPr>
          <p:cNvSpPr txBox="1"/>
          <p:nvPr/>
        </p:nvSpPr>
        <p:spPr>
          <a:xfrm>
            <a:off x="10139813" y="4228975"/>
            <a:ext cx="1296000" cy="184666"/>
          </a:xfrm>
          <a:prstGeom prst="rect">
            <a:avLst/>
          </a:prstGeom>
          <a:noFill/>
        </p:spPr>
        <p:txBody>
          <a:bodyPr wrap="square" lIns="0" tIns="0" rIns="0" bIns="0" anchor="ctr" anchorCtr="0">
            <a:spAutoFit/>
          </a:bodyPr>
          <a:lstStyle/>
          <a:p>
            <a:pPr algn="ctr"/>
            <a:r>
              <a:rPr lang="en-US" sz="1200" b="1" dirty="0">
                <a:solidFill>
                  <a:schemeClr val="bg1"/>
                </a:solidFill>
                <a:latin typeface="Montserrat" panose="00000500000000000000" pitchFamily="2" charset="0"/>
                <a:cs typeface="Segoe UI" panose="020B0502040204020203" pitchFamily="34" charset="0"/>
              </a:rPr>
              <a:t>PRIORIDADES</a:t>
            </a:r>
            <a:endParaRPr lang="en-BR" sz="1200" b="1" dirty="0">
              <a:solidFill>
                <a:schemeClr val="bg1"/>
              </a:solidFill>
              <a:latin typeface="Montserrat" panose="00000500000000000000" pitchFamily="2" charset="0"/>
              <a:cs typeface="Segoe UI" panose="020B0502040204020203" pitchFamily="34" charset="0"/>
            </a:endParaRPr>
          </a:p>
        </p:txBody>
      </p:sp>
      <p:sp>
        <p:nvSpPr>
          <p:cNvPr id="44" name="TextBox 59">
            <a:extLst>
              <a:ext uri="{FF2B5EF4-FFF2-40B4-BE49-F238E27FC236}">
                <a16:creationId xmlns:a16="http://schemas.microsoft.com/office/drawing/2014/main" id="{B3D3E190-29C4-1CB1-DDC9-B746FB3366D6}"/>
              </a:ext>
            </a:extLst>
          </p:cNvPr>
          <p:cNvSpPr txBox="1"/>
          <p:nvPr/>
        </p:nvSpPr>
        <p:spPr>
          <a:xfrm>
            <a:off x="9712434" y="4493695"/>
            <a:ext cx="2126792" cy="1231106"/>
          </a:xfrm>
          <a:prstGeom prst="rect">
            <a:avLst/>
          </a:prstGeom>
          <a:noFill/>
        </p:spPr>
        <p:txBody>
          <a:bodyPr wrap="square" lIns="0" tIns="0" rIns="0" bIns="0" rtlCol="0">
            <a:spAutoFit/>
          </a:bodyPr>
          <a:lstStyle/>
          <a:p>
            <a:pPr algn="ctr"/>
            <a:r>
              <a:rPr lang="en-US" sz="8000" b="1" dirty="0">
                <a:solidFill>
                  <a:srgbClr val="AE192D"/>
                </a:solidFill>
                <a:latin typeface="Montserrat" panose="00000500000000000000" pitchFamily="2" charset="0"/>
                <a:cs typeface="Segoe UI" panose="020B0502040204020203" pitchFamily="34" charset="0"/>
              </a:rPr>
              <a:t>67</a:t>
            </a:r>
            <a:endParaRPr lang="en-BR" sz="8000" dirty="0">
              <a:solidFill>
                <a:srgbClr val="AE192D"/>
              </a:solidFill>
              <a:latin typeface="Segoe UI" panose="020B0502040204020203" pitchFamily="34" charset="0"/>
              <a:cs typeface="Segoe UI" panose="020B0502040204020203" pitchFamily="34" charset="0"/>
            </a:endParaRPr>
          </a:p>
        </p:txBody>
      </p:sp>
      <p:sp>
        <p:nvSpPr>
          <p:cNvPr id="51" name="Freeform 70">
            <a:extLst>
              <a:ext uri="{FF2B5EF4-FFF2-40B4-BE49-F238E27FC236}">
                <a16:creationId xmlns:a16="http://schemas.microsoft.com/office/drawing/2014/main" id="{E4524545-1624-0C71-1CC7-026FB64EC4EF}"/>
              </a:ext>
            </a:extLst>
          </p:cNvPr>
          <p:cNvSpPr/>
          <p:nvPr/>
        </p:nvSpPr>
        <p:spPr>
          <a:xfrm>
            <a:off x="10425757" y="3193198"/>
            <a:ext cx="720000" cy="720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rgbClr val="AE192D"/>
          </a:solidFill>
          <a:ln w="8897" cap="flat">
            <a:noFill/>
            <a:prstDash val="solid"/>
            <a:miter/>
          </a:ln>
        </p:spPr>
        <p:txBody>
          <a:bodyPr rtlCol="0" anchor="ctr"/>
          <a:lstStyle/>
          <a:p>
            <a:pPr algn="ctr"/>
            <a:r>
              <a:rPr lang="en-BR" sz="3600" dirty="0">
                <a:solidFill>
                  <a:schemeClr val="bg1"/>
                </a:solidFill>
                <a:latin typeface="Font Awesome 6 Free Solid" panose="02000903000000000000" pitchFamily="50" charset="0"/>
              </a:rPr>
              <a:t></a:t>
            </a:r>
          </a:p>
        </p:txBody>
      </p:sp>
      <p:sp>
        <p:nvSpPr>
          <p:cNvPr id="71" name="Freeform 11">
            <a:extLst>
              <a:ext uri="{FF2B5EF4-FFF2-40B4-BE49-F238E27FC236}">
                <a16:creationId xmlns:a16="http://schemas.microsoft.com/office/drawing/2014/main" id="{1E0BAA13-D889-8D37-51CB-64EBD7CFC2AC}"/>
              </a:ext>
            </a:extLst>
          </p:cNvPr>
          <p:cNvSpPr/>
          <p:nvPr/>
        </p:nvSpPr>
        <p:spPr>
          <a:xfrm>
            <a:off x="7767367" y="3063705"/>
            <a:ext cx="972000" cy="972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chemeClr val="bg1"/>
          </a:solidFill>
          <a:ln>
            <a:solidFill>
              <a:srgbClr val="0098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72" name="Rounded Rectangle 54">
            <a:extLst>
              <a:ext uri="{FF2B5EF4-FFF2-40B4-BE49-F238E27FC236}">
                <a16:creationId xmlns:a16="http://schemas.microsoft.com/office/drawing/2014/main" id="{2FC12064-3FE5-0E74-64CC-37BE0C8015EF}"/>
              </a:ext>
            </a:extLst>
          </p:cNvPr>
          <p:cNvSpPr/>
          <p:nvPr/>
        </p:nvSpPr>
        <p:spPr>
          <a:xfrm>
            <a:off x="7176210" y="4333453"/>
            <a:ext cx="2160000" cy="1440000"/>
          </a:xfrm>
          <a:prstGeom prst="roundRect">
            <a:avLst>
              <a:gd name="adj" fmla="val 1125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73" name="Rounded Rectangle 55">
            <a:extLst>
              <a:ext uri="{FF2B5EF4-FFF2-40B4-BE49-F238E27FC236}">
                <a16:creationId xmlns:a16="http://schemas.microsoft.com/office/drawing/2014/main" id="{B52A19FF-3605-3557-2698-22C96535A631}"/>
              </a:ext>
            </a:extLst>
          </p:cNvPr>
          <p:cNvSpPr/>
          <p:nvPr/>
        </p:nvSpPr>
        <p:spPr>
          <a:xfrm>
            <a:off x="7517178" y="4128598"/>
            <a:ext cx="1512000" cy="396000"/>
          </a:xfrm>
          <a:prstGeom prst="roundRect">
            <a:avLst>
              <a:gd name="adj" fmla="val 50000"/>
            </a:avLst>
          </a:prstGeom>
          <a:solidFill>
            <a:srgbClr val="009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74" name="TextBox 58">
            <a:extLst>
              <a:ext uri="{FF2B5EF4-FFF2-40B4-BE49-F238E27FC236}">
                <a16:creationId xmlns:a16="http://schemas.microsoft.com/office/drawing/2014/main" id="{6B0CDE9D-B1D4-B793-64EC-C37AC79014F8}"/>
              </a:ext>
            </a:extLst>
          </p:cNvPr>
          <p:cNvSpPr txBox="1"/>
          <p:nvPr/>
        </p:nvSpPr>
        <p:spPr>
          <a:xfrm>
            <a:off x="7626449" y="4234973"/>
            <a:ext cx="1296000" cy="184666"/>
          </a:xfrm>
          <a:prstGeom prst="rect">
            <a:avLst/>
          </a:prstGeom>
          <a:noFill/>
        </p:spPr>
        <p:txBody>
          <a:bodyPr wrap="square" lIns="0" tIns="0" rIns="0" bIns="0" anchor="ctr" anchorCtr="0">
            <a:spAutoFit/>
          </a:bodyPr>
          <a:lstStyle/>
          <a:p>
            <a:pPr algn="ctr"/>
            <a:r>
              <a:rPr lang="en-US" sz="1200" b="1" dirty="0">
                <a:solidFill>
                  <a:schemeClr val="bg1"/>
                </a:solidFill>
                <a:latin typeface="Montserrat" panose="00000500000000000000" pitchFamily="2" charset="0"/>
                <a:cs typeface="Segoe UI" panose="020B0502040204020203" pitchFamily="34" charset="0"/>
              </a:rPr>
              <a:t>OBJETIVOS</a:t>
            </a:r>
            <a:endParaRPr lang="en-BR" sz="1200" b="1" dirty="0">
              <a:solidFill>
                <a:schemeClr val="bg1"/>
              </a:solidFill>
              <a:latin typeface="Montserrat" panose="00000500000000000000" pitchFamily="2" charset="0"/>
              <a:cs typeface="Segoe UI" panose="020B0502040204020203" pitchFamily="34" charset="0"/>
            </a:endParaRPr>
          </a:p>
        </p:txBody>
      </p:sp>
      <p:sp>
        <p:nvSpPr>
          <p:cNvPr id="75" name="TextBox 59">
            <a:extLst>
              <a:ext uri="{FF2B5EF4-FFF2-40B4-BE49-F238E27FC236}">
                <a16:creationId xmlns:a16="http://schemas.microsoft.com/office/drawing/2014/main" id="{6C37EA7F-D75F-763E-42BA-CB061E261BF1}"/>
              </a:ext>
            </a:extLst>
          </p:cNvPr>
          <p:cNvSpPr txBox="1"/>
          <p:nvPr/>
        </p:nvSpPr>
        <p:spPr>
          <a:xfrm>
            <a:off x="7176210" y="4499693"/>
            <a:ext cx="2126792" cy="1231106"/>
          </a:xfrm>
          <a:prstGeom prst="rect">
            <a:avLst/>
          </a:prstGeom>
          <a:noFill/>
        </p:spPr>
        <p:txBody>
          <a:bodyPr wrap="square" lIns="0" tIns="0" rIns="0" bIns="0" rtlCol="0">
            <a:spAutoFit/>
          </a:bodyPr>
          <a:lstStyle/>
          <a:p>
            <a:pPr algn="ctr"/>
            <a:r>
              <a:rPr lang="en-US" sz="8000" b="1" dirty="0">
                <a:solidFill>
                  <a:srgbClr val="009885"/>
                </a:solidFill>
                <a:latin typeface="Montserrat" panose="00000500000000000000" pitchFamily="2" charset="0"/>
                <a:cs typeface="Segoe UI" panose="020B0502040204020203" pitchFamily="34" charset="0"/>
              </a:rPr>
              <a:t>10</a:t>
            </a:r>
            <a:endParaRPr lang="en-BR" sz="8000" dirty="0">
              <a:solidFill>
                <a:srgbClr val="009885"/>
              </a:solidFill>
              <a:latin typeface="Segoe UI" panose="020B0502040204020203" pitchFamily="34" charset="0"/>
              <a:cs typeface="Segoe UI" panose="020B0502040204020203" pitchFamily="34" charset="0"/>
            </a:endParaRPr>
          </a:p>
        </p:txBody>
      </p:sp>
      <p:pic>
        <p:nvPicPr>
          <p:cNvPr id="76" name="Graphic 36" descr="Lightbulb with solid fill">
            <a:extLst>
              <a:ext uri="{FF2B5EF4-FFF2-40B4-BE49-F238E27FC236}">
                <a16:creationId xmlns:a16="http://schemas.microsoft.com/office/drawing/2014/main" id="{558E6E94-A619-487A-0F8E-D1684F6431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30778" y="3322051"/>
            <a:ext cx="661900" cy="661900"/>
          </a:xfrm>
          <a:prstGeom prst="rect">
            <a:avLst/>
          </a:prstGeom>
        </p:spPr>
      </p:pic>
      <p:sp>
        <p:nvSpPr>
          <p:cNvPr id="77" name="Freeform 70">
            <a:extLst>
              <a:ext uri="{FF2B5EF4-FFF2-40B4-BE49-F238E27FC236}">
                <a16:creationId xmlns:a16="http://schemas.microsoft.com/office/drawing/2014/main" id="{0BBC8955-4BA9-8A33-D68A-E386804B3B88}"/>
              </a:ext>
            </a:extLst>
          </p:cNvPr>
          <p:cNvSpPr/>
          <p:nvPr/>
        </p:nvSpPr>
        <p:spPr>
          <a:xfrm>
            <a:off x="7900963" y="3187766"/>
            <a:ext cx="720000" cy="720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rgbClr val="009885"/>
          </a:solidFill>
          <a:ln w="8897" cap="flat">
            <a:noFill/>
            <a:prstDash val="solid"/>
            <a:miter/>
          </a:ln>
        </p:spPr>
        <p:txBody>
          <a:bodyPr rtlCol="0" anchor="t" anchorCtr="0"/>
          <a:lstStyle/>
          <a:p>
            <a:pPr algn="ctr"/>
            <a:endParaRPr lang="en-BR" sz="3600" dirty="0">
              <a:solidFill>
                <a:schemeClr val="bg1"/>
              </a:solidFill>
              <a:latin typeface="Font Awesome 6 Free Solid" panose="02000903000000000000" pitchFamily="50" charset="0"/>
            </a:endParaRPr>
          </a:p>
        </p:txBody>
      </p:sp>
      <p:sp>
        <p:nvSpPr>
          <p:cNvPr id="79" name="Freeform 11">
            <a:extLst>
              <a:ext uri="{FF2B5EF4-FFF2-40B4-BE49-F238E27FC236}">
                <a16:creationId xmlns:a16="http://schemas.microsoft.com/office/drawing/2014/main" id="{5BD01BC8-549F-5BCF-6A83-2C16ED3E38E8}"/>
              </a:ext>
            </a:extLst>
          </p:cNvPr>
          <p:cNvSpPr/>
          <p:nvPr/>
        </p:nvSpPr>
        <p:spPr>
          <a:xfrm>
            <a:off x="5242219" y="3062881"/>
            <a:ext cx="972000" cy="972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chemeClr val="bg1"/>
          </a:solidFill>
          <a:ln>
            <a:solidFill>
              <a:srgbClr val="C31E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80" name="Rounded Rectangle 54">
            <a:extLst>
              <a:ext uri="{FF2B5EF4-FFF2-40B4-BE49-F238E27FC236}">
                <a16:creationId xmlns:a16="http://schemas.microsoft.com/office/drawing/2014/main" id="{F17C74ED-ED11-7C81-2AC9-E69BE89DCB95}"/>
              </a:ext>
            </a:extLst>
          </p:cNvPr>
          <p:cNvSpPr/>
          <p:nvPr/>
        </p:nvSpPr>
        <p:spPr>
          <a:xfrm>
            <a:off x="4651062" y="4332629"/>
            <a:ext cx="2160000" cy="1440000"/>
          </a:xfrm>
          <a:prstGeom prst="roundRect">
            <a:avLst>
              <a:gd name="adj" fmla="val 1125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81" name="Rounded Rectangle 55">
            <a:extLst>
              <a:ext uri="{FF2B5EF4-FFF2-40B4-BE49-F238E27FC236}">
                <a16:creationId xmlns:a16="http://schemas.microsoft.com/office/drawing/2014/main" id="{01BA1FA1-AB05-BDC3-30E2-7AB553566B91}"/>
              </a:ext>
            </a:extLst>
          </p:cNvPr>
          <p:cNvSpPr/>
          <p:nvPr/>
        </p:nvSpPr>
        <p:spPr>
          <a:xfrm>
            <a:off x="4969170" y="4127774"/>
            <a:ext cx="1512000" cy="396000"/>
          </a:xfrm>
          <a:prstGeom prst="roundRect">
            <a:avLst>
              <a:gd name="adj" fmla="val 50000"/>
            </a:avLst>
          </a:prstGeom>
          <a:solidFill>
            <a:srgbClr val="C31E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82" name="TextBox 58">
            <a:extLst>
              <a:ext uri="{FF2B5EF4-FFF2-40B4-BE49-F238E27FC236}">
                <a16:creationId xmlns:a16="http://schemas.microsoft.com/office/drawing/2014/main" id="{21B4A4C0-D16A-5B70-1814-359D9D81463D}"/>
              </a:ext>
            </a:extLst>
          </p:cNvPr>
          <p:cNvSpPr txBox="1"/>
          <p:nvPr/>
        </p:nvSpPr>
        <p:spPr>
          <a:xfrm>
            <a:off x="5078441" y="4234149"/>
            <a:ext cx="1296000" cy="184666"/>
          </a:xfrm>
          <a:prstGeom prst="rect">
            <a:avLst/>
          </a:prstGeom>
          <a:noFill/>
        </p:spPr>
        <p:txBody>
          <a:bodyPr wrap="square" lIns="0" tIns="0" rIns="0" bIns="0" anchor="ctr" anchorCtr="0">
            <a:spAutoFit/>
          </a:bodyPr>
          <a:lstStyle/>
          <a:p>
            <a:pPr algn="ctr"/>
            <a:r>
              <a:rPr lang="en-US" sz="1200" b="1" dirty="0">
                <a:solidFill>
                  <a:schemeClr val="bg1"/>
                </a:solidFill>
                <a:latin typeface="Montserrat" panose="00000500000000000000" pitchFamily="2" charset="0"/>
                <a:cs typeface="Segoe UI" panose="020B0502040204020203" pitchFamily="34" charset="0"/>
              </a:rPr>
              <a:t>EJES</a:t>
            </a:r>
            <a:endParaRPr lang="en-BR" sz="1200" b="1" dirty="0">
              <a:solidFill>
                <a:schemeClr val="bg1"/>
              </a:solidFill>
              <a:latin typeface="Montserrat" panose="00000500000000000000" pitchFamily="2" charset="0"/>
              <a:cs typeface="Segoe UI" panose="020B0502040204020203" pitchFamily="34" charset="0"/>
            </a:endParaRPr>
          </a:p>
        </p:txBody>
      </p:sp>
      <p:sp>
        <p:nvSpPr>
          <p:cNvPr id="83" name="TextBox 59">
            <a:extLst>
              <a:ext uri="{FF2B5EF4-FFF2-40B4-BE49-F238E27FC236}">
                <a16:creationId xmlns:a16="http://schemas.microsoft.com/office/drawing/2014/main" id="{C199EC89-989E-3E81-5569-F9BDD38B29A0}"/>
              </a:ext>
            </a:extLst>
          </p:cNvPr>
          <p:cNvSpPr txBox="1"/>
          <p:nvPr/>
        </p:nvSpPr>
        <p:spPr>
          <a:xfrm>
            <a:off x="4638648" y="4498869"/>
            <a:ext cx="2172414" cy="1231106"/>
          </a:xfrm>
          <a:prstGeom prst="rect">
            <a:avLst/>
          </a:prstGeom>
          <a:noFill/>
        </p:spPr>
        <p:txBody>
          <a:bodyPr wrap="square" lIns="0" tIns="0" rIns="0" bIns="0" rtlCol="0">
            <a:spAutoFit/>
          </a:bodyPr>
          <a:lstStyle/>
          <a:p>
            <a:pPr algn="ctr"/>
            <a:r>
              <a:rPr lang="en-US" sz="8000" b="1" dirty="0">
                <a:solidFill>
                  <a:srgbClr val="C31E72"/>
                </a:solidFill>
                <a:latin typeface="Montserrat" panose="00000500000000000000" pitchFamily="2" charset="0"/>
                <a:cs typeface="Segoe UI" panose="020B0502040204020203" pitchFamily="34" charset="0"/>
              </a:rPr>
              <a:t>4</a:t>
            </a:r>
            <a:endParaRPr lang="en-BR" sz="8000" dirty="0">
              <a:solidFill>
                <a:srgbClr val="C31E72"/>
              </a:solidFill>
              <a:latin typeface="Segoe UI" panose="020B0502040204020203" pitchFamily="34" charset="0"/>
              <a:cs typeface="Segoe UI" panose="020B0502040204020203" pitchFamily="34" charset="0"/>
            </a:endParaRPr>
          </a:p>
        </p:txBody>
      </p:sp>
      <p:pic>
        <p:nvPicPr>
          <p:cNvPr id="84" name="Graphic 36" descr="Lightbulb with solid fill">
            <a:extLst>
              <a:ext uri="{FF2B5EF4-FFF2-40B4-BE49-F238E27FC236}">
                <a16:creationId xmlns:a16="http://schemas.microsoft.com/office/drawing/2014/main" id="{18F22CFC-46E2-F100-0E1A-593F1D557BA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59910" y="3149777"/>
            <a:ext cx="661900" cy="661900"/>
          </a:xfrm>
          <a:prstGeom prst="rect">
            <a:avLst/>
          </a:prstGeom>
        </p:spPr>
      </p:pic>
      <p:sp>
        <p:nvSpPr>
          <p:cNvPr id="85" name="Freeform 70">
            <a:extLst>
              <a:ext uri="{FF2B5EF4-FFF2-40B4-BE49-F238E27FC236}">
                <a16:creationId xmlns:a16="http://schemas.microsoft.com/office/drawing/2014/main" id="{BD437FC2-254B-E819-DB9A-274D36E687AE}"/>
              </a:ext>
            </a:extLst>
          </p:cNvPr>
          <p:cNvSpPr/>
          <p:nvPr/>
        </p:nvSpPr>
        <p:spPr>
          <a:xfrm>
            <a:off x="5375815" y="3186942"/>
            <a:ext cx="720000" cy="720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rgbClr val="C31E72"/>
          </a:solidFill>
          <a:ln w="8897" cap="flat">
            <a:noFill/>
            <a:prstDash val="solid"/>
            <a:miter/>
          </a:ln>
        </p:spPr>
        <p:txBody>
          <a:bodyPr rtlCol="0" anchor="ctr"/>
          <a:lstStyle/>
          <a:p>
            <a:pPr algn="ctr"/>
            <a:r>
              <a:rPr lang="en-BR" sz="3600" dirty="0">
                <a:solidFill>
                  <a:schemeClr val="bg1"/>
                </a:solidFill>
                <a:latin typeface="Font Awesome 6 Free Solid" panose="02000903000000000000" pitchFamily="50" charset="0"/>
              </a:rPr>
              <a:t></a:t>
            </a:r>
          </a:p>
        </p:txBody>
      </p:sp>
      <p:pic>
        <p:nvPicPr>
          <p:cNvPr id="89" name="Gráfico 33" descr="Diana" title="Icono del marcador de posición">
            <a:extLst>
              <a:ext uri="{FF2B5EF4-FFF2-40B4-BE49-F238E27FC236}">
                <a16:creationId xmlns:a16="http://schemas.microsoft.com/office/drawing/2014/main" id="{43E390E8-3467-1D78-8AB9-845EA88D47F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987428" y="3275297"/>
            <a:ext cx="540000" cy="540000"/>
          </a:xfrm>
          <a:prstGeom prst="rect">
            <a:avLst/>
          </a:prstGeom>
        </p:spPr>
      </p:pic>
    </p:spTree>
    <p:extLst>
      <p:ext uri="{BB962C8B-B14F-4D97-AF65-F5344CB8AC3E}">
        <p14:creationId xmlns:p14="http://schemas.microsoft.com/office/powerpoint/2010/main" val="240977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1F94A-93E1-ECA5-FA40-3CC5BDBCB76D}"/>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2CB7324B-1D6A-1A2A-3C93-3CE205B0AECA}"/>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3.1. Política Estatal Anticorrupción</a:t>
            </a:r>
          </a:p>
        </p:txBody>
      </p:sp>
      <p:sp>
        <p:nvSpPr>
          <p:cNvPr id="37" name="CuadroTexto 36">
            <a:extLst>
              <a:ext uri="{FF2B5EF4-FFF2-40B4-BE49-F238E27FC236}">
                <a16:creationId xmlns:a16="http://schemas.microsoft.com/office/drawing/2014/main" id="{4CFD8D4B-90C3-C7D2-7672-CC9A4074A924}"/>
              </a:ext>
            </a:extLst>
          </p:cNvPr>
          <p:cNvSpPr txBox="1"/>
          <p:nvPr/>
        </p:nvSpPr>
        <p:spPr>
          <a:xfrm>
            <a:off x="332366" y="6240519"/>
            <a:ext cx="11520000"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Política Estatal Anticorrupción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https://sesaech.gob.mx/views/docs/normatividad/publicaciones-del-comite-coordinador/politica-estatal-anticorrupcion.pdf</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endParaRPr lang="es-MX" sz="1200" b="1" kern="0" dirty="0">
              <a:solidFill>
                <a:schemeClr val="tx1">
                  <a:lumMod val="75000"/>
                  <a:lumOff val="25000"/>
                </a:schemeClr>
              </a:solidFill>
              <a:latin typeface="Montserrat" panose="00000500000000000000" pitchFamily="2" charset="0"/>
              <a:cs typeface="Segoe UI" panose="020B0502040204020203" pitchFamily="34" charset="0"/>
            </a:endParaRPr>
          </a:p>
        </p:txBody>
      </p:sp>
      <p:sp>
        <p:nvSpPr>
          <p:cNvPr id="3" name="CuadroTexto 2">
            <a:extLst>
              <a:ext uri="{FF2B5EF4-FFF2-40B4-BE49-F238E27FC236}">
                <a16:creationId xmlns:a16="http://schemas.microsoft.com/office/drawing/2014/main" id="{30C2B8F6-76D3-2B67-41C2-E7B62B863B5E}"/>
              </a:ext>
            </a:extLst>
          </p:cNvPr>
          <p:cNvSpPr txBox="1"/>
          <p:nvPr/>
        </p:nvSpPr>
        <p:spPr>
          <a:xfrm>
            <a:off x="6107430" y="2831395"/>
            <a:ext cx="5756366" cy="1200329"/>
          </a:xfrm>
          <a:prstGeom prst="rect">
            <a:avLst/>
          </a:prstGeom>
          <a:noFill/>
        </p:spPr>
        <p:txBody>
          <a:bodyPr wrap="square" rtlCol="0">
            <a:spAutoFit/>
          </a:bodyPr>
          <a:lstStyle/>
          <a:p>
            <a:pPr algn="ctr">
              <a:spcAft>
                <a:spcPts val="1000"/>
              </a:spcAft>
            </a:pPr>
            <a:r>
              <a:rPr lang="es-MX" sz="2400" kern="0" dirty="0">
                <a:solidFill>
                  <a:schemeClr val="tx1">
                    <a:lumMod val="75000"/>
                    <a:lumOff val="25000"/>
                  </a:schemeClr>
                </a:solidFill>
                <a:latin typeface="Montserrat" panose="00000500000000000000" pitchFamily="2" charset="0"/>
                <a:cs typeface="Segoe UI" panose="020B0502040204020203" pitchFamily="34" charset="0"/>
              </a:rPr>
              <a:t>El </a:t>
            </a:r>
            <a:r>
              <a:rPr lang="es-MX" sz="2400" b="1" kern="0" dirty="0">
                <a:solidFill>
                  <a:schemeClr val="tx1">
                    <a:lumMod val="75000"/>
                    <a:lumOff val="25000"/>
                  </a:schemeClr>
                </a:solidFill>
                <a:latin typeface="Montserrat" panose="00000500000000000000" pitchFamily="2" charset="0"/>
                <a:cs typeface="Segoe UI" panose="020B0502040204020203" pitchFamily="34" charset="0"/>
              </a:rPr>
              <a:t>26 de abril de 2023</a:t>
            </a:r>
            <a:r>
              <a:rPr lang="es-MX" sz="2400" kern="0" dirty="0">
                <a:solidFill>
                  <a:schemeClr val="tx1">
                    <a:lumMod val="75000"/>
                    <a:lumOff val="25000"/>
                  </a:schemeClr>
                </a:solidFill>
                <a:latin typeface="Montserrat" panose="00000500000000000000" pitchFamily="2" charset="0"/>
                <a:cs typeface="Segoe UI" panose="020B0502040204020203" pitchFamily="34" charset="0"/>
              </a:rPr>
              <a:t> se publicó en el </a:t>
            </a:r>
            <a:r>
              <a:rPr lang="es-MX" sz="2400" b="1" kern="0" dirty="0">
                <a:solidFill>
                  <a:schemeClr val="tx1">
                    <a:lumMod val="75000"/>
                    <a:lumOff val="25000"/>
                  </a:schemeClr>
                </a:solidFill>
                <a:latin typeface="Montserrat" panose="00000500000000000000" pitchFamily="2" charset="0"/>
                <a:cs typeface="Segoe UI" panose="020B0502040204020203" pitchFamily="34" charset="0"/>
              </a:rPr>
              <a:t>Periódico Oficial número 279</a:t>
            </a:r>
            <a:r>
              <a:rPr lang="es-MX" sz="2400" kern="0" dirty="0">
                <a:solidFill>
                  <a:schemeClr val="tx1">
                    <a:lumMod val="75000"/>
                    <a:lumOff val="25000"/>
                  </a:schemeClr>
                </a:solidFill>
                <a:latin typeface="Montserrat" panose="00000500000000000000" pitchFamily="2" charset="0"/>
                <a:cs typeface="Segoe UI" panose="020B0502040204020203" pitchFamily="34" charset="0"/>
              </a:rPr>
              <a:t>, Pub. No. 3733-A-2023</a:t>
            </a:r>
          </a:p>
        </p:txBody>
      </p:sp>
      <p:pic>
        <p:nvPicPr>
          <p:cNvPr id="4" name="Imagen 3">
            <a:extLst>
              <a:ext uri="{FF2B5EF4-FFF2-40B4-BE49-F238E27FC236}">
                <a16:creationId xmlns:a16="http://schemas.microsoft.com/office/drawing/2014/main" id="{D20AA02F-1939-E454-8B73-3BFC30DB41A6}"/>
              </a:ext>
            </a:extLst>
          </p:cNvPr>
          <p:cNvPicPr>
            <a:picLocks noChangeAspect="1"/>
          </p:cNvPicPr>
          <p:nvPr/>
        </p:nvPicPr>
        <p:blipFill>
          <a:blip r:embed="rId3"/>
          <a:stretch>
            <a:fillRect/>
          </a:stretch>
        </p:blipFill>
        <p:spPr>
          <a:xfrm>
            <a:off x="1062991" y="911259"/>
            <a:ext cx="3892802" cy="5040000"/>
          </a:xfrm>
          <a:prstGeom prst="rect">
            <a:avLst/>
          </a:prstGeom>
          <a:ln>
            <a:solidFill>
              <a:schemeClr val="bg2">
                <a:lumMod val="25000"/>
              </a:schemeClr>
            </a:solidFill>
          </a:ln>
          <a:effectLst/>
        </p:spPr>
      </p:pic>
    </p:spTree>
    <p:extLst>
      <p:ext uri="{BB962C8B-B14F-4D97-AF65-F5344CB8AC3E}">
        <p14:creationId xmlns:p14="http://schemas.microsoft.com/office/powerpoint/2010/main" val="2026435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2ECF-62F4-253B-EF5C-C9E303698ACD}"/>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E27E10C-7A1F-44E7-9BC7-01DA19518259}"/>
              </a:ext>
            </a:extLst>
          </p:cNvPr>
          <p:cNvSpPr txBox="1"/>
          <p:nvPr/>
        </p:nvSpPr>
        <p:spPr>
          <a:xfrm>
            <a:off x="1062990" y="3438108"/>
            <a:ext cx="10080000" cy="2308324"/>
          </a:xfrm>
          <a:prstGeom prst="rect">
            <a:avLst/>
          </a:prstGeom>
          <a:noFill/>
        </p:spPr>
        <p:txBody>
          <a:bodyPr wrap="square" rtlCol="0">
            <a:spAutoFit/>
          </a:bodyPr>
          <a:lstStyle/>
          <a:p>
            <a:pPr algn="ctr"/>
            <a:r>
              <a:rPr lang="es-MX" sz="4800" b="1" dirty="0">
                <a:solidFill>
                  <a:srgbClr val="FFFEFC"/>
                </a:solidFill>
                <a:latin typeface="Montserrat" panose="00000500000000000000" pitchFamily="50" charset="0"/>
              </a:rPr>
              <a:t>Programa de Implementación de la Política Estatal</a:t>
            </a:r>
          </a:p>
          <a:p>
            <a:pPr algn="ctr"/>
            <a:r>
              <a:rPr lang="es-MX" sz="4800" b="1" dirty="0">
                <a:solidFill>
                  <a:srgbClr val="FFFEFC"/>
                </a:solidFill>
                <a:latin typeface="Montserrat" panose="00000500000000000000" pitchFamily="50" charset="0"/>
              </a:rPr>
              <a:t>Anticorrupción</a:t>
            </a:r>
            <a:endParaRPr lang="es-ES" sz="4800" b="1" dirty="0">
              <a:solidFill>
                <a:srgbClr val="FFFEFC"/>
              </a:solidFill>
              <a:latin typeface="Montserrat" panose="00000500000000000000" pitchFamily="50" charset="0"/>
            </a:endParaRPr>
          </a:p>
        </p:txBody>
      </p:sp>
      <p:pic>
        <p:nvPicPr>
          <p:cNvPr id="4" name="Imagen 3" descr="Logotipo&#10;&#10;Descripción generada automáticamente">
            <a:extLst>
              <a:ext uri="{FF2B5EF4-FFF2-40B4-BE49-F238E27FC236}">
                <a16:creationId xmlns:a16="http://schemas.microsoft.com/office/drawing/2014/main" id="{B91332C4-DB81-A3D0-4CA9-C903AFB917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53257" y="560070"/>
            <a:ext cx="2880000" cy="2092886"/>
          </a:xfrm>
          <a:prstGeom prst="rect">
            <a:avLst/>
          </a:prstGeom>
        </p:spPr>
      </p:pic>
    </p:spTree>
    <p:extLst>
      <p:ext uri="{BB962C8B-B14F-4D97-AF65-F5344CB8AC3E}">
        <p14:creationId xmlns:p14="http://schemas.microsoft.com/office/powerpoint/2010/main" val="1723909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3EE4-EECF-B0AB-876A-5D8B516D6885}"/>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100581DC-15BA-FAB1-9729-88B0A5FC5AD2}"/>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4.1 Consejo Consultivo</a:t>
            </a:r>
          </a:p>
        </p:txBody>
      </p:sp>
      <p:sp>
        <p:nvSpPr>
          <p:cNvPr id="37" name="CuadroTexto 36">
            <a:extLst>
              <a:ext uri="{FF2B5EF4-FFF2-40B4-BE49-F238E27FC236}">
                <a16:creationId xmlns:a16="http://schemas.microsoft.com/office/drawing/2014/main" id="{BF458C64-20CD-28E9-0B99-04643363B476}"/>
              </a:ext>
            </a:extLst>
          </p:cNvPr>
          <p:cNvSpPr txBox="1"/>
          <p:nvPr/>
        </p:nvSpPr>
        <p:spPr>
          <a:xfrm>
            <a:off x="332366" y="6240519"/>
            <a:ext cx="11520000"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Política Estatal Anticorrupción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https://sesaech.gob.mx/views/docs/normatividad/publicaciones-del-comite-coordinador/politica-estatal-anticorrupcion.pdf</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endParaRPr lang="es-MX" sz="1200" b="1" kern="0" dirty="0">
              <a:solidFill>
                <a:schemeClr val="tx1">
                  <a:lumMod val="75000"/>
                  <a:lumOff val="25000"/>
                </a:schemeClr>
              </a:solidFill>
              <a:latin typeface="Montserrat" panose="00000500000000000000" pitchFamily="2" charset="0"/>
              <a:cs typeface="Segoe UI" panose="020B0502040204020203" pitchFamily="34" charset="0"/>
            </a:endParaRPr>
          </a:p>
        </p:txBody>
      </p:sp>
      <p:pic>
        <p:nvPicPr>
          <p:cNvPr id="2" name="Imagen 1">
            <a:extLst>
              <a:ext uri="{FF2B5EF4-FFF2-40B4-BE49-F238E27FC236}">
                <a16:creationId xmlns:a16="http://schemas.microsoft.com/office/drawing/2014/main" id="{55C23E6C-7021-3C9E-617D-A5F119FBAB5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59" r="11650" b="21512"/>
          <a:stretch/>
        </p:blipFill>
        <p:spPr>
          <a:xfrm>
            <a:off x="3183298" y="4172491"/>
            <a:ext cx="2664001" cy="1584000"/>
          </a:xfrm>
          <a:prstGeom prst="rect">
            <a:avLst/>
          </a:prstGeom>
        </p:spPr>
      </p:pic>
      <p:pic>
        <p:nvPicPr>
          <p:cNvPr id="5" name="Imagen 4">
            <a:extLst>
              <a:ext uri="{FF2B5EF4-FFF2-40B4-BE49-F238E27FC236}">
                <a16:creationId xmlns:a16="http://schemas.microsoft.com/office/drawing/2014/main" id="{B779953F-FE1D-ABEB-7207-A64A63BA66E7}"/>
              </a:ext>
            </a:extLst>
          </p:cNvPr>
          <p:cNvPicPr>
            <a:picLocks/>
          </p:cNvPicPr>
          <p:nvPr/>
        </p:nvPicPr>
        <p:blipFill rotWithShape="1">
          <a:blip r:embed="rId4" cstate="print">
            <a:extLst>
              <a:ext uri="{28A0092B-C50C-407E-A947-70E740481C1C}">
                <a14:useLocalDpi xmlns:a14="http://schemas.microsoft.com/office/drawing/2010/main" val="0"/>
              </a:ext>
            </a:extLst>
          </a:blip>
          <a:srcRect t="10929"/>
          <a:stretch/>
        </p:blipFill>
        <p:spPr>
          <a:xfrm>
            <a:off x="3183299" y="2220784"/>
            <a:ext cx="2664000" cy="1584000"/>
          </a:xfrm>
          <a:prstGeom prst="rect">
            <a:avLst/>
          </a:prstGeom>
        </p:spPr>
      </p:pic>
      <p:pic>
        <p:nvPicPr>
          <p:cNvPr id="6" name="Imagen 5">
            <a:extLst>
              <a:ext uri="{FF2B5EF4-FFF2-40B4-BE49-F238E27FC236}">
                <a16:creationId xmlns:a16="http://schemas.microsoft.com/office/drawing/2014/main" id="{B85E47CD-91C8-4096-F0C6-4F7683281BD0}"/>
              </a:ext>
            </a:extLst>
          </p:cNvPr>
          <p:cNvPicPr>
            <a:picLocks noChangeAspect="1"/>
          </p:cNvPicPr>
          <p:nvPr/>
        </p:nvPicPr>
        <p:blipFill>
          <a:blip r:embed="rId5" cstate="print">
            <a:extLst>
              <a:ext uri="{28A0092B-C50C-407E-A947-70E740481C1C}">
                <a14:useLocalDpi xmlns:a14="http://schemas.microsoft.com/office/drawing/2010/main" val="0"/>
              </a:ext>
            </a:extLst>
          </a:blip>
          <a:srcRect r="5398"/>
          <a:stretch/>
        </p:blipFill>
        <p:spPr>
          <a:xfrm>
            <a:off x="348341" y="2220784"/>
            <a:ext cx="2664000" cy="1584000"/>
          </a:xfrm>
          <a:prstGeom prst="rect">
            <a:avLst/>
          </a:prstGeom>
        </p:spPr>
      </p:pic>
      <p:pic>
        <p:nvPicPr>
          <p:cNvPr id="8" name="Imagen 7">
            <a:extLst>
              <a:ext uri="{FF2B5EF4-FFF2-40B4-BE49-F238E27FC236}">
                <a16:creationId xmlns:a16="http://schemas.microsoft.com/office/drawing/2014/main" id="{11AE4CBB-0C0D-4127-7748-35DE4EA65316}"/>
              </a:ext>
            </a:extLst>
          </p:cNvPr>
          <p:cNvPicPr>
            <a:picLocks/>
          </p:cNvPicPr>
          <p:nvPr/>
        </p:nvPicPr>
        <p:blipFill>
          <a:blip r:embed="rId6" cstate="print">
            <a:extLst>
              <a:ext uri="{28A0092B-C50C-407E-A947-70E740481C1C}">
                <a14:useLocalDpi xmlns:a14="http://schemas.microsoft.com/office/drawing/2010/main" val="0"/>
              </a:ext>
            </a:extLst>
          </a:blip>
          <a:srcRect r="5213"/>
          <a:stretch/>
        </p:blipFill>
        <p:spPr>
          <a:xfrm>
            <a:off x="348341" y="4170381"/>
            <a:ext cx="2664000" cy="1584000"/>
          </a:xfrm>
          <a:prstGeom prst="rect">
            <a:avLst/>
          </a:prstGeom>
        </p:spPr>
      </p:pic>
      <p:sp>
        <p:nvSpPr>
          <p:cNvPr id="9" name="TextBox 2">
            <a:extLst>
              <a:ext uri="{FF2B5EF4-FFF2-40B4-BE49-F238E27FC236}">
                <a16:creationId xmlns:a16="http://schemas.microsoft.com/office/drawing/2014/main" id="{D66A9B88-316B-EC2C-E026-01875E06C5CE}"/>
              </a:ext>
            </a:extLst>
          </p:cNvPr>
          <p:cNvSpPr txBox="1"/>
          <p:nvPr/>
        </p:nvSpPr>
        <p:spPr>
          <a:xfrm>
            <a:off x="6281146" y="3099692"/>
            <a:ext cx="2520000" cy="523220"/>
          </a:xfrm>
          <a:prstGeom prst="rect">
            <a:avLst/>
          </a:prstGeom>
          <a:noFill/>
        </p:spPr>
        <p:txBody>
          <a:bodyPr wrap="square" rtlCol="0">
            <a:spAutoFit/>
          </a:bodyPr>
          <a:lstStyle/>
          <a:p>
            <a:pPr algn="ctr"/>
            <a:r>
              <a:rPr lang="es-ES" sz="2800" b="1" dirty="0">
                <a:solidFill>
                  <a:schemeClr val="tx1">
                    <a:lumMod val="85000"/>
                    <a:lumOff val="15000"/>
                  </a:schemeClr>
                </a:solidFill>
                <a:latin typeface="Montserrat" panose="00000500000000000000" pitchFamily="2" charset="0"/>
                <a:cs typeface="Poppins" panose="00000500000000000000" pitchFamily="2" charset="0"/>
              </a:rPr>
              <a:t>Integrantes</a:t>
            </a:r>
            <a:endParaRPr lang="es-MX" sz="2800" b="1" dirty="0">
              <a:solidFill>
                <a:schemeClr val="tx1">
                  <a:lumMod val="85000"/>
                  <a:lumOff val="15000"/>
                </a:schemeClr>
              </a:solidFill>
              <a:latin typeface="Montserrat" panose="00000500000000000000" pitchFamily="2" charset="0"/>
              <a:cs typeface="Poppins" panose="00000500000000000000" pitchFamily="2" charset="0"/>
            </a:endParaRPr>
          </a:p>
        </p:txBody>
      </p:sp>
      <p:sp>
        <p:nvSpPr>
          <p:cNvPr id="10" name="TextBox 2">
            <a:extLst>
              <a:ext uri="{FF2B5EF4-FFF2-40B4-BE49-F238E27FC236}">
                <a16:creationId xmlns:a16="http://schemas.microsoft.com/office/drawing/2014/main" id="{D8BBD6EC-AA9D-F354-720B-1130F165D720}"/>
              </a:ext>
            </a:extLst>
          </p:cNvPr>
          <p:cNvSpPr txBox="1"/>
          <p:nvPr/>
        </p:nvSpPr>
        <p:spPr>
          <a:xfrm>
            <a:off x="6877593" y="2034719"/>
            <a:ext cx="1321435" cy="1323439"/>
          </a:xfrm>
          <a:prstGeom prst="rect">
            <a:avLst/>
          </a:prstGeom>
          <a:noFill/>
        </p:spPr>
        <p:txBody>
          <a:bodyPr wrap="square" rtlCol="0">
            <a:spAutoFit/>
          </a:bodyPr>
          <a:lstStyle/>
          <a:p>
            <a:pPr algn="ctr"/>
            <a:r>
              <a:rPr lang="es-ES" sz="8000" b="1" dirty="0">
                <a:solidFill>
                  <a:srgbClr val="009885"/>
                </a:solidFill>
                <a:latin typeface="Montserrat" panose="00000500000000000000" pitchFamily="2" charset="0"/>
                <a:cs typeface="Poppins" panose="00000500000000000000" pitchFamily="2" charset="0"/>
              </a:rPr>
              <a:t>18</a:t>
            </a:r>
            <a:endParaRPr lang="es-MX" sz="8000" b="1" dirty="0">
              <a:solidFill>
                <a:srgbClr val="009885"/>
              </a:solidFill>
              <a:latin typeface="Montserrat" panose="00000500000000000000" pitchFamily="2" charset="0"/>
              <a:cs typeface="Poppins" panose="00000500000000000000" pitchFamily="2" charset="0"/>
            </a:endParaRPr>
          </a:p>
        </p:txBody>
      </p:sp>
      <p:sp>
        <p:nvSpPr>
          <p:cNvPr id="11" name="TextBox 2">
            <a:extLst>
              <a:ext uri="{FF2B5EF4-FFF2-40B4-BE49-F238E27FC236}">
                <a16:creationId xmlns:a16="http://schemas.microsoft.com/office/drawing/2014/main" id="{0A64FE62-DC45-4819-FA36-F2B3C0A0F6C2}"/>
              </a:ext>
            </a:extLst>
          </p:cNvPr>
          <p:cNvSpPr txBox="1"/>
          <p:nvPr/>
        </p:nvSpPr>
        <p:spPr>
          <a:xfrm>
            <a:off x="7545000" y="3932798"/>
            <a:ext cx="2364810" cy="1886927"/>
          </a:xfrm>
          <a:prstGeom prst="rect">
            <a:avLst/>
          </a:prstGeom>
          <a:noFill/>
        </p:spPr>
        <p:txBody>
          <a:bodyPr wrap="square" numCol="1" rtlCol="0">
            <a:spAutoFit/>
          </a:bodyPr>
          <a:lstStyle/>
          <a:p>
            <a:pPr marL="285750" indent="-285750">
              <a:lnSpc>
                <a:spcPct val="150000"/>
              </a:lnSpc>
              <a:buClr>
                <a:srgbClr val="AE192D"/>
              </a:buClr>
              <a:buSzPct val="200000"/>
              <a:buFont typeface="Arial" panose="020B0604020202020204" pitchFamily="34" charset="0"/>
              <a:buChar char="•"/>
            </a:pPr>
            <a:r>
              <a:rPr lang="es-ES" sz="2000" dirty="0">
                <a:solidFill>
                  <a:schemeClr val="tx1">
                    <a:lumMod val="85000"/>
                    <a:lumOff val="15000"/>
                  </a:schemeClr>
                </a:solidFill>
                <a:latin typeface="Montserrat" panose="00000500000000000000" pitchFamily="2" charset="0"/>
                <a:cs typeface="Poppins" panose="00000500000000000000" pitchFamily="2" charset="0"/>
              </a:rPr>
              <a:t>Sociedad Civil</a:t>
            </a:r>
          </a:p>
          <a:p>
            <a:pPr marL="285750" indent="-285750">
              <a:lnSpc>
                <a:spcPct val="150000"/>
              </a:lnSpc>
              <a:buClr>
                <a:srgbClr val="AE192D"/>
              </a:buClr>
              <a:buSzPct val="200000"/>
              <a:buFont typeface="Arial" panose="020B0604020202020204" pitchFamily="34" charset="0"/>
              <a:buChar char="•"/>
            </a:pPr>
            <a:r>
              <a:rPr lang="es-ES" sz="2000" dirty="0">
                <a:solidFill>
                  <a:schemeClr val="tx1">
                    <a:lumMod val="85000"/>
                    <a:lumOff val="15000"/>
                  </a:schemeClr>
                </a:solidFill>
                <a:latin typeface="Montserrat" panose="00000500000000000000" pitchFamily="2" charset="0"/>
                <a:cs typeface="Poppins" panose="00000500000000000000" pitchFamily="2" charset="0"/>
              </a:rPr>
              <a:t>Académico</a:t>
            </a:r>
          </a:p>
          <a:p>
            <a:pPr marL="285750" indent="-285750">
              <a:lnSpc>
                <a:spcPct val="150000"/>
              </a:lnSpc>
              <a:buClr>
                <a:srgbClr val="AE192D"/>
              </a:buClr>
              <a:buSzPct val="200000"/>
              <a:buFont typeface="Arial" panose="020B0604020202020204" pitchFamily="34" charset="0"/>
              <a:buChar char="•"/>
            </a:pPr>
            <a:r>
              <a:rPr lang="es-ES" sz="2000" dirty="0">
                <a:solidFill>
                  <a:schemeClr val="tx1">
                    <a:lumMod val="85000"/>
                    <a:lumOff val="15000"/>
                  </a:schemeClr>
                </a:solidFill>
                <a:latin typeface="Montserrat" panose="00000500000000000000" pitchFamily="2" charset="0"/>
                <a:cs typeface="Poppins" panose="00000500000000000000" pitchFamily="2" charset="0"/>
              </a:rPr>
              <a:t>Empresarial</a:t>
            </a:r>
          </a:p>
          <a:p>
            <a:pPr marL="285750" indent="-285750">
              <a:lnSpc>
                <a:spcPct val="150000"/>
              </a:lnSpc>
              <a:buClr>
                <a:srgbClr val="AE192D"/>
              </a:buClr>
              <a:buSzPct val="200000"/>
              <a:buFont typeface="Arial" panose="020B0604020202020204" pitchFamily="34" charset="0"/>
              <a:buChar char="•"/>
            </a:pPr>
            <a:r>
              <a:rPr lang="es-ES" sz="2000" dirty="0">
                <a:solidFill>
                  <a:schemeClr val="tx1">
                    <a:lumMod val="85000"/>
                    <a:lumOff val="15000"/>
                  </a:schemeClr>
                </a:solidFill>
                <a:latin typeface="Montserrat" panose="00000500000000000000" pitchFamily="2" charset="0"/>
                <a:cs typeface="Poppins" panose="00000500000000000000" pitchFamily="2" charset="0"/>
              </a:rPr>
              <a:t>Público</a:t>
            </a:r>
          </a:p>
        </p:txBody>
      </p:sp>
      <p:sp>
        <p:nvSpPr>
          <p:cNvPr id="12" name="TextBox 2">
            <a:extLst>
              <a:ext uri="{FF2B5EF4-FFF2-40B4-BE49-F238E27FC236}">
                <a16:creationId xmlns:a16="http://schemas.microsoft.com/office/drawing/2014/main" id="{7BF8DFBE-D36F-AB85-DAEB-F3DEBE1AB181}"/>
              </a:ext>
            </a:extLst>
          </p:cNvPr>
          <p:cNvSpPr txBox="1"/>
          <p:nvPr/>
        </p:nvSpPr>
        <p:spPr>
          <a:xfrm>
            <a:off x="9317583" y="3104250"/>
            <a:ext cx="2208264" cy="523220"/>
          </a:xfrm>
          <a:prstGeom prst="rect">
            <a:avLst/>
          </a:prstGeom>
          <a:noFill/>
        </p:spPr>
        <p:txBody>
          <a:bodyPr wrap="square" rtlCol="0">
            <a:spAutoFit/>
          </a:bodyPr>
          <a:lstStyle/>
          <a:p>
            <a:pPr algn="ctr"/>
            <a:r>
              <a:rPr lang="es-ES" sz="2800" b="1" dirty="0">
                <a:solidFill>
                  <a:schemeClr val="tx1">
                    <a:lumMod val="85000"/>
                    <a:lumOff val="15000"/>
                  </a:schemeClr>
                </a:solidFill>
                <a:latin typeface="Montserrat" panose="00000500000000000000" pitchFamily="2" charset="0"/>
                <a:cs typeface="Poppins" panose="00000500000000000000" pitchFamily="2" charset="0"/>
              </a:rPr>
              <a:t>Reuniones</a:t>
            </a:r>
            <a:endParaRPr lang="es-MX" sz="2800" b="1" dirty="0">
              <a:solidFill>
                <a:schemeClr val="tx1">
                  <a:lumMod val="85000"/>
                  <a:lumOff val="15000"/>
                </a:schemeClr>
              </a:solidFill>
              <a:latin typeface="Montserrat" panose="00000500000000000000" pitchFamily="2" charset="0"/>
              <a:cs typeface="Poppins" panose="00000500000000000000" pitchFamily="2" charset="0"/>
            </a:endParaRPr>
          </a:p>
        </p:txBody>
      </p:sp>
      <p:sp>
        <p:nvSpPr>
          <p:cNvPr id="13" name="TextBox 2">
            <a:extLst>
              <a:ext uri="{FF2B5EF4-FFF2-40B4-BE49-F238E27FC236}">
                <a16:creationId xmlns:a16="http://schemas.microsoft.com/office/drawing/2014/main" id="{44F57D52-97D4-76C7-D753-1266EEEC92D6}"/>
              </a:ext>
            </a:extLst>
          </p:cNvPr>
          <p:cNvSpPr txBox="1"/>
          <p:nvPr/>
        </p:nvSpPr>
        <p:spPr>
          <a:xfrm>
            <a:off x="9537348" y="2038511"/>
            <a:ext cx="1766968" cy="1323439"/>
          </a:xfrm>
          <a:prstGeom prst="rect">
            <a:avLst/>
          </a:prstGeom>
          <a:noFill/>
        </p:spPr>
        <p:txBody>
          <a:bodyPr wrap="square" rtlCol="0">
            <a:spAutoFit/>
          </a:bodyPr>
          <a:lstStyle/>
          <a:p>
            <a:pPr algn="ctr"/>
            <a:r>
              <a:rPr lang="es-ES" sz="8000" b="1" dirty="0">
                <a:solidFill>
                  <a:srgbClr val="C31E72"/>
                </a:solidFill>
                <a:latin typeface="Montserrat" panose="00000500000000000000" pitchFamily="2" charset="0"/>
                <a:cs typeface="Poppins" panose="00000500000000000000" pitchFamily="2" charset="0"/>
              </a:rPr>
              <a:t>06</a:t>
            </a:r>
            <a:endParaRPr lang="es-MX" sz="8000" b="1" dirty="0">
              <a:solidFill>
                <a:srgbClr val="C31E72"/>
              </a:solidFill>
              <a:latin typeface="Montserrat" panose="00000500000000000000" pitchFamily="2" charset="0"/>
              <a:cs typeface="Poppins" panose="00000500000000000000" pitchFamily="2" charset="0"/>
            </a:endParaRPr>
          </a:p>
        </p:txBody>
      </p:sp>
      <p:sp>
        <p:nvSpPr>
          <p:cNvPr id="14" name="CuadroTexto 13">
            <a:extLst>
              <a:ext uri="{FF2B5EF4-FFF2-40B4-BE49-F238E27FC236}">
                <a16:creationId xmlns:a16="http://schemas.microsoft.com/office/drawing/2014/main" id="{91E27AE2-F95F-3D12-8B95-0FA9CD367D0D}"/>
              </a:ext>
            </a:extLst>
          </p:cNvPr>
          <p:cNvSpPr txBox="1"/>
          <p:nvPr/>
        </p:nvSpPr>
        <p:spPr>
          <a:xfrm>
            <a:off x="348341" y="861578"/>
            <a:ext cx="11495318" cy="1015663"/>
          </a:xfrm>
          <a:prstGeom prst="rect">
            <a:avLst/>
          </a:prstGeom>
          <a:noFill/>
        </p:spPr>
        <p:txBody>
          <a:bodyPr wrap="square" rtlCol="0">
            <a:spAutoFit/>
          </a:bodyPr>
          <a:lstStyle/>
          <a:p>
            <a:pPr algn="just">
              <a:spcAft>
                <a:spcPts val="1000"/>
              </a:spcAft>
            </a:pPr>
            <a:r>
              <a:rPr lang="es-MX" sz="2000" kern="0" dirty="0">
                <a:solidFill>
                  <a:schemeClr val="tx1">
                    <a:lumMod val="75000"/>
                    <a:lumOff val="25000"/>
                  </a:schemeClr>
                </a:solidFill>
                <a:latin typeface="Montserrat" panose="00000500000000000000" pitchFamily="2" charset="0"/>
                <a:cs typeface="Segoe UI" panose="020B0502040204020203" pitchFamily="34" charset="0"/>
              </a:rPr>
              <a:t>El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Programa de Implementación de la Política Estatal Anticorrupción (PI-PEA)</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es un instrumento fundamental para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llevar a cabo acciones concretas</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orientadas a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prevenir, detectar y sancionar los actos de corrupción</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a:t>
            </a:r>
          </a:p>
        </p:txBody>
      </p:sp>
    </p:spTree>
    <p:extLst>
      <p:ext uri="{BB962C8B-B14F-4D97-AF65-F5344CB8AC3E}">
        <p14:creationId xmlns:p14="http://schemas.microsoft.com/office/powerpoint/2010/main" val="3321605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B9019-8E3A-7543-5486-B96C31E547F9}"/>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42D73EEC-E569-9E1B-1F55-2A1BAF12091D}"/>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4.2 Grupo Técnico</a:t>
            </a:r>
          </a:p>
        </p:txBody>
      </p:sp>
      <p:sp>
        <p:nvSpPr>
          <p:cNvPr id="37" name="CuadroTexto 36">
            <a:extLst>
              <a:ext uri="{FF2B5EF4-FFF2-40B4-BE49-F238E27FC236}">
                <a16:creationId xmlns:a16="http://schemas.microsoft.com/office/drawing/2014/main" id="{0781657D-7B26-D724-7FEB-AA532135F351}"/>
              </a:ext>
            </a:extLst>
          </p:cNvPr>
          <p:cNvSpPr txBox="1"/>
          <p:nvPr/>
        </p:nvSpPr>
        <p:spPr>
          <a:xfrm>
            <a:off x="332366" y="6240519"/>
            <a:ext cx="11520000"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Introducción al Programa de Implementación de la Política Estatal Anticorrupción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https://sesaech.gob.mx/politica-estatal-anticorrupcion/introduccion-pi-pea</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endParaRPr lang="es-MX" sz="1200" b="1" kern="0" dirty="0">
              <a:solidFill>
                <a:schemeClr val="tx1">
                  <a:lumMod val="75000"/>
                  <a:lumOff val="25000"/>
                </a:schemeClr>
              </a:solidFill>
              <a:latin typeface="Montserrat" panose="00000500000000000000" pitchFamily="2" charset="0"/>
              <a:cs typeface="Segoe UI" panose="020B0502040204020203" pitchFamily="34" charset="0"/>
            </a:endParaRPr>
          </a:p>
        </p:txBody>
      </p:sp>
      <p:sp>
        <p:nvSpPr>
          <p:cNvPr id="14" name="CuadroTexto 13">
            <a:extLst>
              <a:ext uri="{FF2B5EF4-FFF2-40B4-BE49-F238E27FC236}">
                <a16:creationId xmlns:a16="http://schemas.microsoft.com/office/drawing/2014/main" id="{B4BD931B-6B54-51BD-82AE-3355E51CDD74}"/>
              </a:ext>
            </a:extLst>
          </p:cNvPr>
          <p:cNvSpPr txBox="1"/>
          <p:nvPr/>
        </p:nvSpPr>
        <p:spPr>
          <a:xfrm>
            <a:off x="348341" y="861578"/>
            <a:ext cx="11495318" cy="1200329"/>
          </a:xfrm>
          <a:prstGeom prst="rect">
            <a:avLst/>
          </a:prstGeom>
          <a:noFill/>
        </p:spPr>
        <p:txBody>
          <a:bodyPr wrap="square" rtlCol="0">
            <a:spAutoFit/>
          </a:bodyPr>
          <a:lstStyle/>
          <a:p>
            <a:pPr algn="just">
              <a:spcAft>
                <a:spcPts val="1000"/>
              </a:spcAft>
            </a:pPr>
            <a:r>
              <a:rPr lang="es-MX" kern="0" dirty="0">
                <a:solidFill>
                  <a:schemeClr val="tx1">
                    <a:lumMod val="75000"/>
                    <a:lumOff val="25000"/>
                  </a:schemeClr>
                </a:solidFill>
                <a:latin typeface="Montserrat" panose="00000500000000000000" pitchFamily="2" charset="0"/>
                <a:cs typeface="Segoe UI" panose="020B0502040204020203" pitchFamily="34" charset="0"/>
              </a:rPr>
              <a:t>Se promovió la participación activa de la </a:t>
            </a:r>
            <a:r>
              <a:rPr lang="es-MX" b="1" kern="0" dirty="0">
                <a:solidFill>
                  <a:schemeClr val="tx1">
                    <a:lumMod val="75000"/>
                    <a:lumOff val="25000"/>
                  </a:schemeClr>
                </a:solidFill>
                <a:latin typeface="Montserrat" panose="00000500000000000000" pitchFamily="2" charset="0"/>
                <a:cs typeface="Segoe UI" panose="020B0502040204020203" pitchFamily="34" charset="0"/>
              </a:rPr>
              <a:t>sociedad civil, organizaciones no gubernamentales, sector privado, académicos</a:t>
            </a:r>
            <a:r>
              <a:rPr lang="es-MX" kern="0" dirty="0">
                <a:solidFill>
                  <a:schemeClr val="tx1">
                    <a:lumMod val="75000"/>
                    <a:lumOff val="25000"/>
                  </a:schemeClr>
                </a:solidFill>
                <a:latin typeface="Montserrat" panose="00000500000000000000" pitchFamily="2" charset="0"/>
                <a:cs typeface="Segoe UI" panose="020B0502040204020203" pitchFamily="34" charset="0"/>
              </a:rPr>
              <a:t> como es el </a:t>
            </a:r>
            <a:r>
              <a:rPr lang="es-MX" b="1" kern="0" dirty="0">
                <a:solidFill>
                  <a:schemeClr val="tx1">
                    <a:lumMod val="75000"/>
                    <a:lumOff val="25000"/>
                  </a:schemeClr>
                </a:solidFill>
                <a:latin typeface="Montserrat" panose="00000500000000000000" pitchFamily="2" charset="0"/>
                <a:cs typeface="Segoe UI" panose="020B0502040204020203" pitchFamily="34" charset="0"/>
              </a:rPr>
              <a:t>Consejo Consultivo, Consejo de Participación Ciudadana</a:t>
            </a:r>
            <a:r>
              <a:rPr lang="es-MX" kern="0" dirty="0">
                <a:solidFill>
                  <a:schemeClr val="tx1">
                    <a:lumMod val="75000"/>
                    <a:lumOff val="25000"/>
                  </a:schemeClr>
                </a:solidFill>
                <a:latin typeface="Montserrat" panose="00000500000000000000" pitchFamily="2" charset="0"/>
                <a:cs typeface="Segoe UI" panose="020B0502040204020203" pitchFamily="34" charset="0"/>
              </a:rPr>
              <a:t> y otros actores relevantes como es el </a:t>
            </a:r>
            <a:r>
              <a:rPr lang="es-MX" b="1" kern="0" dirty="0">
                <a:solidFill>
                  <a:schemeClr val="tx1">
                    <a:lumMod val="75000"/>
                    <a:lumOff val="25000"/>
                  </a:schemeClr>
                </a:solidFill>
                <a:latin typeface="Montserrat" panose="00000500000000000000" pitchFamily="2" charset="0"/>
                <a:cs typeface="Segoe UI" panose="020B0502040204020203" pitchFamily="34" charset="0"/>
              </a:rPr>
              <a:t>Grupo Técnico</a:t>
            </a:r>
            <a:r>
              <a:rPr lang="es-MX" kern="0" dirty="0">
                <a:solidFill>
                  <a:schemeClr val="tx1">
                    <a:lumMod val="75000"/>
                    <a:lumOff val="25000"/>
                  </a:schemeClr>
                </a:solidFill>
                <a:latin typeface="Montserrat" panose="00000500000000000000" pitchFamily="2" charset="0"/>
                <a:cs typeface="Segoe UI" panose="020B0502040204020203" pitchFamily="34" charset="0"/>
              </a:rPr>
              <a:t>, como enlaces de los organismos implementadores con experiencia en planeación y/o presupuestación</a:t>
            </a:r>
          </a:p>
        </p:txBody>
      </p:sp>
      <p:sp>
        <p:nvSpPr>
          <p:cNvPr id="3" name="TextBox 2">
            <a:extLst>
              <a:ext uri="{FF2B5EF4-FFF2-40B4-BE49-F238E27FC236}">
                <a16:creationId xmlns:a16="http://schemas.microsoft.com/office/drawing/2014/main" id="{A43C9291-4CEA-2F70-69E1-7027742A8F48}"/>
              </a:ext>
            </a:extLst>
          </p:cNvPr>
          <p:cNvSpPr txBox="1"/>
          <p:nvPr/>
        </p:nvSpPr>
        <p:spPr>
          <a:xfrm>
            <a:off x="1318970" y="3032607"/>
            <a:ext cx="3807249" cy="461665"/>
          </a:xfrm>
          <a:prstGeom prst="rect">
            <a:avLst/>
          </a:prstGeom>
          <a:noFill/>
        </p:spPr>
        <p:txBody>
          <a:bodyPr wrap="square" rtlCol="0">
            <a:spAutoFit/>
          </a:bodyPr>
          <a:lstStyle/>
          <a:p>
            <a:pPr algn="ctr"/>
            <a:r>
              <a:rPr lang="es-ES" sz="2400" b="1" dirty="0">
                <a:solidFill>
                  <a:schemeClr val="tx1">
                    <a:lumMod val="85000"/>
                    <a:lumOff val="15000"/>
                  </a:schemeClr>
                </a:solidFill>
                <a:latin typeface="Montserrat" panose="00000500000000000000" pitchFamily="2" charset="0"/>
                <a:cs typeface="Poppins" panose="00000500000000000000" pitchFamily="2" charset="0"/>
              </a:rPr>
              <a:t>Mesas de Trabajo</a:t>
            </a:r>
            <a:endParaRPr lang="es-MX" sz="2400" b="1" dirty="0">
              <a:solidFill>
                <a:schemeClr val="tx1">
                  <a:lumMod val="85000"/>
                  <a:lumOff val="15000"/>
                </a:schemeClr>
              </a:solidFill>
              <a:latin typeface="Montserrat" panose="00000500000000000000" pitchFamily="2" charset="0"/>
              <a:cs typeface="Poppins" panose="00000500000000000000" pitchFamily="2" charset="0"/>
            </a:endParaRPr>
          </a:p>
        </p:txBody>
      </p:sp>
      <p:sp>
        <p:nvSpPr>
          <p:cNvPr id="4" name="TextBox 2">
            <a:extLst>
              <a:ext uri="{FF2B5EF4-FFF2-40B4-BE49-F238E27FC236}">
                <a16:creationId xmlns:a16="http://schemas.microsoft.com/office/drawing/2014/main" id="{A0266752-7ADC-59E9-23EE-4204165A3D12}"/>
              </a:ext>
            </a:extLst>
          </p:cNvPr>
          <p:cNvSpPr txBox="1"/>
          <p:nvPr/>
        </p:nvSpPr>
        <p:spPr>
          <a:xfrm>
            <a:off x="2040412" y="2165941"/>
            <a:ext cx="2354270" cy="1107996"/>
          </a:xfrm>
          <a:prstGeom prst="rect">
            <a:avLst/>
          </a:prstGeom>
          <a:noFill/>
        </p:spPr>
        <p:txBody>
          <a:bodyPr wrap="square" rtlCol="0">
            <a:spAutoFit/>
          </a:bodyPr>
          <a:lstStyle/>
          <a:p>
            <a:pPr algn="ctr"/>
            <a:r>
              <a:rPr lang="es-ES" sz="6600" b="1" dirty="0">
                <a:solidFill>
                  <a:srgbClr val="C31E72"/>
                </a:solidFill>
                <a:latin typeface="Montserrat" panose="00000500000000000000" pitchFamily="2" charset="0"/>
                <a:cs typeface="Poppins" panose="00000500000000000000" pitchFamily="2" charset="0"/>
              </a:rPr>
              <a:t>38</a:t>
            </a:r>
            <a:endParaRPr lang="es-MX" sz="6600" b="1" dirty="0">
              <a:solidFill>
                <a:srgbClr val="C31E72"/>
              </a:solidFill>
              <a:latin typeface="Montserrat" panose="00000500000000000000" pitchFamily="2" charset="0"/>
              <a:cs typeface="Poppins" panose="00000500000000000000" pitchFamily="2" charset="0"/>
            </a:endParaRPr>
          </a:p>
        </p:txBody>
      </p:sp>
      <p:sp>
        <p:nvSpPr>
          <p:cNvPr id="15" name="TextBox 2">
            <a:extLst>
              <a:ext uri="{FF2B5EF4-FFF2-40B4-BE49-F238E27FC236}">
                <a16:creationId xmlns:a16="http://schemas.microsoft.com/office/drawing/2014/main" id="{15C06D2A-BF13-3C1A-FB28-B32E979884D1}"/>
              </a:ext>
            </a:extLst>
          </p:cNvPr>
          <p:cNvSpPr txBox="1"/>
          <p:nvPr/>
        </p:nvSpPr>
        <p:spPr>
          <a:xfrm>
            <a:off x="1062990" y="3437665"/>
            <a:ext cx="4320540" cy="1671740"/>
          </a:xfrm>
          <a:prstGeom prst="rect">
            <a:avLst/>
          </a:prstGeom>
          <a:noFill/>
        </p:spPr>
        <p:txBody>
          <a:bodyPr wrap="square" rtlCol="0">
            <a:spAutoFit/>
          </a:bodyPr>
          <a:lstStyle/>
          <a:p>
            <a:pPr marL="285750" indent="-285750" algn="just">
              <a:lnSpc>
                <a:spcPct val="150000"/>
              </a:lnSpc>
              <a:buClr>
                <a:srgbClr val="AE192D"/>
              </a:buClr>
              <a:buFont typeface="Wingdings" panose="05000000000000000000" pitchFamily="2" charset="2"/>
              <a:buChar char="§"/>
            </a:pPr>
            <a:r>
              <a:rPr lang="es-ES" sz="1400" dirty="0">
                <a:latin typeface="Montserrat" panose="00000500000000000000" pitchFamily="2" charset="0"/>
                <a:cs typeface="Poppins" panose="00000500000000000000" pitchFamily="2" charset="0"/>
              </a:rPr>
              <a:t>Grupo Técnico.</a:t>
            </a:r>
          </a:p>
          <a:p>
            <a:pPr marL="285750" indent="-285750" algn="just">
              <a:lnSpc>
                <a:spcPct val="150000"/>
              </a:lnSpc>
              <a:buClr>
                <a:srgbClr val="AE192D"/>
              </a:buClr>
              <a:buFont typeface="Wingdings" panose="05000000000000000000" pitchFamily="2" charset="2"/>
              <a:buChar char="§"/>
            </a:pPr>
            <a:r>
              <a:rPr lang="es-ES" sz="1400" dirty="0">
                <a:latin typeface="Montserrat" panose="00000500000000000000" pitchFamily="2" charset="0"/>
                <a:cs typeface="Poppins" panose="00000500000000000000" pitchFamily="2" charset="0"/>
              </a:rPr>
              <a:t>Consejo de Participación Ciudadana.</a:t>
            </a:r>
          </a:p>
          <a:p>
            <a:pPr marL="285750" indent="-285750" algn="just">
              <a:lnSpc>
                <a:spcPct val="150000"/>
              </a:lnSpc>
              <a:buClr>
                <a:srgbClr val="AE192D"/>
              </a:buClr>
              <a:buFont typeface="Wingdings" panose="05000000000000000000" pitchFamily="2" charset="2"/>
              <a:buChar char="§"/>
            </a:pPr>
            <a:r>
              <a:rPr lang="es-ES" sz="1400" dirty="0">
                <a:latin typeface="Montserrat" panose="00000500000000000000" pitchFamily="2" charset="0"/>
                <a:cs typeface="Poppins" panose="00000500000000000000" pitchFamily="2" charset="0"/>
              </a:rPr>
              <a:t>Consejo Consultivo.</a:t>
            </a:r>
          </a:p>
          <a:p>
            <a:pPr marL="285750" indent="-285750" algn="just">
              <a:lnSpc>
                <a:spcPct val="150000"/>
              </a:lnSpc>
              <a:buClr>
                <a:srgbClr val="AE192D"/>
              </a:buClr>
              <a:buFont typeface="Wingdings" panose="05000000000000000000" pitchFamily="2" charset="2"/>
              <a:buChar char="§"/>
            </a:pPr>
            <a:r>
              <a:rPr lang="es-ES" sz="1400" dirty="0">
                <a:latin typeface="Montserrat" panose="00000500000000000000" pitchFamily="2" charset="0"/>
                <a:cs typeface="Poppins" panose="00000500000000000000" pitchFamily="2" charset="0"/>
              </a:rPr>
              <a:t>Secretaría Ejecutiva del Sistema Anticorrupción del Estado de Chiapas</a:t>
            </a:r>
            <a:endParaRPr lang="es-MX" sz="1400" dirty="0">
              <a:latin typeface="Montserrat" panose="00000500000000000000" pitchFamily="2" charset="0"/>
              <a:cs typeface="Poppins" panose="00000500000000000000" pitchFamily="2" charset="0"/>
            </a:endParaRPr>
          </a:p>
        </p:txBody>
      </p:sp>
      <p:sp>
        <p:nvSpPr>
          <p:cNvPr id="18" name="TextBox 2">
            <a:extLst>
              <a:ext uri="{FF2B5EF4-FFF2-40B4-BE49-F238E27FC236}">
                <a16:creationId xmlns:a16="http://schemas.microsoft.com/office/drawing/2014/main" id="{1ED7C1E4-D7BA-0787-B820-662CA4F36315}"/>
              </a:ext>
            </a:extLst>
          </p:cNvPr>
          <p:cNvSpPr txBox="1"/>
          <p:nvPr/>
        </p:nvSpPr>
        <p:spPr>
          <a:xfrm>
            <a:off x="7081435" y="3020634"/>
            <a:ext cx="3807249" cy="461665"/>
          </a:xfrm>
          <a:prstGeom prst="rect">
            <a:avLst/>
          </a:prstGeom>
          <a:noFill/>
        </p:spPr>
        <p:txBody>
          <a:bodyPr wrap="square" rtlCol="0">
            <a:spAutoFit/>
          </a:bodyPr>
          <a:lstStyle/>
          <a:p>
            <a:pPr algn="ctr"/>
            <a:r>
              <a:rPr lang="es-ES" sz="2400" b="1" dirty="0">
                <a:solidFill>
                  <a:schemeClr val="tx1">
                    <a:lumMod val="85000"/>
                    <a:lumOff val="15000"/>
                  </a:schemeClr>
                </a:solidFill>
                <a:latin typeface="Montserrat" panose="00000500000000000000" pitchFamily="2" charset="0"/>
                <a:cs typeface="Poppins" panose="00000500000000000000" pitchFamily="2" charset="0"/>
              </a:rPr>
              <a:t>Integrantes</a:t>
            </a:r>
            <a:endParaRPr lang="es-MX" sz="2400" b="1" dirty="0">
              <a:solidFill>
                <a:schemeClr val="tx1">
                  <a:lumMod val="85000"/>
                  <a:lumOff val="15000"/>
                </a:schemeClr>
              </a:solidFill>
              <a:latin typeface="Montserrat" panose="00000500000000000000" pitchFamily="2" charset="0"/>
              <a:cs typeface="Poppins" panose="00000500000000000000" pitchFamily="2" charset="0"/>
            </a:endParaRPr>
          </a:p>
        </p:txBody>
      </p:sp>
      <p:sp>
        <p:nvSpPr>
          <p:cNvPr id="19" name="TextBox 2">
            <a:extLst>
              <a:ext uri="{FF2B5EF4-FFF2-40B4-BE49-F238E27FC236}">
                <a16:creationId xmlns:a16="http://schemas.microsoft.com/office/drawing/2014/main" id="{2298C723-6109-16BA-48D9-21B3375B5A32}"/>
              </a:ext>
            </a:extLst>
          </p:cNvPr>
          <p:cNvSpPr txBox="1"/>
          <p:nvPr/>
        </p:nvSpPr>
        <p:spPr>
          <a:xfrm>
            <a:off x="7802877" y="2165398"/>
            <a:ext cx="2354270" cy="1107996"/>
          </a:xfrm>
          <a:prstGeom prst="rect">
            <a:avLst/>
          </a:prstGeom>
          <a:noFill/>
        </p:spPr>
        <p:txBody>
          <a:bodyPr wrap="square" rtlCol="0">
            <a:spAutoFit/>
          </a:bodyPr>
          <a:lstStyle/>
          <a:p>
            <a:pPr algn="ctr"/>
            <a:r>
              <a:rPr lang="es-ES" sz="6600" b="1" dirty="0">
                <a:solidFill>
                  <a:srgbClr val="009885"/>
                </a:solidFill>
                <a:latin typeface="Montserrat" panose="00000500000000000000" pitchFamily="2" charset="0"/>
                <a:cs typeface="Poppins" panose="00000500000000000000" pitchFamily="2" charset="0"/>
              </a:rPr>
              <a:t>12</a:t>
            </a:r>
            <a:endParaRPr lang="es-MX" sz="6600" b="1" dirty="0">
              <a:solidFill>
                <a:srgbClr val="009885"/>
              </a:solidFill>
              <a:latin typeface="Montserrat" panose="00000500000000000000" pitchFamily="2" charset="0"/>
              <a:cs typeface="Poppins" panose="00000500000000000000" pitchFamily="2" charset="0"/>
            </a:endParaRPr>
          </a:p>
        </p:txBody>
      </p:sp>
      <p:sp>
        <p:nvSpPr>
          <p:cNvPr id="20" name="TextBox 2">
            <a:extLst>
              <a:ext uri="{FF2B5EF4-FFF2-40B4-BE49-F238E27FC236}">
                <a16:creationId xmlns:a16="http://schemas.microsoft.com/office/drawing/2014/main" id="{9A31C906-A701-B5E8-6EF4-1FC04BCE8766}"/>
              </a:ext>
            </a:extLst>
          </p:cNvPr>
          <p:cNvSpPr txBox="1"/>
          <p:nvPr/>
        </p:nvSpPr>
        <p:spPr>
          <a:xfrm>
            <a:off x="6825455" y="3437122"/>
            <a:ext cx="4320540" cy="2641236"/>
          </a:xfrm>
          <a:prstGeom prst="rect">
            <a:avLst/>
          </a:prstGeom>
          <a:noFill/>
        </p:spPr>
        <p:txBody>
          <a:bodyPr wrap="square" rtlCol="0">
            <a:spAutoFit/>
          </a:bodyPr>
          <a:lstStyle/>
          <a:p>
            <a:pPr marL="285750" indent="-285750" algn="just">
              <a:lnSpc>
                <a:spcPct val="150000"/>
              </a:lnSpc>
              <a:buClr>
                <a:srgbClr val="AE192D"/>
              </a:buClr>
              <a:buFont typeface="Wingdings" panose="05000000000000000000" pitchFamily="2" charset="2"/>
              <a:buChar char="§"/>
            </a:pPr>
            <a:r>
              <a:rPr lang="es-MX" sz="1400" dirty="0">
                <a:latin typeface="Montserrat" panose="00000500000000000000" pitchFamily="2" charset="0"/>
                <a:cs typeface="Poppins" panose="00000500000000000000" pitchFamily="2" charset="0"/>
              </a:rPr>
              <a:t>Comité Coordinador (6)</a:t>
            </a:r>
          </a:p>
          <a:p>
            <a:pPr marL="285750" indent="-285750" algn="just">
              <a:lnSpc>
                <a:spcPct val="150000"/>
              </a:lnSpc>
              <a:buClr>
                <a:srgbClr val="AE192D"/>
              </a:buClr>
              <a:buFont typeface="Wingdings" panose="05000000000000000000" pitchFamily="2" charset="2"/>
              <a:buChar char="§"/>
            </a:pPr>
            <a:r>
              <a:rPr lang="es-MX" sz="1400" dirty="0">
                <a:latin typeface="Montserrat" panose="00000500000000000000" pitchFamily="2" charset="0"/>
                <a:cs typeface="Poppins" panose="00000500000000000000" pitchFamily="2" charset="0"/>
              </a:rPr>
              <a:t>Secretaría de Hacienda (1)</a:t>
            </a:r>
          </a:p>
          <a:p>
            <a:pPr marL="285750" indent="-285750" algn="just">
              <a:lnSpc>
                <a:spcPct val="150000"/>
              </a:lnSpc>
              <a:buClr>
                <a:srgbClr val="AE192D"/>
              </a:buClr>
              <a:buFont typeface="Wingdings" panose="05000000000000000000" pitchFamily="2" charset="2"/>
              <a:buChar char="§"/>
            </a:pPr>
            <a:r>
              <a:rPr lang="es-MX" sz="1400" dirty="0">
                <a:latin typeface="Montserrat" panose="00000500000000000000" pitchFamily="2" charset="0"/>
                <a:cs typeface="Poppins" panose="00000500000000000000" pitchFamily="2" charset="0"/>
              </a:rPr>
              <a:t>Secretaría General de Gobierno (1)</a:t>
            </a:r>
          </a:p>
          <a:p>
            <a:pPr marL="285750" indent="-285750" algn="just">
              <a:lnSpc>
                <a:spcPct val="150000"/>
              </a:lnSpc>
              <a:buClr>
                <a:srgbClr val="AE192D"/>
              </a:buClr>
              <a:buFont typeface="Wingdings" panose="05000000000000000000" pitchFamily="2" charset="2"/>
              <a:buChar char="§"/>
            </a:pPr>
            <a:r>
              <a:rPr lang="es-MX" sz="1400" dirty="0">
                <a:latin typeface="Montserrat" panose="00000500000000000000" pitchFamily="2" charset="0"/>
                <a:cs typeface="Poppins" panose="00000500000000000000" pitchFamily="2" charset="0"/>
              </a:rPr>
              <a:t>Secretaría de Obras Públicas (1)</a:t>
            </a:r>
          </a:p>
          <a:p>
            <a:pPr marL="285750" indent="-285750" algn="just">
              <a:lnSpc>
                <a:spcPct val="150000"/>
              </a:lnSpc>
              <a:buClr>
                <a:srgbClr val="AE192D"/>
              </a:buClr>
              <a:buFont typeface="Wingdings" panose="05000000000000000000" pitchFamily="2" charset="2"/>
              <a:buChar char="§"/>
            </a:pPr>
            <a:r>
              <a:rPr lang="es-MX" sz="1400" dirty="0">
                <a:latin typeface="Montserrat" panose="00000500000000000000" pitchFamily="2" charset="0"/>
                <a:cs typeface="Poppins" panose="00000500000000000000" pitchFamily="2" charset="0"/>
              </a:rPr>
              <a:t>Oficialía Mayor (1)</a:t>
            </a:r>
          </a:p>
          <a:p>
            <a:pPr marL="285750" indent="-285750" algn="just">
              <a:lnSpc>
                <a:spcPct val="150000"/>
              </a:lnSpc>
              <a:buClr>
                <a:srgbClr val="AE192D"/>
              </a:buClr>
              <a:buFont typeface="Wingdings" panose="05000000000000000000" pitchFamily="2" charset="2"/>
              <a:buChar char="§"/>
            </a:pPr>
            <a:r>
              <a:rPr lang="es-MX" sz="1400" dirty="0">
                <a:latin typeface="Montserrat" panose="00000500000000000000" pitchFamily="2" charset="0"/>
                <a:cs typeface="Poppins" panose="00000500000000000000" pitchFamily="2" charset="0"/>
              </a:rPr>
              <a:t>Comisión Estatal de Mejora Regulatoria(1)</a:t>
            </a:r>
          </a:p>
          <a:p>
            <a:pPr marL="285750" indent="-285750" algn="just">
              <a:lnSpc>
                <a:spcPct val="150000"/>
              </a:lnSpc>
              <a:buClr>
                <a:srgbClr val="AE192D"/>
              </a:buClr>
              <a:buFont typeface="Wingdings" panose="05000000000000000000" pitchFamily="2" charset="2"/>
              <a:buChar char="§"/>
            </a:pPr>
            <a:r>
              <a:rPr lang="es-MX" sz="1400" dirty="0">
                <a:latin typeface="Montserrat" panose="00000500000000000000" pitchFamily="2" charset="0"/>
                <a:cs typeface="Poppins" panose="00000500000000000000" pitchFamily="2" charset="0"/>
              </a:rPr>
              <a:t>Secretaría Ejecutiva del Sistema Anticorrupción del Estado de Chiapas (1)</a:t>
            </a:r>
          </a:p>
        </p:txBody>
      </p:sp>
    </p:spTree>
    <p:extLst>
      <p:ext uri="{BB962C8B-B14F-4D97-AF65-F5344CB8AC3E}">
        <p14:creationId xmlns:p14="http://schemas.microsoft.com/office/powerpoint/2010/main" val="358506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70322-6FAE-C7B6-E14D-C8A36617B38C}"/>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5E5C0C2E-F7E2-961E-D45C-7205B0F47FB2}"/>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4.3. Aprobación del Programa de Implementación de la PEA</a:t>
            </a:r>
          </a:p>
        </p:txBody>
      </p:sp>
      <p:sp>
        <p:nvSpPr>
          <p:cNvPr id="37" name="CuadroTexto 36">
            <a:extLst>
              <a:ext uri="{FF2B5EF4-FFF2-40B4-BE49-F238E27FC236}">
                <a16:creationId xmlns:a16="http://schemas.microsoft.com/office/drawing/2014/main" id="{2BDDC13C-8A68-90D6-9170-222F0B7BCA41}"/>
              </a:ext>
            </a:extLst>
          </p:cNvPr>
          <p:cNvSpPr txBox="1"/>
          <p:nvPr/>
        </p:nvSpPr>
        <p:spPr>
          <a:xfrm>
            <a:off x="332366" y="6240519"/>
            <a:ext cx="11520000"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Programa de Implementación de la Política Estatal Anticorrupción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https://sesaech.gob.mx/politica-estatal-anticorrupcion/documento-pi-pea</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p>
        </p:txBody>
      </p:sp>
      <p:sp>
        <p:nvSpPr>
          <p:cNvPr id="3" name="CuadroTexto 2">
            <a:extLst>
              <a:ext uri="{FF2B5EF4-FFF2-40B4-BE49-F238E27FC236}">
                <a16:creationId xmlns:a16="http://schemas.microsoft.com/office/drawing/2014/main" id="{FE868FC5-CE69-D0C1-04F4-17E5867CCC31}"/>
              </a:ext>
            </a:extLst>
          </p:cNvPr>
          <p:cNvSpPr txBox="1"/>
          <p:nvPr/>
        </p:nvSpPr>
        <p:spPr>
          <a:xfrm>
            <a:off x="4652010" y="1082258"/>
            <a:ext cx="7200356" cy="1323439"/>
          </a:xfrm>
          <a:prstGeom prst="rect">
            <a:avLst/>
          </a:prstGeom>
          <a:noFill/>
        </p:spPr>
        <p:txBody>
          <a:bodyPr wrap="square" rtlCol="0">
            <a:spAutoFit/>
          </a:bodyPr>
          <a:lstStyle/>
          <a:p>
            <a:pPr algn="just">
              <a:spcAft>
                <a:spcPts val="1000"/>
              </a:spcAft>
            </a:pPr>
            <a:r>
              <a:rPr lang="es-MX" sz="2000" kern="0" dirty="0">
                <a:solidFill>
                  <a:schemeClr val="tx1">
                    <a:lumMod val="75000"/>
                    <a:lumOff val="25000"/>
                  </a:schemeClr>
                </a:solidFill>
                <a:latin typeface="Montserrat" panose="00000500000000000000" pitchFamily="2" charset="0"/>
                <a:cs typeface="Segoe UI" panose="020B0502040204020203" pitchFamily="34" charset="0"/>
              </a:rPr>
              <a:t>Aprobado mediante el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Acta número 01-SE-CC-SAECH-2024</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de la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Primera Sesión Extraordinaria</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del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Comité Coordinador del Sistema Anticorrupción del Estado de Chiapas.</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realizada el 29 de mayo de 2024.</a:t>
            </a:r>
          </a:p>
        </p:txBody>
      </p:sp>
      <p:sp>
        <p:nvSpPr>
          <p:cNvPr id="6" name="Freeform 11">
            <a:extLst>
              <a:ext uri="{FF2B5EF4-FFF2-40B4-BE49-F238E27FC236}">
                <a16:creationId xmlns:a16="http://schemas.microsoft.com/office/drawing/2014/main" id="{07BFD156-86CD-93A6-4053-AE73C675F1A3}"/>
              </a:ext>
            </a:extLst>
          </p:cNvPr>
          <p:cNvSpPr/>
          <p:nvPr/>
        </p:nvSpPr>
        <p:spPr>
          <a:xfrm>
            <a:off x="10303591" y="3057707"/>
            <a:ext cx="972000" cy="972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chemeClr val="bg1"/>
          </a:solidFill>
          <a:ln>
            <a:solidFill>
              <a:srgbClr val="AE19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36" name="Rounded Rectangle 54">
            <a:extLst>
              <a:ext uri="{FF2B5EF4-FFF2-40B4-BE49-F238E27FC236}">
                <a16:creationId xmlns:a16="http://schemas.microsoft.com/office/drawing/2014/main" id="{9E19353B-2E47-9DA4-951E-150C2F41C27C}"/>
              </a:ext>
            </a:extLst>
          </p:cNvPr>
          <p:cNvSpPr/>
          <p:nvPr/>
        </p:nvSpPr>
        <p:spPr>
          <a:xfrm>
            <a:off x="9701004" y="4327455"/>
            <a:ext cx="2160000" cy="1440000"/>
          </a:xfrm>
          <a:prstGeom prst="roundRect">
            <a:avLst>
              <a:gd name="adj" fmla="val 1125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41" name="Rounded Rectangle 55">
            <a:extLst>
              <a:ext uri="{FF2B5EF4-FFF2-40B4-BE49-F238E27FC236}">
                <a16:creationId xmlns:a16="http://schemas.microsoft.com/office/drawing/2014/main" id="{A78915EC-21E7-E2D6-2B97-BC7CADCD3C19}"/>
              </a:ext>
            </a:extLst>
          </p:cNvPr>
          <p:cNvSpPr/>
          <p:nvPr/>
        </p:nvSpPr>
        <p:spPr>
          <a:xfrm>
            <a:off x="10030542" y="4122600"/>
            <a:ext cx="1512000" cy="396000"/>
          </a:xfrm>
          <a:prstGeom prst="roundRect">
            <a:avLst>
              <a:gd name="adj" fmla="val 50000"/>
            </a:avLst>
          </a:prstGeom>
          <a:solidFill>
            <a:srgbClr val="AE19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43" name="TextBox 58">
            <a:extLst>
              <a:ext uri="{FF2B5EF4-FFF2-40B4-BE49-F238E27FC236}">
                <a16:creationId xmlns:a16="http://schemas.microsoft.com/office/drawing/2014/main" id="{03578072-1276-1722-E2DF-A0F7A2C9AD1F}"/>
              </a:ext>
            </a:extLst>
          </p:cNvPr>
          <p:cNvSpPr txBox="1"/>
          <p:nvPr/>
        </p:nvSpPr>
        <p:spPr>
          <a:xfrm>
            <a:off x="10139813" y="4228975"/>
            <a:ext cx="1296000" cy="184666"/>
          </a:xfrm>
          <a:prstGeom prst="rect">
            <a:avLst/>
          </a:prstGeom>
          <a:noFill/>
        </p:spPr>
        <p:txBody>
          <a:bodyPr wrap="square" lIns="0" tIns="0" rIns="0" bIns="0" anchor="ctr" anchorCtr="0">
            <a:spAutoFit/>
          </a:bodyPr>
          <a:lstStyle/>
          <a:p>
            <a:pPr algn="ctr"/>
            <a:r>
              <a:rPr lang="en-US" sz="1200" b="1" dirty="0">
                <a:solidFill>
                  <a:schemeClr val="bg1"/>
                </a:solidFill>
                <a:latin typeface="Montserrat" panose="00000500000000000000" pitchFamily="2" charset="0"/>
                <a:cs typeface="Segoe UI" panose="020B0502040204020203" pitchFamily="34" charset="0"/>
              </a:rPr>
              <a:t>PRIORIDADES</a:t>
            </a:r>
            <a:endParaRPr lang="en-BR" sz="1200" b="1" dirty="0">
              <a:solidFill>
                <a:schemeClr val="bg1"/>
              </a:solidFill>
              <a:latin typeface="Montserrat" panose="00000500000000000000" pitchFamily="2" charset="0"/>
              <a:cs typeface="Segoe UI" panose="020B0502040204020203" pitchFamily="34" charset="0"/>
            </a:endParaRPr>
          </a:p>
        </p:txBody>
      </p:sp>
      <p:sp>
        <p:nvSpPr>
          <p:cNvPr id="44" name="TextBox 59">
            <a:extLst>
              <a:ext uri="{FF2B5EF4-FFF2-40B4-BE49-F238E27FC236}">
                <a16:creationId xmlns:a16="http://schemas.microsoft.com/office/drawing/2014/main" id="{32CF8010-672B-F3B2-4AF5-D280DEFE0449}"/>
              </a:ext>
            </a:extLst>
          </p:cNvPr>
          <p:cNvSpPr txBox="1"/>
          <p:nvPr/>
        </p:nvSpPr>
        <p:spPr>
          <a:xfrm>
            <a:off x="9712434" y="4493695"/>
            <a:ext cx="2126792" cy="1231106"/>
          </a:xfrm>
          <a:prstGeom prst="rect">
            <a:avLst/>
          </a:prstGeom>
          <a:noFill/>
        </p:spPr>
        <p:txBody>
          <a:bodyPr wrap="square" lIns="0" tIns="0" rIns="0" bIns="0" rtlCol="0">
            <a:spAutoFit/>
          </a:bodyPr>
          <a:lstStyle/>
          <a:p>
            <a:pPr algn="ctr"/>
            <a:r>
              <a:rPr lang="en-US" sz="8000" b="1" dirty="0">
                <a:solidFill>
                  <a:srgbClr val="AE192D"/>
                </a:solidFill>
                <a:latin typeface="Montserrat" panose="00000500000000000000" pitchFamily="2" charset="0"/>
                <a:cs typeface="Segoe UI" panose="020B0502040204020203" pitchFamily="34" charset="0"/>
              </a:rPr>
              <a:t>67</a:t>
            </a:r>
            <a:endParaRPr lang="en-BR" sz="8000" dirty="0">
              <a:solidFill>
                <a:srgbClr val="AE192D"/>
              </a:solidFill>
              <a:latin typeface="Segoe UI" panose="020B0502040204020203" pitchFamily="34" charset="0"/>
              <a:cs typeface="Segoe UI" panose="020B0502040204020203" pitchFamily="34" charset="0"/>
            </a:endParaRPr>
          </a:p>
        </p:txBody>
      </p:sp>
      <p:sp>
        <p:nvSpPr>
          <p:cNvPr id="51" name="Freeform 70">
            <a:extLst>
              <a:ext uri="{FF2B5EF4-FFF2-40B4-BE49-F238E27FC236}">
                <a16:creationId xmlns:a16="http://schemas.microsoft.com/office/drawing/2014/main" id="{A50DA2B6-E357-D432-70DC-28FE1A68A901}"/>
              </a:ext>
            </a:extLst>
          </p:cNvPr>
          <p:cNvSpPr/>
          <p:nvPr/>
        </p:nvSpPr>
        <p:spPr>
          <a:xfrm>
            <a:off x="10425757" y="3193198"/>
            <a:ext cx="720000" cy="720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rgbClr val="AE192D"/>
          </a:solidFill>
          <a:ln w="8897" cap="flat">
            <a:noFill/>
            <a:prstDash val="solid"/>
            <a:miter/>
          </a:ln>
        </p:spPr>
        <p:txBody>
          <a:bodyPr rtlCol="0" anchor="ctr"/>
          <a:lstStyle/>
          <a:p>
            <a:pPr algn="ctr"/>
            <a:r>
              <a:rPr lang="en-BR" sz="3600" dirty="0">
                <a:solidFill>
                  <a:schemeClr val="bg1"/>
                </a:solidFill>
                <a:latin typeface="Font Awesome 6 Free Solid" panose="02000903000000000000" pitchFamily="50" charset="0"/>
              </a:rPr>
              <a:t></a:t>
            </a:r>
          </a:p>
        </p:txBody>
      </p:sp>
      <p:sp>
        <p:nvSpPr>
          <p:cNvPr id="71" name="Freeform 11">
            <a:extLst>
              <a:ext uri="{FF2B5EF4-FFF2-40B4-BE49-F238E27FC236}">
                <a16:creationId xmlns:a16="http://schemas.microsoft.com/office/drawing/2014/main" id="{061137B2-EDB4-8454-6EB3-B08D36EBF49B}"/>
              </a:ext>
            </a:extLst>
          </p:cNvPr>
          <p:cNvSpPr/>
          <p:nvPr/>
        </p:nvSpPr>
        <p:spPr>
          <a:xfrm>
            <a:off x="7767367" y="3063705"/>
            <a:ext cx="972000" cy="972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chemeClr val="bg1"/>
          </a:solidFill>
          <a:ln>
            <a:solidFill>
              <a:srgbClr val="0098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72" name="Rounded Rectangle 54">
            <a:extLst>
              <a:ext uri="{FF2B5EF4-FFF2-40B4-BE49-F238E27FC236}">
                <a16:creationId xmlns:a16="http://schemas.microsoft.com/office/drawing/2014/main" id="{F00DC180-22EE-F722-C442-FBC3A7DE06F8}"/>
              </a:ext>
            </a:extLst>
          </p:cNvPr>
          <p:cNvSpPr/>
          <p:nvPr/>
        </p:nvSpPr>
        <p:spPr>
          <a:xfrm>
            <a:off x="7176210" y="4333453"/>
            <a:ext cx="2160000" cy="1440000"/>
          </a:xfrm>
          <a:prstGeom prst="roundRect">
            <a:avLst>
              <a:gd name="adj" fmla="val 1125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73" name="Rounded Rectangle 55">
            <a:extLst>
              <a:ext uri="{FF2B5EF4-FFF2-40B4-BE49-F238E27FC236}">
                <a16:creationId xmlns:a16="http://schemas.microsoft.com/office/drawing/2014/main" id="{87F44036-B2FD-8A99-2517-55B3E288C8D0}"/>
              </a:ext>
            </a:extLst>
          </p:cNvPr>
          <p:cNvSpPr/>
          <p:nvPr/>
        </p:nvSpPr>
        <p:spPr>
          <a:xfrm>
            <a:off x="7517178" y="4128598"/>
            <a:ext cx="1512000" cy="396000"/>
          </a:xfrm>
          <a:prstGeom prst="roundRect">
            <a:avLst>
              <a:gd name="adj" fmla="val 50000"/>
            </a:avLst>
          </a:prstGeom>
          <a:solidFill>
            <a:srgbClr val="009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74" name="TextBox 58">
            <a:extLst>
              <a:ext uri="{FF2B5EF4-FFF2-40B4-BE49-F238E27FC236}">
                <a16:creationId xmlns:a16="http://schemas.microsoft.com/office/drawing/2014/main" id="{0659D836-3799-4CA5-1FE8-BF946EA2C4F3}"/>
              </a:ext>
            </a:extLst>
          </p:cNvPr>
          <p:cNvSpPr txBox="1"/>
          <p:nvPr/>
        </p:nvSpPr>
        <p:spPr>
          <a:xfrm>
            <a:off x="7626449" y="4234973"/>
            <a:ext cx="1296000" cy="184666"/>
          </a:xfrm>
          <a:prstGeom prst="rect">
            <a:avLst/>
          </a:prstGeom>
          <a:noFill/>
        </p:spPr>
        <p:txBody>
          <a:bodyPr wrap="square" lIns="0" tIns="0" rIns="0" bIns="0" anchor="ctr" anchorCtr="0">
            <a:spAutoFit/>
          </a:bodyPr>
          <a:lstStyle/>
          <a:p>
            <a:pPr algn="ctr"/>
            <a:r>
              <a:rPr lang="en-US" sz="1200" b="1" dirty="0">
                <a:solidFill>
                  <a:schemeClr val="bg1"/>
                </a:solidFill>
                <a:latin typeface="Montserrat" panose="00000500000000000000" pitchFamily="2" charset="0"/>
                <a:cs typeface="Segoe UI" panose="020B0502040204020203" pitchFamily="34" charset="0"/>
              </a:rPr>
              <a:t>ESTRATEGIAS</a:t>
            </a:r>
            <a:endParaRPr lang="en-BR" sz="1200" b="1" dirty="0">
              <a:solidFill>
                <a:schemeClr val="bg1"/>
              </a:solidFill>
              <a:latin typeface="Montserrat" panose="00000500000000000000" pitchFamily="2" charset="0"/>
              <a:cs typeface="Segoe UI" panose="020B0502040204020203" pitchFamily="34" charset="0"/>
            </a:endParaRPr>
          </a:p>
        </p:txBody>
      </p:sp>
      <p:sp>
        <p:nvSpPr>
          <p:cNvPr id="75" name="TextBox 59">
            <a:extLst>
              <a:ext uri="{FF2B5EF4-FFF2-40B4-BE49-F238E27FC236}">
                <a16:creationId xmlns:a16="http://schemas.microsoft.com/office/drawing/2014/main" id="{94EE4888-FC64-0267-0E2A-29891A107009}"/>
              </a:ext>
            </a:extLst>
          </p:cNvPr>
          <p:cNvSpPr txBox="1"/>
          <p:nvPr/>
        </p:nvSpPr>
        <p:spPr>
          <a:xfrm>
            <a:off x="7176210" y="4499693"/>
            <a:ext cx="2126792" cy="1231106"/>
          </a:xfrm>
          <a:prstGeom prst="rect">
            <a:avLst/>
          </a:prstGeom>
          <a:noFill/>
        </p:spPr>
        <p:txBody>
          <a:bodyPr wrap="square" lIns="0" tIns="0" rIns="0" bIns="0" rtlCol="0">
            <a:spAutoFit/>
          </a:bodyPr>
          <a:lstStyle/>
          <a:p>
            <a:pPr algn="ctr"/>
            <a:r>
              <a:rPr lang="en-US" sz="8000" b="1" dirty="0">
                <a:solidFill>
                  <a:srgbClr val="009885"/>
                </a:solidFill>
                <a:latin typeface="Montserrat" panose="00000500000000000000" pitchFamily="2" charset="0"/>
                <a:cs typeface="Segoe UI" panose="020B0502040204020203" pitchFamily="34" charset="0"/>
              </a:rPr>
              <a:t>122</a:t>
            </a:r>
            <a:endParaRPr lang="en-BR" sz="8000" dirty="0">
              <a:solidFill>
                <a:srgbClr val="009885"/>
              </a:solidFill>
              <a:latin typeface="Segoe UI" panose="020B0502040204020203" pitchFamily="34" charset="0"/>
              <a:cs typeface="Segoe UI" panose="020B0502040204020203" pitchFamily="34" charset="0"/>
            </a:endParaRPr>
          </a:p>
        </p:txBody>
      </p:sp>
      <p:pic>
        <p:nvPicPr>
          <p:cNvPr id="76" name="Graphic 36" descr="Lightbulb with solid fill">
            <a:extLst>
              <a:ext uri="{FF2B5EF4-FFF2-40B4-BE49-F238E27FC236}">
                <a16:creationId xmlns:a16="http://schemas.microsoft.com/office/drawing/2014/main" id="{473DB59B-EB07-D3D8-C29B-35B29B81B99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30778" y="3322051"/>
            <a:ext cx="661900" cy="661900"/>
          </a:xfrm>
          <a:prstGeom prst="rect">
            <a:avLst/>
          </a:prstGeom>
        </p:spPr>
      </p:pic>
      <p:sp>
        <p:nvSpPr>
          <p:cNvPr id="77" name="Freeform 70">
            <a:extLst>
              <a:ext uri="{FF2B5EF4-FFF2-40B4-BE49-F238E27FC236}">
                <a16:creationId xmlns:a16="http://schemas.microsoft.com/office/drawing/2014/main" id="{7D649634-7822-4BBD-E801-44176EF3F31C}"/>
              </a:ext>
            </a:extLst>
          </p:cNvPr>
          <p:cNvSpPr/>
          <p:nvPr/>
        </p:nvSpPr>
        <p:spPr>
          <a:xfrm>
            <a:off x="7900963" y="3187766"/>
            <a:ext cx="720000" cy="720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rgbClr val="009885"/>
          </a:solidFill>
          <a:ln w="8897" cap="flat">
            <a:noFill/>
            <a:prstDash val="solid"/>
            <a:miter/>
          </a:ln>
        </p:spPr>
        <p:txBody>
          <a:bodyPr rtlCol="0" anchor="t" anchorCtr="0"/>
          <a:lstStyle/>
          <a:p>
            <a:pPr algn="ctr"/>
            <a:endParaRPr lang="en-BR" sz="3600" dirty="0">
              <a:solidFill>
                <a:schemeClr val="bg1"/>
              </a:solidFill>
              <a:latin typeface="Font Awesome 6 Free Solid" panose="02000903000000000000" pitchFamily="50" charset="0"/>
            </a:endParaRPr>
          </a:p>
        </p:txBody>
      </p:sp>
      <p:sp>
        <p:nvSpPr>
          <p:cNvPr id="79" name="Freeform 11">
            <a:extLst>
              <a:ext uri="{FF2B5EF4-FFF2-40B4-BE49-F238E27FC236}">
                <a16:creationId xmlns:a16="http://schemas.microsoft.com/office/drawing/2014/main" id="{3454EE2F-E50F-CA77-3071-6FD6DDC15F07}"/>
              </a:ext>
            </a:extLst>
          </p:cNvPr>
          <p:cNvSpPr/>
          <p:nvPr/>
        </p:nvSpPr>
        <p:spPr>
          <a:xfrm>
            <a:off x="5242219" y="3062881"/>
            <a:ext cx="972000" cy="972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chemeClr val="bg1"/>
          </a:solidFill>
          <a:ln>
            <a:solidFill>
              <a:srgbClr val="C31E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80" name="Rounded Rectangle 54">
            <a:extLst>
              <a:ext uri="{FF2B5EF4-FFF2-40B4-BE49-F238E27FC236}">
                <a16:creationId xmlns:a16="http://schemas.microsoft.com/office/drawing/2014/main" id="{6BA105F7-D5AB-9319-7197-ED332AEE88BA}"/>
              </a:ext>
            </a:extLst>
          </p:cNvPr>
          <p:cNvSpPr/>
          <p:nvPr/>
        </p:nvSpPr>
        <p:spPr>
          <a:xfrm>
            <a:off x="4651062" y="4332629"/>
            <a:ext cx="2160000" cy="1440000"/>
          </a:xfrm>
          <a:prstGeom prst="roundRect">
            <a:avLst>
              <a:gd name="adj" fmla="val 1125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81" name="Rounded Rectangle 55">
            <a:extLst>
              <a:ext uri="{FF2B5EF4-FFF2-40B4-BE49-F238E27FC236}">
                <a16:creationId xmlns:a16="http://schemas.microsoft.com/office/drawing/2014/main" id="{F1494B77-B671-D9C5-48BE-6B2B96F03315}"/>
              </a:ext>
            </a:extLst>
          </p:cNvPr>
          <p:cNvSpPr/>
          <p:nvPr/>
        </p:nvSpPr>
        <p:spPr>
          <a:xfrm>
            <a:off x="4969170" y="4127774"/>
            <a:ext cx="1512000" cy="396000"/>
          </a:xfrm>
          <a:prstGeom prst="roundRect">
            <a:avLst>
              <a:gd name="adj" fmla="val 50000"/>
            </a:avLst>
          </a:prstGeom>
          <a:solidFill>
            <a:srgbClr val="C31E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82" name="TextBox 58">
            <a:extLst>
              <a:ext uri="{FF2B5EF4-FFF2-40B4-BE49-F238E27FC236}">
                <a16:creationId xmlns:a16="http://schemas.microsoft.com/office/drawing/2014/main" id="{74AFD7FA-8D1D-7D23-90C0-2CE038C8D7CF}"/>
              </a:ext>
            </a:extLst>
          </p:cNvPr>
          <p:cNvSpPr txBox="1"/>
          <p:nvPr/>
        </p:nvSpPr>
        <p:spPr>
          <a:xfrm>
            <a:off x="5078441" y="4141816"/>
            <a:ext cx="1296000" cy="369332"/>
          </a:xfrm>
          <a:prstGeom prst="rect">
            <a:avLst/>
          </a:prstGeom>
          <a:noFill/>
        </p:spPr>
        <p:txBody>
          <a:bodyPr wrap="square" lIns="0" tIns="0" rIns="0" bIns="0" anchor="ctr" anchorCtr="0">
            <a:spAutoFit/>
          </a:bodyPr>
          <a:lstStyle/>
          <a:p>
            <a:pPr algn="ctr"/>
            <a:r>
              <a:rPr lang="en-US" sz="1200" b="1" dirty="0">
                <a:solidFill>
                  <a:schemeClr val="bg1"/>
                </a:solidFill>
                <a:latin typeface="Montserrat" panose="00000500000000000000" pitchFamily="2" charset="0"/>
                <a:cs typeface="Segoe UI" panose="020B0502040204020203" pitchFamily="34" charset="0"/>
              </a:rPr>
              <a:t>LÍNEAS DE ACCIÓN</a:t>
            </a:r>
            <a:endParaRPr lang="en-BR" sz="1200" b="1" dirty="0">
              <a:solidFill>
                <a:schemeClr val="bg1"/>
              </a:solidFill>
              <a:latin typeface="Montserrat" panose="00000500000000000000" pitchFamily="2" charset="0"/>
              <a:cs typeface="Segoe UI" panose="020B0502040204020203" pitchFamily="34" charset="0"/>
            </a:endParaRPr>
          </a:p>
        </p:txBody>
      </p:sp>
      <p:sp>
        <p:nvSpPr>
          <p:cNvPr id="83" name="TextBox 59">
            <a:extLst>
              <a:ext uri="{FF2B5EF4-FFF2-40B4-BE49-F238E27FC236}">
                <a16:creationId xmlns:a16="http://schemas.microsoft.com/office/drawing/2014/main" id="{E198E1A0-86E9-E2E8-7B6D-B4F8F9456DCC}"/>
              </a:ext>
            </a:extLst>
          </p:cNvPr>
          <p:cNvSpPr txBox="1"/>
          <p:nvPr/>
        </p:nvSpPr>
        <p:spPr>
          <a:xfrm>
            <a:off x="4638648" y="4498869"/>
            <a:ext cx="2172414" cy="1231106"/>
          </a:xfrm>
          <a:prstGeom prst="rect">
            <a:avLst/>
          </a:prstGeom>
          <a:noFill/>
        </p:spPr>
        <p:txBody>
          <a:bodyPr wrap="square" lIns="0" tIns="0" rIns="0" bIns="0" rtlCol="0">
            <a:spAutoFit/>
          </a:bodyPr>
          <a:lstStyle/>
          <a:p>
            <a:pPr algn="ctr"/>
            <a:r>
              <a:rPr lang="en-US" sz="8000" b="1" dirty="0">
                <a:solidFill>
                  <a:srgbClr val="C31E72"/>
                </a:solidFill>
                <a:latin typeface="Montserrat" panose="00000500000000000000" pitchFamily="2" charset="0"/>
                <a:cs typeface="Segoe UI" panose="020B0502040204020203" pitchFamily="34" charset="0"/>
              </a:rPr>
              <a:t>157</a:t>
            </a:r>
            <a:endParaRPr lang="en-BR" sz="8000" dirty="0">
              <a:solidFill>
                <a:srgbClr val="C31E72"/>
              </a:solidFill>
              <a:latin typeface="Segoe UI" panose="020B0502040204020203" pitchFamily="34" charset="0"/>
              <a:cs typeface="Segoe UI" panose="020B0502040204020203" pitchFamily="34" charset="0"/>
            </a:endParaRPr>
          </a:p>
        </p:txBody>
      </p:sp>
      <p:pic>
        <p:nvPicPr>
          <p:cNvPr id="84" name="Graphic 36" descr="Lightbulb with solid fill">
            <a:extLst>
              <a:ext uri="{FF2B5EF4-FFF2-40B4-BE49-F238E27FC236}">
                <a16:creationId xmlns:a16="http://schemas.microsoft.com/office/drawing/2014/main" id="{0FFE810F-BDA5-9E4C-1A97-D0F28E9F541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59910" y="3149777"/>
            <a:ext cx="661900" cy="661900"/>
          </a:xfrm>
          <a:prstGeom prst="rect">
            <a:avLst/>
          </a:prstGeom>
        </p:spPr>
      </p:pic>
      <p:sp>
        <p:nvSpPr>
          <p:cNvPr id="85" name="Freeform 70">
            <a:extLst>
              <a:ext uri="{FF2B5EF4-FFF2-40B4-BE49-F238E27FC236}">
                <a16:creationId xmlns:a16="http://schemas.microsoft.com/office/drawing/2014/main" id="{1093F7ED-57D2-4212-B5D1-294E0F30BADF}"/>
              </a:ext>
            </a:extLst>
          </p:cNvPr>
          <p:cNvSpPr/>
          <p:nvPr/>
        </p:nvSpPr>
        <p:spPr>
          <a:xfrm>
            <a:off x="5375815" y="3186942"/>
            <a:ext cx="720000" cy="720000"/>
          </a:xfrm>
          <a:custGeom>
            <a:avLst/>
            <a:gdLst>
              <a:gd name="connsiteX0" fmla="*/ 666031 w 666030"/>
              <a:gd name="connsiteY0" fmla="*/ 332910 h 665819"/>
              <a:gd name="connsiteX1" fmla="*/ 333015 w 666030"/>
              <a:gd name="connsiteY1" fmla="*/ 665819 h 665819"/>
              <a:gd name="connsiteX2" fmla="*/ 0 w 666030"/>
              <a:gd name="connsiteY2" fmla="*/ 332910 h 665819"/>
              <a:gd name="connsiteX3" fmla="*/ 333015 w 666030"/>
              <a:gd name="connsiteY3" fmla="*/ 0 h 665819"/>
              <a:gd name="connsiteX4" fmla="*/ 666031 w 666030"/>
              <a:gd name="connsiteY4" fmla="*/ 332910 h 665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030" h="665819">
                <a:moveTo>
                  <a:pt x="666031" y="332910"/>
                </a:moveTo>
                <a:cubicBezTo>
                  <a:pt x="666031" y="516771"/>
                  <a:pt x="516935" y="665819"/>
                  <a:pt x="333015" y="665819"/>
                </a:cubicBezTo>
                <a:cubicBezTo>
                  <a:pt x="149096" y="665819"/>
                  <a:pt x="0" y="516771"/>
                  <a:pt x="0" y="332910"/>
                </a:cubicBezTo>
                <a:cubicBezTo>
                  <a:pt x="0" y="149049"/>
                  <a:pt x="149096" y="0"/>
                  <a:pt x="333015" y="0"/>
                </a:cubicBezTo>
                <a:cubicBezTo>
                  <a:pt x="516935" y="0"/>
                  <a:pt x="666031" y="149049"/>
                  <a:pt x="666031" y="332910"/>
                </a:cubicBezTo>
                <a:close/>
              </a:path>
            </a:pathLst>
          </a:custGeom>
          <a:solidFill>
            <a:srgbClr val="C31E72"/>
          </a:solidFill>
          <a:ln w="8897" cap="flat">
            <a:noFill/>
            <a:prstDash val="solid"/>
            <a:miter/>
          </a:ln>
        </p:spPr>
        <p:txBody>
          <a:bodyPr rtlCol="0" anchor="ctr"/>
          <a:lstStyle/>
          <a:p>
            <a:pPr algn="ctr"/>
            <a:r>
              <a:rPr lang="en-BR" sz="3600" dirty="0">
                <a:solidFill>
                  <a:schemeClr val="bg1"/>
                </a:solidFill>
                <a:latin typeface="Font Awesome 6 Free Solid" panose="02000903000000000000" pitchFamily="50" charset="0"/>
              </a:rPr>
              <a:t></a:t>
            </a:r>
          </a:p>
        </p:txBody>
      </p:sp>
      <p:pic>
        <p:nvPicPr>
          <p:cNvPr id="89" name="Gráfico 33" descr="Diana" title="Icono del marcador de posición">
            <a:extLst>
              <a:ext uri="{FF2B5EF4-FFF2-40B4-BE49-F238E27FC236}">
                <a16:creationId xmlns:a16="http://schemas.microsoft.com/office/drawing/2014/main" id="{BC421BC7-2FA6-466F-F426-A1BD374ACD76}"/>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987428" y="3275297"/>
            <a:ext cx="540000" cy="540000"/>
          </a:xfrm>
          <a:prstGeom prst="rect">
            <a:avLst/>
          </a:prstGeom>
        </p:spPr>
      </p:pic>
      <p:pic>
        <p:nvPicPr>
          <p:cNvPr id="4" name="Imagen 3">
            <a:extLst>
              <a:ext uri="{FF2B5EF4-FFF2-40B4-BE49-F238E27FC236}">
                <a16:creationId xmlns:a16="http://schemas.microsoft.com/office/drawing/2014/main" id="{0358E1C4-E1DC-9860-A1C5-79F492F19D6A}"/>
              </a:ext>
            </a:extLst>
          </p:cNvPr>
          <p:cNvPicPr>
            <a:picLocks noChangeAspect="1"/>
          </p:cNvPicPr>
          <p:nvPr/>
        </p:nvPicPr>
        <p:blipFill>
          <a:blip r:embed="rId7"/>
          <a:srcRect l="7670" t="6213" r="7652" b="6977"/>
          <a:stretch/>
        </p:blipFill>
        <p:spPr>
          <a:xfrm>
            <a:off x="344614" y="1178949"/>
            <a:ext cx="3600000" cy="4611366"/>
          </a:xfrm>
          <a:prstGeom prst="rect">
            <a:avLst/>
          </a:prstGeom>
          <a:ln>
            <a:solidFill>
              <a:srgbClr val="7C4D80"/>
            </a:solidFill>
          </a:ln>
          <a:effectLst/>
        </p:spPr>
      </p:pic>
    </p:spTree>
    <p:extLst>
      <p:ext uri="{BB962C8B-B14F-4D97-AF65-F5344CB8AC3E}">
        <p14:creationId xmlns:p14="http://schemas.microsoft.com/office/powerpoint/2010/main" val="1695138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AE1B7-A8BD-6C5B-1407-F0C495D768DD}"/>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72DC9458-A1B5-3B23-8F3B-BF50CE1BFA32}"/>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4.3. Publicación del Programa de Implementación de la PEA</a:t>
            </a:r>
          </a:p>
        </p:txBody>
      </p:sp>
      <p:sp>
        <p:nvSpPr>
          <p:cNvPr id="37" name="CuadroTexto 36">
            <a:extLst>
              <a:ext uri="{FF2B5EF4-FFF2-40B4-BE49-F238E27FC236}">
                <a16:creationId xmlns:a16="http://schemas.microsoft.com/office/drawing/2014/main" id="{2A00D5E5-E70C-C928-58CF-99A5D2C8CE90}"/>
              </a:ext>
            </a:extLst>
          </p:cNvPr>
          <p:cNvSpPr txBox="1"/>
          <p:nvPr/>
        </p:nvSpPr>
        <p:spPr>
          <a:xfrm>
            <a:off x="332366" y="6240519"/>
            <a:ext cx="11520000"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Programa de Implementación de la Política Estatal Anticorrupción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https://sesaech.gob.mx/views/docs/normatividad/publicaciones-del-comite-coordinador/publicacion-en-el-periodico-pi-pea.pdf</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endParaRPr lang="es-MX" sz="1200" b="1" kern="0" dirty="0">
              <a:solidFill>
                <a:schemeClr val="tx1">
                  <a:lumMod val="75000"/>
                  <a:lumOff val="25000"/>
                </a:schemeClr>
              </a:solidFill>
              <a:latin typeface="Montserrat" panose="00000500000000000000" pitchFamily="2" charset="0"/>
              <a:cs typeface="Segoe UI" panose="020B0502040204020203" pitchFamily="34" charset="0"/>
            </a:endParaRPr>
          </a:p>
        </p:txBody>
      </p:sp>
      <p:sp>
        <p:nvSpPr>
          <p:cNvPr id="2" name="CuadroTexto 1">
            <a:extLst>
              <a:ext uri="{FF2B5EF4-FFF2-40B4-BE49-F238E27FC236}">
                <a16:creationId xmlns:a16="http://schemas.microsoft.com/office/drawing/2014/main" id="{9D977F72-11A2-931C-503B-521D991B0F40}"/>
              </a:ext>
            </a:extLst>
          </p:cNvPr>
          <p:cNvSpPr txBox="1"/>
          <p:nvPr/>
        </p:nvSpPr>
        <p:spPr>
          <a:xfrm>
            <a:off x="6096000" y="2831395"/>
            <a:ext cx="5756366" cy="1200329"/>
          </a:xfrm>
          <a:prstGeom prst="rect">
            <a:avLst/>
          </a:prstGeom>
          <a:noFill/>
        </p:spPr>
        <p:txBody>
          <a:bodyPr wrap="square" rtlCol="0">
            <a:spAutoFit/>
          </a:bodyPr>
          <a:lstStyle/>
          <a:p>
            <a:pPr algn="ctr">
              <a:spcAft>
                <a:spcPts val="1000"/>
              </a:spcAft>
            </a:pPr>
            <a:r>
              <a:rPr lang="es-MX" sz="2400" kern="0" dirty="0">
                <a:solidFill>
                  <a:schemeClr val="tx1">
                    <a:lumMod val="75000"/>
                    <a:lumOff val="25000"/>
                  </a:schemeClr>
                </a:solidFill>
                <a:latin typeface="Montserrat" panose="00000500000000000000" pitchFamily="2" charset="0"/>
                <a:cs typeface="Segoe UI" panose="020B0502040204020203" pitchFamily="34" charset="0"/>
              </a:rPr>
              <a:t>El </a:t>
            </a:r>
            <a:r>
              <a:rPr lang="es-MX" sz="2400" b="1" kern="0" dirty="0">
                <a:solidFill>
                  <a:schemeClr val="tx1">
                    <a:lumMod val="75000"/>
                    <a:lumOff val="25000"/>
                  </a:schemeClr>
                </a:solidFill>
                <a:latin typeface="Montserrat" panose="00000500000000000000" pitchFamily="2" charset="0"/>
                <a:cs typeface="Segoe UI" panose="020B0502040204020203" pitchFamily="34" charset="0"/>
              </a:rPr>
              <a:t>26 de junio de 2024</a:t>
            </a:r>
            <a:r>
              <a:rPr lang="es-MX" sz="2400" kern="0" dirty="0">
                <a:solidFill>
                  <a:schemeClr val="tx1">
                    <a:lumMod val="75000"/>
                    <a:lumOff val="25000"/>
                  </a:schemeClr>
                </a:solidFill>
                <a:latin typeface="Montserrat" panose="00000500000000000000" pitchFamily="2" charset="0"/>
                <a:cs typeface="Segoe UI" panose="020B0502040204020203" pitchFamily="34" charset="0"/>
              </a:rPr>
              <a:t> se publicó en el </a:t>
            </a:r>
            <a:r>
              <a:rPr lang="es-MX" sz="2400" b="1" kern="0" dirty="0">
                <a:solidFill>
                  <a:schemeClr val="tx1">
                    <a:lumMod val="75000"/>
                    <a:lumOff val="25000"/>
                  </a:schemeClr>
                </a:solidFill>
                <a:latin typeface="Montserrat" panose="00000500000000000000" pitchFamily="2" charset="0"/>
                <a:cs typeface="Segoe UI" panose="020B0502040204020203" pitchFamily="34" charset="0"/>
              </a:rPr>
              <a:t>Periódico Oficial número 352</a:t>
            </a:r>
            <a:r>
              <a:rPr lang="es-MX" sz="2400" kern="0" dirty="0">
                <a:solidFill>
                  <a:schemeClr val="tx1">
                    <a:lumMod val="75000"/>
                    <a:lumOff val="25000"/>
                  </a:schemeClr>
                </a:solidFill>
                <a:latin typeface="Montserrat" panose="00000500000000000000" pitchFamily="2" charset="0"/>
                <a:cs typeface="Segoe UI" panose="020B0502040204020203" pitchFamily="34" charset="0"/>
              </a:rPr>
              <a:t>, Pub. No. 5389-A-2024</a:t>
            </a:r>
          </a:p>
        </p:txBody>
      </p:sp>
      <p:pic>
        <p:nvPicPr>
          <p:cNvPr id="8" name="Imagen 7">
            <a:extLst>
              <a:ext uri="{FF2B5EF4-FFF2-40B4-BE49-F238E27FC236}">
                <a16:creationId xmlns:a16="http://schemas.microsoft.com/office/drawing/2014/main" id="{28867565-B41B-FC5B-000B-B1F2C813674A}"/>
              </a:ext>
            </a:extLst>
          </p:cNvPr>
          <p:cNvPicPr>
            <a:picLocks noChangeAspect="1"/>
          </p:cNvPicPr>
          <p:nvPr/>
        </p:nvPicPr>
        <p:blipFill>
          <a:blip r:embed="rId3"/>
          <a:stretch>
            <a:fillRect/>
          </a:stretch>
        </p:blipFill>
        <p:spPr>
          <a:xfrm>
            <a:off x="1285601" y="914440"/>
            <a:ext cx="3872978" cy="5040000"/>
          </a:xfrm>
          <a:prstGeom prst="rect">
            <a:avLst/>
          </a:prstGeom>
          <a:ln>
            <a:solidFill>
              <a:schemeClr val="bg2">
                <a:lumMod val="25000"/>
              </a:schemeClr>
            </a:solidFill>
          </a:ln>
          <a:effectLst/>
        </p:spPr>
      </p:pic>
    </p:spTree>
    <p:extLst>
      <p:ext uri="{BB962C8B-B14F-4D97-AF65-F5344CB8AC3E}">
        <p14:creationId xmlns:p14="http://schemas.microsoft.com/office/powerpoint/2010/main" val="2370142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D5683-AEE2-2F62-5499-37A90D8DE455}"/>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7415BF82-27A7-B877-9DB0-F27793CEB7A3}"/>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Organismos Implementadores</a:t>
            </a:r>
          </a:p>
        </p:txBody>
      </p:sp>
      <p:sp>
        <p:nvSpPr>
          <p:cNvPr id="37" name="CuadroTexto 36">
            <a:extLst>
              <a:ext uri="{FF2B5EF4-FFF2-40B4-BE49-F238E27FC236}">
                <a16:creationId xmlns:a16="http://schemas.microsoft.com/office/drawing/2014/main" id="{F6D6639A-8A02-A521-F91E-DB7342562A02}"/>
              </a:ext>
            </a:extLst>
          </p:cNvPr>
          <p:cNvSpPr txBox="1"/>
          <p:nvPr/>
        </p:nvSpPr>
        <p:spPr>
          <a:xfrm>
            <a:off x="332366" y="6240519"/>
            <a:ext cx="11520000"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Programa de Implementación de la Política Estatal Anticorrupción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https://sesaech.gob.mx/views/docs/normatividad/publicaciones-del-comite-coordinador/publicacion-en-el-periodico-pi-pea.pdf</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endParaRPr lang="es-MX" sz="1200" b="1" kern="0" dirty="0">
              <a:solidFill>
                <a:schemeClr val="tx1">
                  <a:lumMod val="75000"/>
                  <a:lumOff val="25000"/>
                </a:schemeClr>
              </a:solidFill>
              <a:latin typeface="Montserrat" panose="00000500000000000000" pitchFamily="2" charset="0"/>
              <a:cs typeface="Segoe UI" panose="020B0502040204020203" pitchFamily="34" charset="0"/>
            </a:endParaRPr>
          </a:p>
        </p:txBody>
      </p:sp>
      <p:sp>
        <p:nvSpPr>
          <p:cNvPr id="5" name="Rectángulo: esquinas redondeadas 4">
            <a:extLst>
              <a:ext uri="{FF2B5EF4-FFF2-40B4-BE49-F238E27FC236}">
                <a16:creationId xmlns:a16="http://schemas.microsoft.com/office/drawing/2014/main" id="{7394B67B-335E-A6D7-0CA2-901A9B7B87CE}"/>
              </a:ext>
            </a:extLst>
          </p:cNvPr>
          <p:cNvSpPr/>
          <p:nvPr/>
        </p:nvSpPr>
        <p:spPr>
          <a:xfrm>
            <a:off x="1165860" y="937260"/>
            <a:ext cx="4680000" cy="720000"/>
          </a:xfrm>
          <a:prstGeom prst="roundRect">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C31E72"/>
                </a:solidFill>
                <a:latin typeface="Montserrat" panose="00000500000000000000" pitchFamily="2" charset="0"/>
              </a:rPr>
              <a:t>Auditoría Superior del Estado de Chiapas (ASECH)</a:t>
            </a:r>
          </a:p>
        </p:txBody>
      </p:sp>
      <p:sp>
        <p:nvSpPr>
          <p:cNvPr id="6" name="Rectángulo: esquinas redondeadas 5">
            <a:extLst>
              <a:ext uri="{FF2B5EF4-FFF2-40B4-BE49-F238E27FC236}">
                <a16:creationId xmlns:a16="http://schemas.microsoft.com/office/drawing/2014/main" id="{1ABF54FE-5F4F-4843-A739-89D1C7BDD22A}"/>
              </a:ext>
            </a:extLst>
          </p:cNvPr>
          <p:cNvSpPr/>
          <p:nvPr/>
        </p:nvSpPr>
        <p:spPr>
          <a:xfrm>
            <a:off x="1165860" y="1766179"/>
            <a:ext cx="4680000" cy="720000"/>
          </a:xfrm>
          <a:prstGeom prst="roundRect">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009885"/>
                </a:solidFill>
                <a:latin typeface="Montserrat" panose="00000500000000000000" pitchFamily="2" charset="0"/>
              </a:rPr>
              <a:t>Instituto de Transparencia, Acceso a la Información y Protección de Datos Personales (ITAIPCH)</a:t>
            </a:r>
          </a:p>
        </p:txBody>
      </p:sp>
      <p:sp>
        <p:nvSpPr>
          <p:cNvPr id="9" name="Elipse 8">
            <a:extLst>
              <a:ext uri="{FF2B5EF4-FFF2-40B4-BE49-F238E27FC236}">
                <a16:creationId xmlns:a16="http://schemas.microsoft.com/office/drawing/2014/main" id="{68209859-8567-AAE6-EB14-9665BDD3C2BC}"/>
              </a:ext>
            </a:extLst>
          </p:cNvPr>
          <p:cNvSpPr/>
          <p:nvPr/>
        </p:nvSpPr>
        <p:spPr>
          <a:xfrm>
            <a:off x="342900" y="930884"/>
            <a:ext cx="720000" cy="720000"/>
          </a:xfrm>
          <a:prstGeom prst="ellipse">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C31E72"/>
                </a:solidFill>
                <a:latin typeface="Montserrat" panose="00000500000000000000" pitchFamily="2" charset="0"/>
              </a:rPr>
              <a:t>01</a:t>
            </a:r>
          </a:p>
        </p:txBody>
      </p:sp>
      <p:sp>
        <p:nvSpPr>
          <p:cNvPr id="10" name="Elipse 9">
            <a:extLst>
              <a:ext uri="{FF2B5EF4-FFF2-40B4-BE49-F238E27FC236}">
                <a16:creationId xmlns:a16="http://schemas.microsoft.com/office/drawing/2014/main" id="{9BE67EFF-34C7-EE00-C8FC-EE17FE976EFE}"/>
              </a:ext>
            </a:extLst>
          </p:cNvPr>
          <p:cNvSpPr/>
          <p:nvPr/>
        </p:nvSpPr>
        <p:spPr>
          <a:xfrm>
            <a:off x="382860" y="1766179"/>
            <a:ext cx="720000" cy="720000"/>
          </a:xfrm>
          <a:prstGeom prst="ellipse">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009885"/>
                </a:solidFill>
                <a:latin typeface="Montserrat" panose="00000500000000000000" pitchFamily="2" charset="0"/>
              </a:rPr>
              <a:t>02</a:t>
            </a:r>
          </a:p>
        </p:txBody>
      </p:sp>
      <p:sp>
        <p:nvSpPr>
          <p:cNvPr id="11" name="Rectángulo: esquinas redondeadas 10">
            <a:extLst>
              <a:ext uri="{FF2B5EF4-FFF2-40B4-BE49-F238E27FC236}">
                <a16:creationId xmlns:a16="http://schemas.microsoft.com/office/drawing/2014/main" id="{9B6B35E7-5549-BF0A-6AC1-BE539DE2BD77}"/>
              </a:ext>
            </a:extLst>
          </p:cNvPr>
          <p:cNvSpPr/>
          <p:nvPr/>
        </p:nvSpPr>
        <p:spPr>
          <a:xfrm>
            <a:off x="1165860" y="2607850"/>
            <a:ext cx="4680000" cy="720000"/>
          </a:xfrm>
          <a:prstGeom prst="roundRect">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C31E72"/>
                </a:solidFill>
                <a:latin typeface="Montserrat" panose="00000500000000000000" pitchFamily="2" charset="0"/>
              </a:rPr>
              <a:t>Fiscalía de Combate a la Corrupción</a:t>
            </a:r>
          </a:p>
          <a:p>
            <a:pPr algn="ctr"/>
            <a:r>
              <a:rPr lang="es-MX" sz="1400" b="1" dirty="0">
                <a:solidFill>
                  <a:srgbClr val="C31E72"/>
                </a:solidFill>
                <a:latin typeface="Montserrat" panose="00000500000000000000" pitchFamily="2" charset="0"/>
              </a:rPr>
              <a:t>(FCC)</a:t>
            </a:r>
          </a:p>
        </p:txBody>
      </p:sp>
      <p:sp>
        <p:nvSpPr>
          <p:cNvPr id="12" name="Rectángulo: esquinas redondeadas 11">
            <a:extLst>
              <a:ext uri="{FF2B5EF4-FFF2-40B4-BE49-F238E27FC236}">
                <a16:creationId xmlns:a16="http://schemas.microsoft.com/office/drawing/2014/main" id="{530CF28F-17FC-6F6B-BAB2-AD8D476FF083}"/>
              </a:ext>
            </a:extLst>
          </p:cNvPr>
          <p:cNvSpPr/>
          <p:nvPr/>
        </p:nvSpPr>
        <p:spPr>
          <a:xfrm>
            <a:off x="1165860" y="3436769"/>
            <a:ext cx="4680000" cy="720000"/>
          </a:xfrm>
          <a:prstGeom prst="roundRect">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009885"/>
                </a:solidFill>
                <a:latin typeface="Montserrat" panose="00000500000000000000" pitchFamily="2" charset="0"/>
              </a:rPr>
              <a:t>Secretaría Anticorrupción y Buen Gobierno (SAyBG)</a:t>
            </a:r>
          </a:p>
        </p:txBody>
      </p:sp>
      <p:sp>
        <p:nvSpPr>
          <p:cNvPr id="13" name="Elipse 12">
            <a:extLst>
              <a:ext uri="{FF2B5EF4-FFF2-40B4-BE49-F238E27FC236}">
                <a16:creationId xmlns:a16="http://schemas.microsoft.com/office/drawing/2014/main" id="{31C9BD9D-0C58-B356-A562-643D1719145B}"/>
              </a:ext>
            </a:extLst>
          </p:cNvPr>
          <p:cNvSpPr/>
          <p:nvPr/>
        </p:nvSpPr>
        <p:spPr>
          <a:xfrm>
            <a:off x="342900" y="2601474"/>
            <a:ext cx="720000" cy="720000"/>
          </a:xfrm>
          <a:prstGeom prst="ellipse">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C31E72"/>
                </a:solidFill>
                <a:latin typeface="Montserrat" panose="00000500000000000000" pitchFamily="2" charset="0"/>
              </a:rPr>
              <a:t>03</a:t>
            </a:r>
          </a:p>
        </p:txBody>
      </p:sp>
      <p:sp>
        <p:nvSpPr>
          <p:cNvPr id="14" name="Elipse 13">
            <a:extLst>
              <a:ext uri="{FF2B5EF4-FFF2-40B4-BE49-F238E27FC236}">
                <a16:creationId xmlns:a16="http://schemas.microsoft.com/office/drawing/2014/main" id="{A44ECF6B-49E4-8991-0BAF-E73036DB8B26}"/>
              </a:ext>
            </a:extLst>
          </p:cNvPr>
          <p:cNvSpPr/>
          <p:nvPr/>
        </p:nvSpPr>
        <p:spPr>
          <a:xfrm>
            <a:off x="382860" y="3436769"/>
            <a:ext cx="720000" cy="720000"/>
          </a:xfrm>
          <a:prstGeom prst="ellipse">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009885"/>
                </a:solidFill>
                <a:latin typeface="Montserrat" panose="00000500000000000000" pitchFamily="2" charset="0"/>
              </a:rPr>
              <a:t>04</a:t>
            </a:r>
          </a:p>
        </p:txBody>
      </p:sp>
      <p:sp>
        <p:nvSpPr>
          <p:cNvPr id="15" name="Rectángulo: esquinas redondeadas 14">
            <a:extLst>
              <a:ext uri="{FF2B5EF4-FFF2-40B4-BE49-F238E27FC236}">
                <a16:creationId xmlns:a16="http://schemas.microsoft.com/office/drawing/2014/main" id="{743E7EA9-EB9B-594D-C883-4E23CFB7F176}"/>
              </a:ext>
            </a:extLst>
          </p:cNvPr>
          <p:cNvSpPr/>
          <p:nvPr/>
        </p:nvSpPr>
        <p:spPr>
          <a:xfrm>
            <a:off x="1165860" y="4268737"/>
            <a:ext cx="4680000" cy="720000"/>
          </a:xfrm>
          <a:prstGeom prst="roundRect">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C31E72"/>
                </a:solidFill>
                <a:latin typeface="Montserrat" panose="00000500000000000000" pitchFamily="2" charset="0"/>
              </a:rPr>
              <a:t>Consejo de la Judicatura del Poder Judicial del Estado de Chiapas</a:t>
            </a:r>
          </a:p>
          <a:p>
            <a:pPr algn="ctr"/>
            <a:r>
              <a:rPr lang="es-MX" sz="1400" b="1" dirty="0">
                <a:solidFill>
                  <a:srgbClr val="C31E72"/>
                </a:solidFill>
                <a:latin typeface="Montserrat" panose="00000500000000000000" pitchFamily="2" charset="0"/>
              </a:rPr>
              <a:t>(CJPJECH)</a:t>
            </a:r>
          </a:p>
        </p:txBody>
      </p:sp>
      <p:sp>
        <p:nvSpPr>
          <p:cNvPr id="16" name="Rectángulo: esquinas redondeadas 15">
            <a:extLst>
              <a:ext uri="{FF2B5EF4-FFF2-40B4-BE49-F238E27FC236}">
                <a16:creationId xmlns:a16="http://schemas.microsoft.com/office/drawing/2014/main" id="{9590495A-13BB-6E38-D493-3778BD1CAEEA}"/>
              </a:ext>
            </a:extLst>
          </p:cNvPr>
          <p:cNvSpPr/>
          <p:nvPr/>
        </p:nvSpPr>
        <p:spPr>
          <a:xfrm>
            <a:off x="1165860" y="5097656"/>
            <a:ext cx="4680000" cy="720000"/>
          </a:xfrm>
          <a:prstGeom prst="roundRect">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009885"/>
                </a:solidFill>
                <a:latin typeface="Montserrat" panose="00000500000000000000" pitchFamily="2" charset="0"/>
              </a:rPr>
              <a:t>Tribunal Administrativo del Poder Judicial del Estado de Chiapas</a:t>
            </a:r>
          </a:p>
          <a:p>
            <a:pPr algn="ctr"/>
            <a:r>
              <a:rPr lang="es-MX" sz="1400" b="1" dirty="0">
                <a:solidFill>
                  <a:srgbClr val="009885"/>
                </a:solidFill>
                <a:latin typeface="Montserrat" panose="00000500000000000000" pitchFamily="2" charset="0"/>
              </a:rPr>
              <a:t>(TAPJECH)</a:t>
            </a:r>
          </a:p>
        </p:txBody>
      </p:sp>
      <p:sp>
        <p:nvSpPr>
          <p:cNvPr id="17" name="Elipse 16">
            <a:extLst>
              <a:ext uri="{FF2B5EF4-FFF2-40B4-BE49-F238E27FC236}">
                <a16:creationId xmlns:a16="http://schemas.microsoft.com/office/drawing/2014/main" id="{AEAFE05A-60AD-2AFD-4158-6C63CFA7FDDF}"/>
              </a:ext>
            </a:extLst>
          </p:cNvPr>
          <p:cNvSpPr/>
          <p:nvPr/>
        </p:nvSpPr>
        <p:spPr>
          <a:xfrm>
            <a:off x="342900" y="4262361"/>
            <a:ext cx="720000" cy="720000"/>
          </a:xfrm>
          <a:prstGeom prst="ellipse">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C31E72"/>
                </a:solidFill>
                <a:latin typeface="Montserrat" panose="00000500000000000000" pitchFamily="2" charset="0"/>
              </a:rPr>
              <a:t>05</a:t>
            </a:r>
          </a:p>
        </p:txBody>
      </p:sp>
      <p:sp>
        <p:nvSpPr>
          <p:cNvPr id="18" name="Elipse 17">
            <a:extLst>
              <a:ext uri="{FF2B5EF4-FFF2-40B4-BE49-F238E27FC236}">
                <a16:creationId xmlns:a16="http://schemas.microsoft.com/office/drawing/2014/main" id="{C50CB802-414D-196E-A52C-D3DC72F5290D}"/>
              </a:ext>
            </a:extLst>
          </p:cNvPr>
          <p:cNvSpPr/>
          <p:nvPr/>
        </p:nvSpPr>
        <p:spPr>
          <a:xfrm>
            <a:off x="382860" y="5097656"/>
            <a:ext cx="720000" cy="720000"/>
          </a:xfrm>
          <a:prstGeom prst="ellipse">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009885"/>
                </a:solidFill>
                <a:latin typeface="Montserrat" panose="00000500000000000000" pitchFamily="2" charset="0"/>
              </a:rPr>
              <a:t>06</a:t>
            </a:r>
          </a:p>
        </p:txBody>
      </p:sp>
      <p:sp>
        <p:nvSpPr>
          <p:cNvPr id="19" name="Rectángulo: esquinas redondeadas 18">
            <a:extLst>
              <a:ext uri="{FF2B5EF4-FFF2-40B4-BE49-F238E27FC236}">
                <a16:creationId xmlns:a16="http://schemas.microsoft.com/office/drawing/2014/main" id="{0CCA814D-2C60-E180-32CC-B03D99B27DD1}"/>
              </a:ext>
            </a:extLst>
          </p:cNvPr>
          <p:cNvSpPr/>
          <p:nvPr/>
        </p:nvSpPr>
        <p:spPr>
          <a:xfrm>
            <a:off x="7173908" y="921065"/>
            <a:ext cx="4680000" cy="720000"/>
          </a:xfrm>
          <a:prstGeom prst="roundRect">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C31E72"/>
                </a:solidFill>
                <a:latin typeface="Montserrat" panose="00000500000000000000" pitchFamily="2" charset="0"/>
              </a:rPr>
              <a:t>Secretaría General de Gobierno y Mediación (</a:t>
            </a:r>
            <a:r>
              <a:rPr lang="es-MX" sz="1400" b="1" dirty="0" err="1">
                <a:solidFill>
                  <a:srgbClr val="C31E72"/>
                </a:solidFill>
                <a:latin typeface="Montserrat" panose="00000500000000000000" pitchFamily="2" charset="0"/>
              </a:rPr>
              <a:t>SGGyM</a:t>
            </a:r>
            <a:r>
              <a:rPr lang="es-MX" sz="1400" b="1" dirty="0">
                <a:solidFill>
                  <a:srgbClr val="C31E72"/>
                </a:solidFill>
                <a:latin typeface="Montserrat" panose="00000500000000000000" pitchFamily="2" charset="0"/>
              </a:rPr>
              <a:t>)</a:t>
            </a:r>
          </a:p>
        </p:txBody>
      </p:sp>
      <p:sp>
        <p:nvSpPr>
          <p:cNvPr id="20" name="Rectángulo: esquinas redondeadas 19">
            <a:extLst>
              <a:ext uri="{FF2B5EF4-FFF2-40B4-BE49-F238E27FC236}">
                <a16:creationId xmlns:a16="http://schemas.microsoft.com/office/drawing/2014/main" id="{E3E85155-1203-76D4-2DED-CFC42052865E}"/>
              </a:ext>
            </a:extLst>
          </p:cNvPr>
          <p:cNvSpPr/>
          <p:nvPr/>
        </p:nvSpPr>
        <p:spPr>
          <a:xfrm>
            <a:off x="7173908" y="1749984"/>
            <a:ext cx="4680000" cy="720000"/>
          </a:xfrm>
          <a:prstGeom prst="roundRect">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009885"/>
                </a:solidFill>
                <a:latin typeface="Montserrat" panose="00000500000000000000" pitchFamily="2" charset="0"/>
              </a:rPr>
              <a:t>Secretaría de Finanzas</a:t>
            </a:r>
          </a:p>
          <a:p>
            <a:pPr algn="ctr"/>
            <a:r>
              <a:rPr lang="es-MX" sz="1400" b="1" dirty="0">
                <a:solidFill>
                  <a:srgbClr val="009885"/>
                </a:solidFill>
                <a:latin typeface="Montserrat" panose="00000500000000000000" pitchFamily="2" charset="0"/>
              </a:rPr>
              <a:t>(SF)</a:t>
            </a:r>
          </a:p>
        </p:txBody>
      </p:sp>
      <p:sp>
        <p:nvSpPr>
          <p:cNvPr id="21" name="Elipse 20">
            <a:extLst>
              <a:ext uri="{FF2B5EF4-FFF2-40B4-BE49-F238E27FC236}">
                <a16:creationId xmlns:a16="http://schemas.microsoft.com/office/drawing/2014/main" id="{2285A722-4B7B-9A35-F598-6DF9F89FDA87}"/>
              </a:ext>
            </a:extLst>
          </p:cNvPr>
          <p:cNvSpPr/>
          <p:nvPr/>
        </p:nvSpPr>
        <p:spPr>
          <a:xfrm>
            <a:off x="6350948" y="914689"/>
            <a:ext cx="720000" cy="720000"/>
          </a:xfrm>
          <a:prstGeom prst="ellipse">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C31E72"/>
                </a:solidFill>
                <a:latin typeface="Montserrat" panose="00000500000000000000" pitchFamily="2" charset="0"/>
              </a:rPr>
              <a:t>07</a:t>
            </a:r>
          </a:p>
        </p:txBody>
      </p:sp>
      <p:sp>
        <p:nvSpPr>
          <p:cNvPr id="22" name="Elipse 21">
            <a:extLst>
              <a:ext uri="{FF2B5EF4-FFF2-40B4-BE49-F238E27FC236}">
                <a16:creationId xmlns:a16="http://schemas.microsoft.com/office/drawing/2014/main" id="{2F5D2B81-96A9-57D4-F2DE-1836B60F0029}"/>
              </a:ext>
            </a:extLst>
          </p:cNvPr>
          <p:cNvSpPr/>
          <p:nvPr/>
        </p:nvSpPr>
        <p:spPr>
          <a:xfrm>
            <a:off x="6390908" y="1749984"/>
            <a:ext cx="720000" cy="720000"/>
          </a:xfrm>
          <a:prstGeom prst="ellipse">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009885"/>
                </a:solidFill>
                <a:latin typeface="Montserrat" panose="00000500000000000000" pitchFamily="2" charset="0"/>
              </a:rPr>
              <a:t>08</a:t>
            </a:r>
          </a:p>
        </p:txBody>
      </p:sp>
      <p:sp>
        <p:nvSpPr>
          <p:cNvPr id="23" name="Rectángulo: esquinas redondeadas 22">
            <a:extLst>
              <a:ext uri="{FF2B5EF4-FFF2-40B4-BE49-F238E27FC236}">
                <a16:creationId xmlns:a16="http://schemas.microsoft.com/office/drawing/2014/main" id="{FCF1EFCD-3264-6304-CE3A-894711B87078}"/>
              </a:ext>
            </a:extLst>
          </p:cNvPr>
          <p:cNvSpPr/>
          <p:nvPr/>
        </p:nvSpPr>
        <p:spPr>
          <a:xfrm>
            <a:off x="7173908" y="2591655"/>
            <a:ext cx="4680000" cy="720000"/>
          </a:xfrm>
          <a:prstGeom prst="roundRect">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C31E72"/>
                </a:solidFill>
                <a:latin typeface="Montserrat" panose="00000500000000000000" pitchFamily="2" charset="0"/>
              </a:rPr>
              <a:t>Comisión Estatal de Mejora Regulatoria (COESMER)</a:t>
            </a:r>
          </a:p>
        </p:txBody>
      </p:sp>
      <p:sp>
        <p:nvSpPr>
          <p:cNvPr id="24" name="Rectángulo: esquinas redondeadas 23">
            <a:extLst>
              <a:ext uri="{FF2B5EF4-FFF2-40B4-BE49-F238E27FC236}">
                <a16:creationId xmlns:a16="http://schemas.microsoft.com/office/drawing/2014/main" id="{78587AAC-3FA3-E385-97BE-A4A1D0342B2F}"/>
              </a:ext>
            </a:extLst>
          </p:cNvPr>
          <p:cNvSpPr/>
          <p:nvPr/>
        </p:nvSpPr>
        <p:spPr>
          <a:xfrm>
            <a:off x="7173908" y="3420574"/>
            <a:ext cx="4680000" cy="720000"/>
          </a:xfrm>
          <a:prstGeom prst="roundRect">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009885"/>
                </a:solidFill>
                <a:latin typeface="Montserrat" panose="00000500000000000000" pitchFamily="2" charset="0"/>
              </a:rPr>
              <a:t>Secretaría de Infraestructura</a:t>
            </a:r>
          </a:p>
          <a:p>
            <a:pPr algn="ctr"/>
            <a:r>
              <a:rPr lang="es-MX" sz="1400" b="1" dirty="0">
                <a:solidFill>
                  <a:srgbClr val="009885"/>
                </a:solidFill>
                <a:latin typeface="Montserrat" panose="00000500000000000000" pitchFamily="2" charset="0"/>
              </a:rPr>
              <a:t>(SEINFRA)</a:t>
            </a:r>
          </a:p>
        </p:txBody>
      </p:sp>
      <p:sp>
        <p:nvSpPr>
          <p:cNvPr id="25" name="Elipse 24">
            <a:extLst>
              <a:ext uri="{FF2B5EF4-FFF2-40B4-BE49-F238E27FC236}">
                <a16:creationId xmlns:a16="http://schemas.microsoft.com/office/drawing/2014/main" id="{C75AD772-B591-6B40-75EF-6F481CFDBA1D}"/>
              </a:ext>
            </a:extLst>
          </p:cNvPr>
          <p:cNvSpPr/>
          <p:nvPr/>
        </p:nvSpPr>
        <p:spPr>
          <a:xfrm>
            <a:off x="6350948" y="2585279"/>
            <a:ext cx="720000" cy="720000"/>
          </a:xfrm>
          <a:prstGeom prst="ellipse">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C31E72"/>
                </a:solidFill>
                <a:latin typeface="Montserrat" panose="00000500000000000000" pitchFamily="2" charset="0"/>
              </a:rPr>
              <a:t>09</a:t>
            </a:r>
          </a:p>
        </p:txBody>
      </p:sp>
      <p:sp>
        <p:nvSpPr>
          <p:cNvPr id="26" name="Elipse 25">
            <a:extLst>
              <a:ext uri="{FF2B5EF4-FFF2-40B4-BE49-F238E27FC236}">
                <a16:creationId xmlns:a16="http://schemas.microsoft.com/office/drawing/2014/main" id="{C572442E-954D-DDAE-36D3-9049378EE647}"/>
              </a:ext>
            </a:extLst>
          </p:cNvPr>
          <p:cNvSpPr/>
          <p:nvPr/>
        </p:nvSpPr>
        <p:spPr>
          <a:xfrm>
            <a:off x="6390908" y="3420574"/>
            <a:ext cx="720000" cy="720000"/>
          </a:xfrm>
          <a:prstGeom prst="ellipse">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009885"/>
                </a:solidFill>
                <a:latin typeface="Montserrat" panose="00000500000000000000" pitchFamily="2" charset="0"/>
              </a:rPr>
              <a:t>10</a:t>
            </a:r>
          </a:p>
        </p:txBody>
      </p:sp>
      <p:sp>
        <p:nvSpPr>
          <p:cNvPr id="27" name="Rectángulo: esquinas redondeadas 26">
            <a:extLst>
              <a:ext uri="{FF2B5EF4-FFF2-40B4-BE49-F238E27FC236}">
                <a16:creationId xmlns:a16="http://schemas.microsoft.com/office/drawing/2014/main" id="{C8BCBDC4-D2BA-46AA-43EC-B9FDD52DE651}"/>
              </a:ext>
            </a:extLst>
          </p:cNvPr>
          <p:cNvSpPr/>
          <p:nvPr/>
        </p:nvSpPr>
        <p:spPr>
          <a:xfrm>
            <a:off x="7173908" y="4252542"/>
            <a:ext cx="4680000" cy="720000"/>
          </a:xfrm>
          <a:prstGeom prst="roundRect">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C31E72"/>
                </a:solidFill>
                <a:latin typeface="Montserrat" panose="00000500000000000000" pitchFamily="2" charset="0"/>
              </a:rPr>
              <a:t>Oficialía Mayor del Estado de Chiapas</a:t>
            </a:r>
          </a:p>
          <a:p>
            <a:pPr algn="ctr"/>
            <a:r>
              <a:rPr lang="es-MX" sz="1400" b="1" dirty="0">
                <a:solidFill>
                  <a:srgbClr val="C31E72"/>
                </a:solidFill>
                <a:latin typeface="Montserrat" panose="00000500000000000000" pitchFamily="2" charset="0"/>
              </a:rPr>
              <a:t>(OMECH)</a:t>
            </a:r>
          </a:p>
        </p:txBody>
      </p:sp>
      <p:sp>
        <p:nvSpPr>
          <p:cNvPr id="28" name="Rectángulo: esquinas redondeadas 27">
            <a:extLst>
              <a:ext uri="{FF2B5EF4-FFF2-40B4-BE49-F238E27FC236}">
                <a16:creationId xmlns:a16="http://schemas.microsoft.com/office/drawing/2014/main" id="{2514FE25-C4AA-4D06-6A81-6D11EB19F615}"/>
              </a:ext>
            </a:extLst>
          </p:cNvPr>
          <p:cNvSpPr/>
          <p:nvPr/>
        </p:nvSpPr>
        <p:spPr>
          <a:xfrm>
            <a:off x="7173908" y="5081461"/>
            <a:ext cx="4680000" cy="720000"/>
          </a:xfrm>
          <a:prstGeom prst="roundRect">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solidFill>
                  <a:srgbClr val="009885"/>
                </a:solidFill>
                <a:latin typeface="Montserrat" panose="00000500000000000000" pitchFamily="2" charset="0"/>
              </a:rPr>
              <a:t>Secretaría Ejecutiva del Sistema Anticorrupción del Estado de Chiapas (SESAECH)</a:t>
            </a:r>
          </a:p>
        </p:txBody>
      </p:sp>
      <p:sp>
        <p:nvSpPr>
          <p:cNvPr id="29" name="Elipse 28">
            <a:extLst>
              <a:ext uri="{FF2B5EF4-FFF2-40B4-BE49-F238E27FC236}">
                <a16:creationId xmlns:a16="http://schemas.microsoft.com/office/drawing/2014/main" id="{E87AA797-B155-4C34-F3C4-5B1A30BCC244}"/>
              </a:ext>
            </a:extLst>
          </p:cNvPr>
          <p:cNvSpPr/>
          <p:nvPr/>
        </p:nvSpPr>
        <p:spPr>
          <a:xfrm>
            <a:off x="6350948" y="4246166"/>
            <a:ext cx="720000" cy="720000"/>
          </a:xfrm>
          <a:prstGeom prst="ellipse">
            <a:avLst/>
          </a:prstGeom>
          <a:noFill/>
          <a:ln w="19050">
            <a:solidFill>
              <a:srgbClr val="C31E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C31E72"/>
                </a:solidFill>
                <a:latin typeface="Montserrat" panose="00000500000000000000" pitchFamily="2" charset="0"/>
              </a:rPr>
              <a:t>11</a:t>
            </a:r>
          </a:p>
        </p:txBody>
      </p:sp>
      <p:sp>
        <p:nvSpPr>
          <p:cNvPr id="30" name="Elipse 29">
            <a:extLst>
              <a:ext uri="{FF2B5EF4-FFF2-40B4-BE49-F238E27FC236}">
                <a16:creationId xmlns:a16="http://schemas.microsoft.com/office/drawing/2014/main" id="{777AE7DB-47BF-503A-2851-3D85557AC4D7}"/>
              </a:ext>
            </a:extLst>
          </p:cNvPr>
          <p:cNvSpPr/>
          <p:nvPr/>
        </p:nvSpPr>
        <p:spPr>
          <a:xfrm>
            <a:off x="6390908" y="5081461"/>
            <a:ext cx="720000" cy="720000"/>
          </a:xfrm>
          <a:prstGeom prst="ellipse">
            <a:avLst/>
          </a:prstGeom>
          <a:noFill/>
          <a:ln w="19050">
            <a:solidFill>
              <a:srgbClr val="0098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rgbClr val="009885"/>
                </a:solidFill>
                <a:latin typeface="Montserrat" panose="00000500000000000000" pitchFamily="2" charset="0"/>
              </a:rPr>
              <a:t>12</a:t>
            </a:r>
          </a:p>
        </p:txBody>
      </p:sp>
    </p:spTree>
    <p:extLst>
      <p:ext uri="{BB962C8B-B14F-4D97-AF65-F5344CB8AC3E}">
        <p14:creationId xmlns:p14="http://schemas.microsoft.com/office/powerpoint/2010/main" val="1175183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828E0-B190-D49E-F6DC-1300C354702A}"/>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411CD1E2-6C50-0665-245F-EAA3271B5700}"/>
              </a:ext>
            </a:extLst>
          </p:cNvPr>
          <p:cNvSpPr txBox="1"/>
          <p:nvPr/>
        </p:nvSpPr>
        <p:spPr>
          <a:xfrm>
            <a:off x="348341" y="174167"/>
            <a:ext cx="11504025" cy="477054"/>
          </a:xfrm>
          <a:prstGeom prst="rect">
            <a:avLst/>
          </a:prstGeom>
          <a:noFill/>
        </p:spPr>
        <p:txBody>
          <a:bodyPr wrap="square" rtlCol="0">
            <a:spAutoFit/>
          </a:bodyPr>
          <a:lstStyle/>
          <a:p>
            <a:pPr algn="just"/>
            <a:r>
              <a:rPr lang="es-MX" sz="2500" b="1" dirty="0">
                <a:latin typeface="Montserrat" panose="00000500000000000000" pitchFamily="50" charset="0"/>
              </a:rPr>
              <a:t>Anexo Transversal Anticorrupción</a:t>
            </a:r>
          </a:p>
        </p:txBody>
      </p:sp>
      <p:sp>
        <p:nvSpPr>
          <p:cNvPr id="37" name="CuadroTexto 36">
            <a:extLst>
              <a:ext uri="{FF2B5EF4-FFF2-40B4-BE49-F238E27FC236}">
                <a16:creationId xmlns:a16="http://schemas.microsoft.com/office/drawing/2014/main" id="{A5EA0BDD-7911-F161-EA72-BD2F0CE05ADA}"/>
              </a:ext>
            </a:extLst>
          </p:cNvPr>
          <p:cNvSpPr txBox="1"/>
          <p:nvPr/>
        </p:nvSpPr>
        <p:spPr>
          <a:xfrm>
            <a:off x="332366" y="6240519"/>
            <a:ext cx="11520000" cy="461665"/>
          </a:xfrm>
          <a:prstGeom prst="rect">
            <a:avLst/>
          </a:prstGeom>
          <a:noFill/>
        </p:spPr>
        <p:txBody>
          <a:bodyPr wrap="square" rtlCol="0">
            <a:spAutoFit/>
          </a:bodyPr>
          <a:lstStyle/>
          <a:p>
            <a:pPr algn="just"/>
            <a:r>
              <a:rPr lang="es-MX" sz="1200" b="1" kern="0" dirty="0">
                <a:solidFill>
                  <a:schemeClr val="tx1">
                    <a:lumMod val="75000"/>
                    <a:lumOff val="25000"/>
                  </a:schemeClr>
                </a:solidFill>
                <a:latin typeface="Montserrat" panose="00000500000000000000" pitchFamily="2" charset="0"/>
                <a:cs typeface="Segoe UI" panose="020B0502040204020203" pitchFamily="34" charset="0"/>
              </a:rPr>
              <a:t>Programa de Implementación de la Política Estatal Anticorrupción</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disponible en:</a:t>
            </a:r>
          </a:p>
          <a:p>
            <a:pPr algn="just"/>
            <a:r>
              <a:rPr lang="es-MX" sz="1200" kern="0" dirty="0">
                <a:solidFill>
                  <a:schemeClr val="tx1">
                    <a:lumMod val="75000"/>
                    <a:lumOff val="25000"/>
                  </a:schemeClr>
                </a:solidFill>
                <a:latin typeface="Montserrat" panose="00000500000000000000" pitchFamily="2" charset="0"/>
                <a:cs typeface="Segoe UI" panose="020B0502040204020203" pitchFamily="34" charset="0"/>
                <a:hlinkClick r:id="rId2"/>
              </a:rPr>
              <a:t>https://sesaech.gob.mx/politica-estatal-anticorrupcion/documento-pi-pea</a:t>
            </a:r>
            <a:r>
              <a:rPr lang="es-MX" sz="1200" kern="0" dirty="0">
                <a:solidFill>
                  <a:schemeClr val="tx1">
                    <a:lumMod val="75000"/>
                    <a:lumOff val="25000"/>
                  </a:schemeClr>
                </a:solidFill>
                <a:latin typeface="Montserrat" panose="00000500000000000000" pitchFamily="2" charset="0"/>
                <a:cs typeface="Segoe UI" panose="020B0502040204020203" pitchFamily="34" charset="0"/>
              </a:rPr>
              <a:t> </a:t>
            </a:r>
          </a:p>
        </p:txBody>
      </p:sp>
      <p:sp>
        <p:nvSpPr>
          <p:cNvPr id="3" name="CuadroTexto 2">
            <a:extLst>
              <a:ext uri="{FF2B5EF4-FFF2-40B4-BE49-F238E27FC236}">
                <a16:creationId xmlns:a16="http://schemas.microsoft.com/office/drawing/2014/main" id="{C259407B-EE21-6506-9852-3D65928D2BC6}"/>
              </a:ext>
            </a:extLst>
          </p:cNvPr>
          <p:cNvSpPr txBox="1"/>
          <p:nvPr/>
        </p:nvSpPr>
        <p:spPr>
          <a:xfrm>
            <a:off x="5166360" y="1541610"/>
            <a:ext cx="6697170" cy="3785652"/>
          </a:xfrm>
          <a:prstGeom prst="rect">
            <a:avLst/>
          </a:prstGeom>
          <a:noFill/>
        </p:spPr>
        <p:txBody>
          <a:bodyPr wrap="square" rtlCol="0">
            <a:spAutoFit/>
          </a:bodyPr>
          <a:lstStyle/>
          <a:p>
            <a:pPr algn="just">
              <a:spcAft>
                <a:spcPts val="1200"/>
              </a:spcAft>
            </a:pPr>
            <a:r>
              <a:rPr lang="es-MX" sz="2000" kern="0" dirty="0">
                <a:solidFill>
                  <a:schemeClr val="tx1">
                    <a:lumMod val="75000"/>
                    <a:lumOff val="25000"/>
                  </a:schemeClr>
                </a:solidFill>
                <a:latin typeface="Montserrat" panose="00000500000000000000" pitchFamily="2" charset="0"/>
                <a:cs typeface="Segoe UI" panose="020B0502040204020203" pitchFamily="34" charset="0"/>
              </a:rPr>
              <a:t>El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Anexo Transversal Anticorrupción (ATA)</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es la herramienta que le da seguimiento al gasto anticorrupción relacionado con la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Política Estatal Anticorrupción</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y su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Programa de Implementación</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a:t>
            </a:r>
          </a:p>
          <a:p>
            <a:pPr algn="just">
              <a:spcAft>
                <a:spcPts val="1200"/>
              </a:spcAft>
            </a:pPr>
            <a:r>
              <a:rPr lang="es-MX" sz="2000" kern="0" dirty="0">
                <a:solidFill>
                  <a:schemeClr val="tx1">
                    <a:lumMod val="75000"/>
                    <a:lumOff val="25000"/>
                  </a:schemeClr>
                </a:solidFill>
                <a:latin typeface="Montserrat" panose="00000500000000000000" pitchFamily="2" charset="0"/>
                <a:cs typeface="Segoe UI" panose="020B0502040204020203" pitchFamily="34" charset="0"/>
              </a:rPr>
              <a:t>Esto con el fin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monitorear y transparentar</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los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recursos dedicados</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a combatir esta problemática. </a:t>
            </a:r>
          </a:p>
          <a:p>
            <a:pPr algn="just">
              <a:spcAft>
                <a:spcPts val="1200"/>
              </a:spcAft>
            </a:pPr>
            <a:r>
              <a:rPr lang="es-MX" sz="2000" kern="0" dirty="0">
                <a:solidFill>
                  <a:schemeClr val="tx1">
                    <a:lumMod val="75000"/>
                    <a:lumOff val="25000"/>
                  </a:schemeClr>
                </a:solidFill>
                <a:latin typeface="Montserrat" panose="00000500000000000000" pitchFamily="2" charset="0"/>
                <a:cs typeface="Segoe UI" panose="020B0502040204020203" pitchFamily="34" charset="0"/>
              </a:rPr>
              <a:t>Lo anterior,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permite conocer </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hacia dónde está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dirigido el dinero público</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 la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cantidad destinada </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a rubros específicos, así como las </a:t>
            </a:r>
            <a:r>
              <a:rPr lang="es-MX" sz="2000" b="1" kern="0" dirty="0">
                <a:solidFill>
                  <a:schemeClr val="tx1">
                    <a:lumMod val="75000"/>
                    <a:lumOff val="25000"/>
                  </a:schemeClr>
                </a:solidFill>
                <a:latin typeface="Montserrat" panose="00000500000000000000" pitchFamily="2" charset="0"/>
                <a:cs typeface="Segoe UI" panose="020B0502040204020203" pitchFamily="34" charset="0"/>
              </a:rPr>
              <a:t>instituciones involucrada</a:t>
            </a:r>
            <a:r>
              <a:rPr lang="es-MX" sz="2000" kern="0" dirty="0">
                <a:solidFill>
                  <a:schemeClr val="tx1">
                    <a:lumMod val="75000"/>
                    <a:lumOff val="25000"/>
                  </a:schemeClr>
                </a:solidFill>
                <a:latin typeface="Montserrat" panose="00000500000000000000" pitchFamily="2" charset="0"/>
                <a:cs typeface="Segoe UI" panose="020B0502040204020203" pitchFamily="34" charset="0"/>
              </a:rPr>
              <a:t>s.</a:t>
            </a:r>
          </a:p>
        </p:txBody>
      </p:sp>
      <p:pic>
        <p:nvPicPr>
          <p:cNvPr id="2" name="Imagen 1" descr="Logotipo, Icono&#10;&#10;Descripción generada automáticamente">
            <a:extLst>
              <a:ext uri="{FF2B5EF4-FFF2-40B4-BE49-F238E27FC236}">
                <a16:creationId xmlns:a16="http://schemas.microsoft.com/office/drawing/2014/main" id="{70B699CC-68F3-72D5-B4B0-AD63E0128F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8006" y="2480310"/>
            <a:ext cx="4278009" cy="1914170"/>
          </a:xfrm>
          <a:prstGeom prst="rect">
            <a:avLst/>
          </a:prstGeom>
        </p:spPr>
      </p:pic>
    </p:spTree>
    <p:extLst>
      <p:ext uri="{BB962C8B-B14F-4D97-AF65-F5344CB8AC3E}">
        <p14:creationId xmlns:p14="http://schemas.microsoft.com/office/powerpoint/2010/main" val="3804382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DE32EDF-6AC0-51AB-4AC8-C969ADBD2468}"/>
              </a:ext>
            </a:extLst>
          </p:cNvPr>
          <p:cNvSpPr txBox="1"/>
          <p:nvPr/>
        </p:nvSpPr>
        <p:spPr>
          <a:xfrm>
            <a:off x="1620982" y="1011382"/>
            <a:ext cx="9684327" cy="4524315"/>
          </a:xfrm>
          <a:prstGeom prst="rect">
            <a:avLst/>
          </a:prstGeom>
          <a:noFill/>
          <a:ln>
            <a:noFill/>
          </a:ln>
        </p:spPr>
        <p:txBody>
          <a:bodyPr wrap="square" rtlCol="0">
            <a:spAutoFit/>
          </a:bodyPr>
          <a:lstStyle/>
          <a:p>
            <a:pPr algn="just"/>
            <a:r>
              <a:rPr lang="es-MX" sz="3200" dirty="0"/>
              <a:t>En el contexto de los cambios impulsados por la nueva ERA, la Secretaría Ejecutiva del Sistema Anticorrupción del Estado de Chiapas, a través de la Dirección de Vinculación y Políticas Públicas a mi cargo, ha llevado a cabo diversas acciones y gestiones orientadas al fortalecimiento del Programa de Implementación de la Política Estatal Anticorrupción, así como otras iniciativas en materia de integridad, con el objetivo de generar un impacto positivo en la sociedad</a:t>
            </a:r>
            <a:r>
              <a:rPr lang="es-MX" dirty="0"/>
              <a:t>.</a:t>
            </a:r>
          </a:p>
        </p:txBody>
      </p:sp>
    </p:spTree>
    <p:extLst>
      <p:ext uri="{BB962C8B-B14F-4D97-AF65-F5344CB8AC3E}">
        <p14:creationId xmlns:p14="http://schemas.microsoft.com/office/powerpoint/2010/main" val="699114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lipse 2">
            <a:extLst>
              <a:ext uri="{FF2B5EF4-FFF2-40B4-BE49-F238E27FC236}">
                <a16:creationId xmlns:a16="http://schemas.microsoft.com/office/drawing/2014/main" id="{F76D93F9-FB9C-316E-FB3B-8ABED6E92BB9}"/>
              </a:ext>
            </a:extLst>
          </p:cNvPr>
          <p:cNvSpPr/>
          <p:nvPr/>
        </p:nvSpPr>
        <p:spPr>
          <a:xfrm>
            <a:off x="728460" y="795013"/>
            <a:ext cx="3981754" cy="1430878"/>
          </a:xfrm>
          <a:prstGeom prst="ellipse">
            <a:avLst/>
          </a:prstGeom>
          <a:solidFill>
            <a:srgbClr val="541533"/>
          </a:solidFill>
          <a:ln>
            <a:solidFill>
              <a:srgbClr val="5415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b="1" dirty="0">
                <a:latin typeface="Verdana" panose="020B0604030504040204" pitchFamily="34" charset="0"/>
                <a:ea typeface="Verdana" panose="020B0604030504040204" pitchFamily="34" charset="0"/>
              </a:rPr>
              <a:t>Política Estatal Anticorrupción</a:t>
            </a:r>
          </a:p>
        </p:txBody>
      </p:sp>
      <p:sp>
        <p:nvSpPr>
          <p:cNvPr id="4" name="Elipse 3">
            <a:extLst>
              <a:ext uri="{FF2B5EF4-FFF2-40B4-BE49-F238E27FC236}">
                <a16:creationId xmlns:a16="http://schemas.microsoft.com/office/drawing/2014/main" id="{9D321D04-DE0C-E3E1-9911-D69ABB0599D6}"/>
              </a:ext>
            </a:extLst>
          </p:cNvPr>
          <p:cNvSpPr/>
          <p:nvPr/>
        </p:nvSpPr>
        <p:spPr>
          <a:xfrm>
            <a:off x="7481788" y="759603"/>
            <a:ext cx="3479074" cy="1430878"/>
          </a:xfrm>
          <a:prstGeom prst="ellipse">
            <a:avLst/>
          </a:prstGeom>
          <a:solidFill>
            <a:srgbClr val="2C4A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b="1" dirty="0">
                <a:latin typeface="Verdana" panose="020B0604030504040204" pitchFamily="34" charset="0"/>
                <a:ea typeface="Verdana" panose="020B0604030504040204" pitchFamily="34" charset="0"/>
              </a:rPr>
              <a:t>Implementación de la Política Estatal Anticorrupción</a:t>
            </a:r>
          </a:p>
        </p:txBody>
      </p:sp>
      <p:sp>
        <p:nvSpPr>
          <p:cNvPr id="5" name="Flecha: a la derecha 4">
            <a:extLst>
              <a:ext uri="{FF2B5EF4-FFF2-40B4-BE49-F238E27FC236}">
                <a16:creationId xmlns:a16="http://schemas.microsoft.com/office/drawing/2014/main" id="{E6F79C55-A42D-21A4-1E7D-BC1688A5ADE2}"/>
              </a:ext>
            </a:extLst>
          </p:cNvPr>
          <p:cNvSpPr/>
          <p:nvPr/>
        </p:nvSpPr>
        <p:spPr>
          <a:xfrm>
            <a:off x="5487219" y="1085963"/>
            <a:ext cx="1490524" cy="846349"/>
          </a:xfrm>
          <a:prstGeom prst="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600">
              <a:latin typeface="Verdana" panose="020B0604030504040204" pitchFamily="34" charset="0"/>
              <a:ea typeface="Verdana" panose="020B0604030504040204" pitchFamily="34" charset="0"/>
            </a:endParaRPr>
          </a:p>
        </p:txBody>
      </p:sp>
      <p:sp>
        <p:nvSpPr>
          <p:cNvPr id="11" name="CuadroTexto 10">
            <a:extLst>
              <a:ext uri="{FF2B5EF4-FFF2-40B4-BE49-F238E27FC236}">
                <a16:creationId xmlns:a16="http://schemas.microsoft.com/office/drawing/2014/main" id="{A18E4565-FDD0-F03C-56FE-5FF285BB7D13}"/>
              </a:ext>
            </a:extLst>
          </p:cNvPr>
          <p:cNvSpPr txBox="1"/>
          <p:nvPr/>
        </p:nvSpPr>
        <p:spPr>
          <a:xfrm>
            <a:off x="40177" y="2426474"/>
            <a:ext cx="5177352" cy="338554"/>
          </a:xfrm>
          <a:prstGeom prst="rect">
            <a:avLst/>
          </a:prstGeom>
          <a:noFill/>
          <a:ln w="12700">
            <a:noFill/>
            <a:prstDash val="sysDash"/>
          </a:ln>
        </p:spPr>
        <p:txBody>
          <a:bodyPr wrap="square">
            <a:spAutoFit/>
          </a:bodyPr>
          <a:lstStyle/>
          <a:p>
            <a:pPr algn="ctr"/>
            <a:r>
              <a:rPr lang="es-MX" sz="1600" b="1" dirty="0">
                <a:latin typeface="Verdana" panose="020B0604030504040204" pitchFamily="34" charset="0"/>
                <a:ea typeface="Verdana" panose="020B0604030504040204" pitchFamily="34" charset="0"/>
              </a:rPr>
              <a:t>Hoja de ruta:</a:t>
            </a:r>
          </a:p>
        </p:txBody>
      </p:sp>
      <p:sp>
        <p:nvSpPr>
          <p:cNvPr id="13" name="CuadroTexto 12">
            <a:extLst>
              <a:ext uri="{FF2B5EF4-FFF2-40B4-BE49-F238E27FC236}">
                <a16:creationId xmlns:a16="http://schemas.microsoft.com/office/drawing/2014/main" id="{533462A0-7756-9929-CE93-3E747E13678D}"/>
              </a:ext>
            </a:extLst>
          </p:cNvPr>
          <p:cNvSpPr txBox="1"/>
          <p:nvPr/>
        </p:nvSpPr>
        <p:spPr>
          <a:xfrm>
            <a:off x="7400342" y="2338856"/>
            <a:ext cx="3751217" cy="584775"/>
          </a:xfrm>
          <a:prstGeom prst="rect">
            <a:avLst/>
          </a:prstGeom>
          <a:noFill/>
          <a:ln w="12700">
            <a:noFill/>
            <a:prstDash val="sysDash"/>
          </a:ln>
        </p:spPr>
        <p:txBody>
          <a:bodyPr wrap="square">
            <a:spAutoFit/>
          </a:bodyPr>
          <a:lstStyle/>
          <a:p>
            <a:pPr algn="ctr"/>
            <a:r>
              <a:rPr lang="es-MX" sz="1600" b="1" dirty="0">
                <a:latin typeface="Verdana" panose="020B0604030504040204" pitchFamily="34" charset="0"/>
                <a:ea typeface="Verdana" panose="020B0604030504040204" pitchFamily="34" charset="0"/>
              </a:rPr>
              <a:t>Instrumentación de las Prioridades:</a:t>
            </a:r>
          </a:p>
        </p:txBody>
      </p:sp>
      <p:sp>
        <p:nvSpPr>
          <p:cNvPr id="14" name="Rectángulo: esquinas redondeadas 13">
            <a:extLst>
              <a:ext uri="{FF2B5EF4-FFF2-40B4-BE49-F238E27FC236}">
                <a16:creationId xmlns:a16="http://schemas.microsoft.com/office/drawing/2014/main" id="{37013458-1E3A-2F1C-76D2-D1E5CC96D69C}"/>
              </a:ext>
            </a:extLst>
          </p:cNvPr>
          <p:cNvSpPr/>
          <p:nvPr/>
        </p:nvSpPr>
        <p:spPr>
          <a:xfrm>
            <a:off x="936853" y="2934791"/>
            <a:ext cx="3384000" cy="720000"/>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latin typeface="Verdana" panose="020B0604030504040204" pitchFamily="34" charset="0"/>
                <a:ea typeface="Verdana" panose="020B0604030504040204" pitchFamily="34" charset="0"/>
              </a:rPr>
              <a:t>Diagnóstico</a:t>
            </a:r>
          </a:p>
        </p:txBody>
      </p:sp>
      <p:sp>
        <p:nvSpPr>
          <p:cNvPr id="17" name="Rectángulo: esquinas redondeadas 16">
            <a:extLst>
              <a:ext uri="{FF2B5EF4-FFF2-40B4-BE49-F238E27FC236}">
                <a16:creationId xmlns:a16="http://schemas.microsoft.com/office/drawing/2014/main" id="{D5A3147F-2596-2FBB-0CA3-37DC5E8A57B8}"/>
              </a:ext>
            </a:extLst>
          </p:cNvPr>
          <p:cNvSpPr/>
          <p:nvPr/>
        </p:nvSpPr>
        <p:spPr>
          <a:xfrm>
            <a:off x="936853" y="3986113"/>
            <a:ext cx="3384000" cy="720000"/>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latin typeface="Verdana" panose="020B0604030504040204" pitchFamily="34" charset="0"/>
                <a:ea typeface="Verdana" panose="020B0604030504040204" pitchFamily="34" charset="0"/>
              </a:rPr>
              <a:t>4 Ejes Estratégicos</a:t>
            </a:r>
          </a:p>
        </p:txBody>
      </p:sp>
      <p:sp>
        <p:nvSpPr>
          <p:cNvPr id="20" name="Rectángulo: esquinas redondeadas 19">
            <a:extLst>
              <a:ext uri="{FF2B5EF4-FFF2-40B4-BE49-F238E27FC236}">
                <a16:creationId xmlns:a16="http://schemas.microsoft.com/office/drawing/2014/main" id="{4A9C36F6-AE50-A7A9-0F12-19B2127C2433}"/>
              </a:ext>
            </a:extLst>
          </p:cNvPr>
          <p:cNvSpPr/>
          <p:nvPr/>
        </p:nvSpPr>
        <p:spPr>
          <a:xfrm>
            <a:off x="936853" y="4975509"/>
            <a:ext cx="3384000" cy="720000"/>
          </a:xfrm>
          <a:prstGeom prst="roundRect">
            <a:avLst/>
          </a:prstGeom>
          <a:solidFill>
            <a:srgbClr val="405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latin typeface="Verdana" panose="020B0604030504040204" pitchFamily="34" charset="0"/>
                <a:ea typeface="Verdana" panose="020B0604030504040204" pitchFamily="34" charset="0"/>
              </a:rPr>
              <a:t>10 Objetivos Específicos</a:t>
            </a:r>
          </a:p>
        </p:txBody>
      </p:sp>
      <p:sp>
        <p:nvSpPr>
          <p:cNvPr id="21" name="Rectángulo: esquinas redondeadas 20">
            <a:extLst>
              <a:ext uri="{FF2B5EF4-FFF2-40B4-BE49-F238E27FC236}">
                <a16:creationId xmlns:a16="http://schemas.microsoft.com/office/drawing/2014/main" id="{130BC0ED-50D1-8B6E-A0FF-36956489CBA4}"/>
              </a:ext>
            </a:extLst>
          </p:cNvPr>
          <p:cNvSpPr/>
          <p:nvPr/>
        </p:nvSpPr>
        <p:spPr>
          <a:xfrm>
            <a:off x="936853" y="5945398"/>
            <a:ext cx="3384000" cy="720000"/>
          </a:xfrm>
          <a:prstGeom prst="roundRect">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latin typeface="Verdana" panose="020B0604030504040204" pitchFamily="34" charset="0"/>
                <a:ea typeface="Verdana" panose="020B0604030504040204" pitchFamily="34" charset="0"/>
              </a:rPr>
              <a:t>Prioridades de política pública</a:t>
            </a:r>
          </a:p>
        </p:txBody>
      </p:sp>
      <p:sp>
        <p:nvSpPr>
          <p:cNvPr id="23" name="Rectángulo: esquinas redondeadas 22">
            <a:extLst>
              <a:ext uri="{FF2B5EF4-FFF2-40B4-BE49-F238E27FC236}">
                <a16:creationId xmlns:a16="http://schemas.microsoft.com/office/drawing/2014/main" id="{83669B87-9E81-487F-0272-B21332AADBDF}"/>
              </a:ext>
            </a:extLst>
          </p:cNvPr>
          <p:cNvSpPr/>
          <p:nvPr/>
        </p:nvSpPr>
        <p:spPr>
          <a:xfrm>
            <a:off x="7400342" y="3080110"/>
            <a:ext cx="3384000" cy="72000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latin typeface="Verdana" panose="020B0604030504040204" pitchFamily="34" charset="0"/>
                <a:ea typeface="Verdana" panose="020B0604030504040204" pitchFamily="34" charset="0"/>
              </a:rPr>
              <a:t>Estrategias</a:t>
            </a:r>
          </a:p>
        </p:txBody>
      </p:sp>
      <p:sp>
        <p:nvSpPr>
          <p:cNvPr id="24" name="Rectángulo: esquinas redondeadas 23">
            <a:extLst>
              <a:ext uri="{FF2B5EF4-FFF2-40B4-BE49-F238E27FC236}">
                <a16:creationId xmlns:a16="http://schemas.microsoft.com/office/drawing/2014/main" id="{24DC3385-FBCD-B8B5-6FC5-1C93D2FD62BD}"/>
              </a:ext>
            </a:extLst>
          </p:cNvPr>
          <p:cNvSpPr/>
          <p:nvPr/>
        </p:nvSpPr>
        <p:spPr>
          <a:xfrm>
            <a:off x="7400342" y="4396580"/>
            <a:ext cx="3384000" cy="720000"/>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latin typeface="Verdana" panose="020B0604030504040204" pitchFamily="34" charset="0"/>
                <a:ea typeface="Verdana" panose="020B0604030504040204" pitchFamily="34" charset="0"/>
              </a:rPr>
              <a:t>Líneas de Acción</a:t>
            </a:r>
          </a:p>
        </p:txBody>
      </p:sp>
      <p:sp>
        <p:nvSpPr>
          <p:cNvPr id="25" name="Rectángulo: esquinas redondeadas 24">
            <a:extLst>
              <a:ext uri="{FF2B5EF4-FFF2-40B4-BE49-F238E27FC236}">
                <a16:creationId xmlns:a16="http://schemas.microsoft.com/office/drawing/2014/main" id="{69379D5C-C73B-A4A1-4EAF-61FE32A9F34E}"/>
              </a:ext>
            </a:extLst>
          </p:cNvPr>
          <p:cNvSpPr/>
          <p:nvPr/>
        </p:nvSpPr>
        <p:spPr>
          <a:xfrm>
            <a:off x="7472148" y="5713050"/>
            <a:ext cx="3384000" cy="720000"/>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a:latin typeface="Verdana" panose="020B0604030504040204" pitchFamily="34" charset="0"/>
                <a:ea typeface="Verdana" panose="020B0604030504040204" pitchFamily="34" charset="0"/>
              </a:rPr>
              <a:t>Indicadores de desempeño</a:t>
            </a:r>
            <a:endParaRPr lang="es-MX" sz="1600" dirty="0">
              <a:latin typeface="Verdana" panose="020B0604030504040204" pitchFamily="34" charset="0"/>
              <a:ea typeface="Verdana" panose="020B0604030504040204" pitchFamily="34" charset="0"/>
            </a:endParaRPr>
          </a:p>
        </p:txBody>
      </p:sp>
      <p:sp>
        <p:nvSpPr>
          <p:cNvPr id="28" name="Flecha: hacia abajo 27">
            <a:extLst>
              <a:ext uri="{FF2B5EF4-FFF2-40B4-BE49-F238E27FC236}">
                <a16:creationId xmlns:a16="http://schemas.microsoft.com/office/drawing/2014/main" id="{F35531DF-E690-14DB-8FE5-951A1FF676AF}"/>
              </a:ext>
            </a:extLst>
          </p:cNvPr>
          <p:cNvSpPr/>
          <p:nvPr/>
        </p:nvSpPr>
        <p:spPr>
          <a:xfrm>
            <a:off x="2419120" y="3662087"/>
            <a:ext cx="387305" cy="324933"/>
          </a:xfrm>
          <a:prstGeom prst="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600">
              <a:latin typeface="Verdana" panose="020B0604030504040204" pitchFamily="34" charset="0"/>
              <a:ea typeface="Verdana" panose="020B0604030504040204" pitchFamily="34" charset="0"/>
            </a:endParaRPr>
          </a:p>
        </p:txBody>
      </p:sp>
      <p:sp>
        <p:nvSpPr>
          <p:cNvPr id="6" name="TextBox 4">
            <a:extLst>
              <a:ext uri="{FF2B5EF4-FFF2-40B4-BE49-F238E27FC236}">
                <a16:creationId xmlns:a16="http://schemas.microsoft.com/office/drawing/2014/main" id="{D4D6110C-3F34-C622-E684-159EA95DE6A3}"/>
              </a:ext>
            </a:extLst>
          </p:cNvPr>
          <p:cNvSpPr txBox="1"/>
          <p:nvPr/>
        </p:nvSpPr>
        <p:spPr>
          <a:xfrm>
            <a:off x="3857116" y="192504"/>
            <a:ext cx="3663182" cy="461665"/>
          </a:xfrm>
          <a:prstGeom prst="rect">
            <a:avLst/>
          </a:prstGeom>
          <a:noFill/>
        </p:spPr>
        <p:txBody>
          <a:bodyPr wrap="none" rtlCol="0" anchor="b">
            <a:spAutoFit/>
          </a:bodyPr>
          <a:lstStyle>
            <a:defPPr>
              <a:defRPr lang="es-MX"/>
            </a:defPPr>
            <a:lvl1pPr algn="ctr" defTabSz="914217">
              <a:defRPr sz="3700" b="1">
                <a:solidFill>
                  <a:srgbClr val="111340"/>
                </a:solidFill>
                <a:latin typeface="Poppins" pitchFamily="2" charset="77"/>
                <a:cs typeface="Poppins" pitchFamily="2" charset="77"/>
              </a:defRPr>
            </a:lvl1pPr>
          </a:lstStyle>
          <a:p>
            <a:r>
              <a:rPr lang="en-US" sz="2400" dirty="0">
                <a:latin typeface="Verdana" panose="020B0604030504040204" pitchFamily="34" charset="0"/>
                <a:ea typeface="Verdana" panose="020B0604030504040204" pitchFamily="34" charset="0"/>
              </a:rPr>
              <a:t>RUTA DE LA PI -PEA</a:t>
            </a:r>
          </a:p>
        </p:txBody>
      </p:sp>
      <p:sp>
        <p:nvSpPr>
          <p:cNvPr id="2" name="Flecha: hacia abajo 1">
            <a:extLst>
              <a:ext uri="{FF2B5EF4-FFF2-40B4-BE49-F238E27FC236}">
                <a16:creationId xmlns:a16="http://schemas.microsoft.com/office/drawing/2014/main" id="{690CCFB9-0D7C-B12A-3403-512691F1F123}"/>
              </a:ext>
            </a:extLst>
          </p:cNvPr>
          <p:cNvSpPr/>
          <p:nvPr/>
        </p:nvSpPr>
        <p:spPr>
          <a:xfrm>
            <a:off x="2419119" y="4683675"/>
            <a:ext cx="387305" cy="324933"/>
          </a:xfrm>
          <a:prstGeom prst="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600">
              <a:latin typeface="Verdana" panose="020B0604030504040204" pitchFamily="34" charset="0"/>
              <a:ea typeface="Verdana" panose="020B0604030504040204" pitchFamily="34" charset="0"/>
            </a:endParaRPr>
          </a:p>
        </p:txBody>
      </p:sp>
      <p:sp>
        <p:nvSpPr>
          <p:cNvPr id="7" name="Flecha: hacia abajo 6">
            <a:extLst>
              <a:ext uri="{FF2B5EF4-FFF2-40B4-BE49-F238E27FC236}">
                <a16:creationId xmlns:a16="http://schemas.microsoft.com/office/drawing/2014/main" id="{E1934ABA-3900-2347-9F14-52CE160096C3}"/>
              </a:ext>
            </a:extLst>
          </p:cNvPr>
          <p:cNvSpPr/>
          <p:nvPr/>
        </p:nvSpPr>
        <p:spPr>
          <a:xfrm>
            <a:off x="2419119" y="5677935"/>
            <a:ext cx="387305" cy="324933"/>
          </a:xfrm>
          <a:prstGeom prst="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600">
              <a:latin typeface="Verdana" panose="020B0604030504040204" pitchFamily="34" charset="0"/>
              <a:ea typeface="Verdana" panose="020B0604030504040204" pitchFamily="34" charset="0"/>
            </a:endParaRPr>
          </a:p>
        </p:txBody>
      </p:sp>
      <p:sp>
        <p:nvSpPr>
          <p:cNvPr id="8" name="Flecha: hacia abajo 7">
            <a:extLst>
              <a:ext uri="{FF2B5EF4-FFF2-40B4-BE49-F238E27FC236}">
                <a16:creationId xmlns:a16="http://schemas.microsoft.com/office/drawing/2014/main" id="{95A7CF76-0DC6-C7AE-1D22-15A32551087A}"/>
              </a:ext>
            </a:extLst>
          </p:cNvPr>
          <p:cNvSpPr/>
          <p:nvPr/>
        </p:nvSpPr>
        <p:spPr>
          <a:xfrm>
            <a:off x="8898689" y="3940954"/>
            <a:ext cx="387305" cy="324933"/>
          </a:xfrm>
          <a:prstGeom prst="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600">
              <a:latin typeface="Verdana" panose="020B0604030504040204" pitchFamily="34" charset="0"/>
              <a:ea typeface="Verdana" panose="020B0604030504040204" pitchFamily="34" charset="0"/>
            </a:endParaRPr>
          </a:p>
        </p:txBody>
      </p:sp>
      <p:sp>
        <p:nvSpPr>
          <p:cNvPr id="9" name="Flecha: hacia abajo 8">
            <a:extLst>
              <a:ext uri="{FF2B5EF4-FFF2-40B4-BE49-F238E27FC236}">
                <a16:creationId xmlns:a16="http://schemas.microsoft.com/office/drawing/2014/main" id="{A24C05E7-656E-0C28-FB5D-3268F900154D}"/>
              </a:ext>
            </a:extLst>
          </p:cNvPr>
          <p:cNvSpPr/>
          <p:nvPr/>
        </p:nvSpPr>
        <p:spPr>
          <a:xfrm>
            <a:off x="8898689" y="5301539"/>
            <a:ext cx="387305" cy="324933"/>
          </a:xfrm>
          <a:prstGeom prst="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60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82739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EFDA1F-DBE2-CE44-94D8-CDD82A6AD48B}"/>
              </a:ext>
            </a:extLst>
          </p:cNvPr>
          <p:cNvSpPr txBox="1"/>
          <p:nvPr/>
        </p:nvSpPr>
        <p:spPr>
          <a:xfrm>
            <a:off x="1456726" y="292647"/>
            <a:ext cx="9344861" cy="461665"/>
          </a:xfrm>
          <a:prstGeom prst="rect">
            <a:avLst/>
          </a:prstGeom>
          <a:noFill/>
        </p:spPr>
        <p:txBody>
          <a:bodyPr wrap="square" rtlCol="0">
            <a:spAutoFit/>
          </a:bodyPr>
          <a:lstStyle/>
          <a:p>
            <a:pPr algn="ctr"/>
            <a:r>
              <a:rPr lang="en-US" sz="2400" b="1" dirty="0">
                <a:latin typeface="Verdana" panose="020B0604030504040204" pitchFamily="34" charset="0"/>
                <a:ea typeface="Verdana" panose="020B0604030504040204" pitchFamily="34" charset="0"/>
                <a:cs typeface="Poppins" pitchFamily="2" charset="77"/>
              </a:rPr>
              <a:t>EJES DE LA POLÍTICA </a:t>
            </a:r>
            <a:r>
              <a:rPr lang="en-US" sz="2400" b="1" dirty="0" err="1">
                <a:latin typeface="Verdana" panose="020B0604030504040204" pitchFamily="34" charset="0"/>
                <a:ea typeface="Verdana" panose="020B0604030504040204" pitchFamily="34" charset="0"/>
                <a:cs typeface="Poppins" pitchFamily="2" charset="77"/>
              </a:rPr>
              <a:t>ESTATAL</a:t>
            </a:r>
            <a:r>
              <a:rPr lang="en-US" sz="2400" b="1" dirty="0">
                <a:latin typeface="Verdana" panose="020B0604030504040204" pitchFamily="34" charset="0"/>
                <a:ea typeface="Verdana" panose="020B0604030504040204" pitchFamily="34" charset="0"/>
                <a:cs typeface="Poppins" pitchFamily="2" charset="77"/>
              </a:rPr>
              <a:t> ANTICORRUPCIÓN</a:t>
            </a:r>
          </a:p>
        </p:txBody>
      </p:sp>
      <p:sp>
        <p:nvSpPr>
          <p:cNvPr id="26" name="Freeform 925">
            <a:extLst>
              <a:ext uri="{FF2B5EF4-FFF2-40B4-BE49-F238E27FC236}">
                <a16:creationId xmlns:a16="http://schemas.microsoft.com/office/drawing/2014/main" id="{63CF4BF0-F5CD-1F40-8855-4A51BCE4714F}"/>
              </a:ext>
            </a:extLst>
          </p:cNvPr>
          <p:cNvSpPr>
            <a:spLocks noChangeAspect="1" noChangeArrowheads="1"/>
          </p:cNvSpPr>
          <p:nvPr/>
        </p:nvSpPr>
        <p:spPr bwMode="auto">
          <a:xfrm>
            <a:off x="4158356" y="5472176"/>
            <a:ext cx="340613" cy="340612"/>
          </a:xfrm>
          <a:custGeom>
            <a:avLst/>
            <a:gdLst>
              <a:gd name="T0" fmla="*/ 59283120 w 296468"/>
              <a:gd name="T1" fmla="*/ 52617181 h 296502"/>
              <a:gd name="T2" fmla="*/ 52670368 w 296468"/>
              <a:gd name="T3" fmla="*/ 59145522 h 296502"/>
              <a:gd name="T4" fmla="*/ 55081953 w 296468"/>
              <a:gd name="T5" fmla="*/ 61555141 h 296502"/>
              <a:gd name="T6" fmla="*/ 57338181 w 296468"/>
              <a:gd name="T7" fmla="*/ 61555141 h 296502"/>
              <a:gd name="T8" fmla="*/ 61617028 w 296468"/>
              <a:gd name="T9" fmla="*/ 57280404 h 296502"/>
              <a:gd name="T10" fmla="*/ 62006172 w 296468"/>
              <a:gd name="T11" fmla="*/ 56114403 h 296502"/>
              <a:gd name="T12" fmla="*/ 61617028 w 296468"/>
              <a:gd name="T13" fmla="*/ 54948654 h 296502"/>
              <a:gd name="T14" fmla="*/ 50180686 w 296468"/>
              <a:gd name="T15" fmla="*/ 43601495 h 296502"/>
              <a:gd name="T16" fmla="*/ 43567688 w 296468"/>
              <a:gd name="T17" fmla="*/ 50130158 h 296502"/>
              <a:gd name="T18" fmla="*/ 51269877 w 296468"/>
              <a:gd name="T19" fmla="*/ 57824605 h 296502"/>
              <a:gd name="T20" fmla="*/ 57882997 w 296468"/>
              <a:gd name="T21" fmla="*/ 51296098 h 296502"/>
              <a:gd name="T22" fmla="*/ 24256853 w 296468"/>
              <a:gd name="T23" fmla="*/ 14366126 h 296502"/>
              <a:gd name="T24" fmla="*/ 25277413 w 296468"/>
              <a:gd name="T25" fmla="*/ 15307077 h 296502"/>
              <a:gd name="T26" fmla="*/ 24256853 w 296468"/>
              <a:gd name="T27" fmla="*/ 16325926 h 296502"/>
              <a:gd name="T28" fmla="*/ 15933265 w 296468"/>
              <a:gd name="T29" fmla="*/ 24635282 h 296502"/>
              <a:gd name="T30" fmla="*/ 14991278 w 296468"/>
              <a:gd name="T31" fmla="*/ 25575890 h 296502"/>
              <a:gd name="T32" fmla="*/ 14048743 w 296468"/>
              <a:gd name="T33" fmla="*/ 24635282 h 296502"/>
              <a:gd name="T34" fmla="*/ 24256853 w 296468"/>
              <a:gd name="T35" fmla="*/ 14366126 h 296502"/>
              <a:gd name="T36" fmla="*/ 24249970 w 296468"/>
              <a:gd name="T37" fmla="*/ 9816491 h 296502"/>
              <a:gd name="T38" fmla="*/ 9490873 w 296468"/>
              <a:gd name="T39" fmla="*/ 24628269 h 296502"/>
              <a:gd name="T40" fmla="*/ 24249970 w 296468"/>
              <a:gd name="T41" fmla="*/ 39361929 h 296502"/>
              <a:gd name="T42" fmla="*/ 39087529 w 296468"/>
              <a:gd name="T43" fmla="*/ 24628269 h 296502"/>
              <a:gd name="T44" fmla="*/ 24249970 w 296468"/>
              <a:gd name="T45" fmla="*/ 9816491 h 296502"/>
              <a:gd name="T46" fmla="*/ 24249970 w 296468"/>
              <a:gd name="T47" fmla="*/ 7867697 h 296502"/>
              <a:gd name="T48" fmla="*/ 41039719 w 296468"/>
              <a:gd name="T49" fmla="*/ 24628269 h 296502"/>
              <a:gd name="T50" fmla="*/ 24249970 w 296468"/>
              <a:gd name="T51" fmla="*/ 41310828 h 296502"/>
              <a:gd name="T52" fmla="*/ 7538688 w 296468"/>
              <a:gd name="T53" fmla="*/ 24628269 h 296502"/>
              <a:gd name="T54" fmla="*/ 24249970 w 296468"/>
              <a:gd name="T55" fmla="*/ 7867697 h 296502"/>
              <a:gd name="T56" fmla="*/ 24351300 w 296468"/>
              <a:gd name="T57" fmla="*/ 1943107 h 296502"/>
              <a:gd name="T58" fmla="*/ 1867792 w 296468"/>
              <a:gd name="T59" fmla="*/ 24404320 h 296502"/>
              <a:gd name="T60" fmla="*/ 24351300 w 296468"/>
              <a:gd name="T61" fmla="*/ 46865592 h 296502"/>
              <a:gd name="T62" fmla="*/ 37421708 w 296468"/>
              <a:gd name="T63" fmla="*/ 42668833 h 296502"/>
              <a:gd name="T64" fmla="*/ 37966181 w 296468"/>
              <a:gd name="T65" fmla="*/ 42513613 h 296502"/>
              <a:gd name="T66" fmla="*/ 38666300 w 296468"/>
              <a:gd name="T67" fmla="*/ 42824057 h 296502"/>
              <a:gd name="T68" fmla="*/ 43412190 w 296468"/>
              <a:gd name="T69" fmla="*/ 47565221 h 296502"/>
              <a:gd name="T70" fmla="*/ 47535441 w 296468"/>
              <a:gd name="T71" fmla="*/ 43368363 h 296502"/>
              <a:gd name="T72" fmla="*/ 42789784 w 296468"/>
              <a:gd name="T73" fmla="*/ 38705292 h 296502"/>
              <a:gd name="T74" fmla="*/ 42712026 w 296468"/>
              <a:gd name="T75" fmla="*/ 37383829 h 296502"/>
              <a:gd name="T76" fmla="*/ 46913374 w 296468"/>
              <a:gd name="T77" fmla="*/ 24404320 h 296502"/>
              <a:gd name="T78" fmla="*/ 24351300 w 296468"/>
              <a:gd name="T79" fmla="*/ 1943107 h 296502"/>
              <a:gd name="T80" fmla="*/ 24351300 w 296468"/>
              <a:gd name="T81" fmla="*/ 0 h 296502"/>
              <a:gd name="T82" fmla="*/ 48858264 w 296468"/>
              <a:gd name="T83" fmla="*/ 24404320 h 296502"/>
              <a:gd name="T84" fmla="*/ 44734831 w 296468"/>
              <a:gd name="T85" fmla="*/ 37850088 h 296502"/>
              <a:gd name="T86" fmla="*/ 48935722 w 296468"/>
              <a:gd name="T87" fmla="*/ 42047016 h 296502"/>
              <a:gd name="T88" fmla="*/ 49480300 w 296468"/>
              <a:gd name="T89" fmla="*/ 41503149 h 296502"/>
              <a:gd name="T90" fmla="*/ 50803199 w 296468"/>
              <a:gd name="T91" fmla="*/ 41503149 h 296502"/>
              <a:gd name="T92" fmla="*/ 62940151 w 296468"/>
              <a:gd name="T93" fmla="*/ 53627643 h 296502"/>
              <a:gd name="T94" fmla="*/ 62940151 w 296468"/>
              <a:gd name="T95" fmla="*/ 58601620 h 296502"/>
              <a:gd name="T96" fmla="*/ 58661081 w 296468"/>
              <a:gd name="T97" fmla="*/ 62876164 h 296502"/>
              <a:gd name="T98" fmla="*/ 56171430 w 296468"/>
              <a:gd name="T99" fmla="*/ 63886455 h 296502"/>
              <a:gd name="T100" fmla="*/ 53681859 w 296468"/>
              <a:gd name="T101" fmla="*/ 62876164 h 296502"/>
              <a:gd name="T102" fmla="*/ 41544799 w 296468"/>
              <a:gd name="T103" fmla="*/ 50751977 h 296502"/>
              <a:gd name="T104" fmla="*/ 41233945 w 296468"/>
              <a:gd name="T105" fmla="*/ 50130158 h 296502"/>
              <a:gd name="T106" fmla="*/ 41544799 w 296468"/>
              <a:gd name="T107" fmla="*/ 49430696 h 296502"/>
              <a:gd name="T108" fmla="*/ 42089771 w 296468"/>
              <a:gd name="T109" fmla="*/ 48886751 h 296502"/>
              <a:gd name="T110" fmla="*/ 37888430 w 296468"/>
              <a:gd name="T111" fmla="*/ 44767400 h 296502"/>
              <a:gd name="T112" fmla="*/ 24351300 w 296468"/>
              <a:gd name="T113" fmla="*/ 48808619 h 296502"/>
              <a:gd name="T114" fmla="*/ 0 w 296468"/>
              <a:gd name="T115" fmla="*/ 24404320 h 296502"/>
              <a:gd name="T116" fmla="*/ 24351300 w 296468"/>
              <a:gd name="T117" fmla="*/ 0 h 29650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96468" h="296502">
                <a:moveTo>
                  <a:pt x="274661" y="244200"/>
                </a:moveTo>
                <a:lnTo>
                  <a:pt x="244023" y="274499"/>
                </a:lnTo>
                <a:lnTo>
                  <a:pt x="255197" y="285681"/>
                </a:lnTo>
                <a:cubicBezTo>
                  <a:pt x="257720" y="288206"/>
                  <a:pt x="262766" y="288206"/>
                  <a:pt x="265650" y="285681"/>
                </a:cubicBezTo>
                <a:lnTo>
                  <a:pt x="285474" y="265842"/>
                </a:lnTo>
                <a:cubicBezTo>
                  <a:pt x="286555" y="264399"/>
                  <a:pt x="287276" y="262596"/>
                  <a:pt x="287276" y="260431"/>
                </a:cubicBezTo>
                <a:cubicBezTo>
                  <a:pt x="287276" y="258628"/>
                  <a:pt x="286555" y="256464"/>
                  <a:pt x="285474" y="255021"/>
                </a:cubicBezTo>
                <a:lnTo>
                  <a:pt x="274661" y="244200"/>
                </a:lnTo>
                <a:close/>
                <a:moveTo>
                  <a:pt x="232488" y="202357"/>
                </a:moveTo>
                <a:lnTo>
                  <a:pt x="201850" y="232657"/>
                </a:lnTo>
                <a:lnTo>
                  <a:pt x="237535" y="268367"/>
                </a:lnTo>
                <a:lnTo>
                  <a:pt x="268173" y="238068"/>
                </a:lnTo>
                <a:lnTo>
                  <a:pt x="232488" y="202357"/>
                </a:lnTo>
                <a:close/>
                <a:moveTo>
                  <a:pt x="112382" y="66675"/>
                </a:moveTo>
                <a:cubicBezTo>
                  <a:pt x="114929" y="66675"/>
                  <a:pt x="117111" y="68494"/>
                  <a:pt x="117111" y="71041"/>
                </a:cubicBezTo>
                <a:cubicBezTo>
                  <a:pt x="117111" y="73587"/>
                  <a:pt x="114929" y="75770"/>
                  <a:pt x="112382" y="75770"/>
                </a:cubicBezTo>
                <a:cubicBezTo>
                  <a:pt x="91282" y="75770"/>
                  <a:pt x="73819" y="92869"/>
                  <a:pt x="73819" y="114334"/>
                </a:cubicBezTo>
                <a:cubicBezTo>
                  <a:pt x="73819" y="116880"/>
                  <a:pt x="72000" y="118699"/>
                  <a:pt x="69454" y="118699"/>
                </a:cubicBezTo>
                <a:cubicBezTo>
                  <a:pt x="66907" y="118699"/>
                  <a:pt x="65088" y="116880"/>
                  <a:pt x="65088" y="114334"/>
                </a:cubicBezTo>
                <a:cubicBezTo>
                  <a:pt x="65088" y="88140"/>
                  <a:pt x="86189" y="66675"/>
                  <a:pt x="112382" y="66675"/>
                </a:cubicBezTo>
                <a:close/>
                <a:moveTo>
                  <a:pt x="112351" y="45558"/>
                </a:moveTo>
                <a:cubicBezTo>
                  <a:pt x="74724" y="45558"/>
                  <a:pt x="43970" y="76311"/>
                  <a:pt x="43970" y="114301"/>
                </a:cubicBezTo>
                <a:cubicBezTo>
                  <a:pt x="43970" y="151928"/>
                  <a:pt x="74724" y="182681"/>
                  <a:pt x="112351" y="182681"/>
                </a:cubicBezTo>
                <a:cubicBezTo>
                  <a:pt x="150340" y="182681"/>
                  <a:pt x="181093" y="151928"/>
                  <a:pt x="181093" y="114301"/>
                </a:cubicBezTo>
                <a:cubicBezTo>
                  <a:pt x="181093" y="76311"/>
                  <a:pt x="150340" y="45558"/>
                  <a:pt x="112351" y="45558"/>
                </a:cubicBezTo>
                <a:close/>
                <a:moveTo>
                  <a:pt x="112351" y="36513"/>
                </a:moveTo>
                <a:cubicBezTo>
                  <a:pt x="155405" y="36513"/>
                  <a:pt x="190138" y="71608"/>
                  <a:pt x="190138" y="114301"/>
                </a:cubicBezTo>
                <a:cubicBezTo>
                  <a:pt x="190138" y="156993"/>
                  <a:pt x="155405" y="191726"/>
                  <a:pt x="112351" y="191726"/>
                </a:cubicBezTo>
                <a:cubicBezTo>
                  <a:pt x="69658" y="191726"/>
                  <a:pt x="34925" y="156993"/>
                  <a:pt x="34925" y="114301"/>
                </a:cubicBezTo>
                <a:cubicBezTo>
                  <a:pt x="34925" y="71608"/>
                  <a:pt x="69658" y="36513"/>
                  <a:pt x="112351" y="36513"/>
                </a:cubicBezTo>
                <a:close/>
                <a:moveTo>
                  <a:pt x="112820" y="9018"/>
                </a:moveTo>
                <a:cubicBezTo>
                  <a:pt x="55509" y="9018"/>
                  <a:pt x="8651" y="55910"/>
                  <a:pt x="8651" y="113262"/>
                </a:cubicBezTo>
                <a:cubicBezTo>
                  <a:pt x="8651" y="170615"/>
                  <a:pt x="55509" y="217507"/>
                  <a:pt x="112820" y="217507"/>
                </a:cubicBezTo>
                <a:cubicBezTo>
                  <a:pt x="134807" y="217507"/>
                  <a:pt x="155713" y="211014"/>
                  <a:pt x="173375" y="198029"/>
                </a:cubicBezTo>
                <a:cubicBezTo>
                  <a:pt x="174096" y="197308"/>
                  <a:pt x="175177" y="197308"/>
                  <a:pt x="175898" y="197308"/>
                </a:cubicBezTo>
                <a:cubicBezTo>
                  <a:pt x="176980" y="197308"/>
                  <a:pt x="178421" y="197668"/>
                  <a:pt x="179142" y="198750"/>
                </a:cubicBezTo>
                <a:lnTo>
                  <a:pt x="201130" y="220754"/>
                </a:lnTo>
                <a:lnTo>
                  <a:pt x="220233" y="201275"/>
                </a:lnTo>
                <a:lnTo>
                  <a:pt x="198246" y="179633"/>
                </a:lnTo>
                <a:cubicBezTo>
                  <a:pt x="196804" y="177829"/>
                  <a:pt x="196444" y="175304"/>
                  <a:pt x="197886" y="173501"/>
                </a:cubicBezTo>
                <a:cubicBezTo>
                  <a:pt x="210501" y="155826"/>
                  <a:pt x="217350" y="134905"/>
                  <a:pt x="217350" y="113262"/>
                </a:cubicBezTo>
                <a:cubicBezTo>
                  <a:pt x="217350" y="55910"/>
                  <a:pt x="170492" y="9018"/>
                  <a:pt x="112820" y="9018"/>
                </a:cubicBezTo>
                <a:close/>
                <a:moveTo>
                  <a:pt x="112820" y="0"/>
                </a:moveTo>
                <a:cubicBezTo>
                  <a:pt x="175538" y="0"/>
                  <a:pt x="226361" y="50860"/>
                  <a:pt x="226361" y="113262"/>
                </a:cubicBezTo>
                <a:cubicBezTo>
                  <a:pt x="226361" y="135626"/>
                  <a:pt x="219512" y="156908"/>
                  <a:pt x="207257" y="175665"/>
                </a:cubicBezTo>
                <a:lnTo>
                  <a:pt x="226721" y="195143"/>
                </a:lnTo>
                <a:lnTo>
                  <a:pt x="229244" y="192618"/>
                </a:lnTo>
                <a:cubicBezTo>
                  <a:pt x="231047" y="190815"/>
                  <a:pt x="233570" y="190815"/>
                  <a:pt x="235372" y="192618"/>
                </a:cubicBezTo>
                <a:lnTo>
                  <a:pt x="291602" y="248889"/>
                </a:lnTo>
                <a:cubicBezTo>
                  <a:pt x="298090" y="255021"/>
                  <a:pt x="298090" y="265842"/>
                  <a:pt x="291602" y="271974"/>
                </a:cubicBezTo>
                <a:lnTo>
                  <a:pt x="271777" y="291813"/>
                </a:lnTo>
                <a:cubicBezTo>
                  <a:pt x="268533" y="295060"/>
                  <a:pt x="264568" y="296502"/>
                  <a:pt x="260243" y="296502"/>
                </a:cubicBezTo>
                <a:cubicBezTo>
                  <a:pt x="255918" y="296502"/>
                  <a:pt x="251953" y="295060"/>
                  <a:pt x="248709" y="291813"/>
                </a:cubicBezTo>
                <a:lnTo>
                  <a:pt x="192479" y="235543"/>
                </a:lnTo>
                <a:cubicBezTo>
                  <a:pt x="191398" y="234821"/>
                  <a:pt x="191037" y="233739"/>
                  <a:pt x="191037" y="232657"/>
                </a:cubicBezTo>
                <a:cubicBezTo>
                  <a:pt x="191037" y="231575"/>
                  <a:pt x="191398" y="230132"/>
                  <a:pt x="192479" y="229411"/>
                </a:cubicBezTo>
                <a:lnTo>
                  <a:pt x="195002" y="226886"/>
                </a:lnTo>
                <a:lnTo>
                  <a:pt x="175538" y="207768"/>
                </a:lnTo>
                <a:cubicBezTo>
                  <a:pt x="157155" y="220032"/>
                  <a:pt x="135528" y="226525"/>
                  <a:pt x="112820" y="226525"/>
                </a:cubicBezTo>
                <a:cubicBezTo>
                  <a:pt x="50823" y="226525"/>
                  <a:pt x="0" y="175665"/>
                  <a:pt x="0" y="113262"/>
                </a:cubicBezTo>
                <a:cubicBezTo>
                  <a:pt x="0" y="50860"/>
                  <a:pt x="50823" y="0"/>
                  <a:pt x="112820" y="0"/>
                </a:cubicBezTo>
                <a:close/>
              </a:path>
            </a:pathLst>
          </a:custGeom>
          <a:solidFill>
            <a:schemeClr val="bg1"/>
          </a:solidFill>
          <a:ln>
            <a:noFill/>
          </a:ln>
          <a:effectLst/>
        </p:spPr>
        <p:txBody>
          <a:bodyPr anchor="ctr"/>
          <a:lstStyle/>
          <a:p>
            <a:endParaRPr lang="en-US" sz="2000" dirty="0">
              <a:latin typeface="Verdana" panose="020B0604030504040204" pitchFamily="34" charset="0"/>
              <a:ea typeface="Verdana" panose="020B0604030504040204" pitchFamily="34" charset="0"/>
            </a:endParaRPr>
          </a:p>
        </p:txBody>
      </p:sp>
      <p:sp>
        <p:nvSpPr>
          <p:cNvPr id="27" name="Freeform 926">
            <a:extLst>
              <a:ext uri="{FF2B5EF4-FFF2-40B4-BE49-F238E27FC236}">
                <a16:creationId xmlns:a16="http://schemas.microsoft.com/office/drawing/2014/main" id="{BA735CBB-E9B9-EF43-A42F-48AAA7589338}"/>
              </a:ext>
            </a:extLst>
          </p:cNvPr>
          <p:cNvSpPr>
            <a:spLocks noChangeAspect="1" noChangeArrowheads="1"/>
          </p:cNvSpPr>
          <p:nvPr/>
        </p:nvSpPr>
        <p:spPr bwMode="auto">
          <a:xfrm>
            <a:off x="5929022" y="1509778"/>
            <a:ext cx="340612" cy="340612"/>
          </a:xfrm>
          <a:custGeom>
            <a:avLst/>
            <a:gdLst>
              <a:gd name="T0" fmla="*/ 39468541 w 296503"/>
              <a:gd name="T1" fmla="*/ 36094776 h 296502"/>
              <a:gd name="T2" fmla="*/ 14110389 w 296503"/>
              <a:gd name="T3" fmla="*/ 36094776 h 296502"/>
              <a:gd name="T4" fmla="*/ 35315735 w 296503"/>
              <a:gd name="T5" fmla="*/ 51851789 h 296502"/>
              <a:gd name="T6" fmla="*/ 34700729 w 296503"/>
              <a:gd name="T7" fmla="*/ 38103353 h 296502"/>
              <a:gd name="T8" fmla="*/ 25799492 w 296503"/>
              <a:gd name="T9" fmla="*/ 34781724 h 296502"/>
              <a:gd name="T10" fmla="*/ 28644712 w 296503"/>
              <a:gd name="T11" fmla="*/ 51851789 h 296502"/>
              <a:gd name="T12" fmla="*/ 36084982 w 296503"/>
              <a:gd name="T13" fmla="*/ 14043180 h 296502"/>
              <a:gd name="T14" fmla="*/ 27721885 w 296503"/>
              <a:gd name="T15" fmla="*/ 14043180 h 296502"/>
              <a:gd name="T16" fmla="*/ 35315735 w 296503"/>
              <a:gd name="T17" fmla="*/ 11957687 h 296502"/>
              <a:gd name="T18" fmla="*/ 38007231 w 296503"/>
              <a:gd name="T19" fmla="*/ 29104833 h 296502"/>
              <a:gd name="T20" fmla="*/ 35315735 w 296503"/>
              <a:gd name="T21" fmla="*/ 11957687 h 296502"/>
              <a:gd name="T22" fmla="*/ 29106033 w 296503"/>
              <a:gd name="T23" fmla="*/ 25783333 h 296502"/>
              <a:gd name="T24" fmla="*/ 12033939 w 296503"/>
              <a:gd name="T25" fmla="*/ 28486799 h 296502"/>
              <a:gd name="T26" fmla="*/ 28220599 w 296503"/>
              <a:gd name="T27" fmla="*/ 7607134 h 296502"/>
              <a:gd name="T28" fmla="*/ 18994656 w 296503"/>
              <a:gd name="T29" fmla="*/ 4735376 h 296502"/>
              <a:gd name="T30" fmla="*/ 16591310 w 296503"/>
              <a:gd name="T31" fmla="*/ 12730473 h 296502"/>
              <a:gd name="T32" fmla="*/ 7132293 w 296503"/>
              <a:gd name="T33" fmla="*/ 14904428 h 296502"/>
              <a:gd name="T34" fmla="*/ 9070354 w 296503"/>
              <a:gd name="T35" fmla="*/ 22977384 h 296502"/>
              <a:gd name="T36" fmla="*/ 1938315 w 296503"/>
              <a:gd name="T37" fmla="*/ 34233196 h 296502"/>
              <a:gd name="T38" fmla="*/ 8606031 w 296503"/>
              <a:gd name="T39" fmla="*/ 42073555 h 296502"/>
              <a:gd name="T40" fmla="*/ 7908106 w 296503"/>
              <a:gd name="T41" fmla="*/ 49137368 h 296502"/>
              <a:gd name="T42" fmla="*/ 14730352 w 296503"/>
              <a:gd name="T43" fmla="*/ 55968676 h 296502"/>
              <a:gd name="T44" fmla="*/ 21863377 w 296503"/>
              <a:gd name="T45" fmla="*/ 55192462 h 296502"/>
              <a:gd name="T46" fmla="*/ 29073235 w 296503"/>
              <a:gd name="T47" fmla="*/ 61324999 h 296502"/>
              <a:gd name="T48" fmla="*/ 35663159 w 296503"/>
              <a:gd name="T49" fmla="*/ 56279296 h 296502"/>
              <a:gd name="T50" fmla="*/ 44889270 w 296503"/>
              <a:gd name="T51" fmla="*/ 59073632 h 296502"/>
              <a:gd name="T52" fmla="*/ 51091532 w 296503"/>
              <a:gd name="T53" fmla="*/ 47274289 h 296502"/>
              <a:gd name="T54" fmla="*/ 59076808 w 296503"/>
              <a:gd name="T55" fmla="*/ 44945811 h 296502"/>
              <a:gd name="T56" fmla="*/ 57138750 w 296503"/>
              <a:gd name="T57" fmla="*/ 34776545 h 296502"/>
              <a:gd name="T58" fmla="*/ 57138750 w 296503"/>
              <a:gd name="T59" fmla="*/ 29032279 h 296502"/>
              <a:gd name="T60" fmla="*/ 59076808 w 296503"/>
              <a:gd name="T61" fmla="*/ 18940830 h 296502"/>
              <a:gd name="T62" fmla="*/ 51091532 w 296503"/>
              <a:gd name="T63" fmla="*/ 16534723 h 296502"/>
              <a:gd name="T64" fmla="*/ 44889270 w 296503"/>
              <a:gd name="T65" fmla="*/ 4735376 h 296502"/>
              <a:gd name="T66" fmla="*/ 35663159 w 296503"/>
              <a:gd name="T67" fmla="*/ 7607134 h 296502"/>
              <a:gd name="T68" fmla="*/ 29616151 w 296503"/>
              <a:gd name="T69" fmla="*/ 0 h 296502"/>
              <a:gd name="T70" fmla="*/ 42408138 w 296503"/>
              <a:gd name="T71" fmla="*/ 4036794 h 296502"/>
              <a:gd name="T72" fmla="*/ 49075850 w 296503"/>
              <a:gd name="T73" fmla="*/ 11799412 h 296502"/>
              <a:gd name="T74" fmla="*/ 60704994 w 296503"/>
              <a:gd name="T75" fmla="*/ 18009182 h 296502"/>
              <a:gd name="T76" fmla="*/ 63806032 w 296503"/>
              <a:gd name="T77" fmla="*/ 29575828 h 296502"/>
              <a:gd name="T78" fmla="*/ 59852271 w 296503"/>
              <a:gd name="T79" fmla="*/ 42384128 h 296502"/>
              <a:gd name="T80" fmla="*/ 52099138 w 296503"/>
              <a:gd name="T81" fmla="*/ 49137368 h 296502"/>
              <a:gd name="T82" fmla="*/ 43958771 w 296503"/>
              <a:gd name="T83" fmla="*/ 61014414 h 296502"/>
              <a:gd name="T84" fmla="*/ 34190219 w 296503"/>
              <a:gd name="T85" fmla="*/ 63808757 h 296502"/>
              <a:gd name="T86" fmla="*/ 21397918 w 296503"/>
              <a:gd name="T87" fmla="*/ 59849977 h 296502"/>
              <a:gd name="T88" fmla="*/ 13025089 w 296503"/>
              <a:gd name="T89" fmla="*/ 54959502 h 296502"/>
              <a:gd name="T90" fmla="*/ 3101470 w 296503"/>
              <a:gd name="T91" fmla="*/ 45877587 h 296502"/>
              <a:gd name="T92" fmla="*/ 2558144 w 296503"/>
              <a:gd name="T93" fmla="*/ 36794837 h 296502"/>
              <a:gd name="T94" fmla="*/ 6977384 w 296503"/>
              <a:gd name="T95" fmla="*/ 23054999 h 296502"/>
              <a:gd name="T96" fmla="*/ 6977384 w 296503"/>
              <a:gd name="T97" fmla="*/ 12808587 h 296502"/>
              <a:gd name="T98" fmla="*/ 12792050 w 296503"/>
              <a:gd name="T99" fmla="*/ 6908576 h 296502"/>
              <a:gd name="T100" fmla="*/ 23026064 w 296503"/>
              <a:gd name="T101" fmla="*/ 6908576 h 29650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96503" h="296502">
                <a:moveTo>
                  <a:pt x="183408" y="167723"/>
                </a:moveTo>
                <a:cubicBezTo>
                  <a:pt x="179834" y="174542"/>
                  <a:pt x="174117" y="179926"/>
                  <a:pt x="167684" y="183515"/>
                </a:cubicBezTo>
                <a:lnTo>
                  <a:pt x="167684" y="231250"/>
                </a:lnTo>
                <a:cubicBezTo>
                  <a:pt x="198774" y="223713"/>
                  <a:pt x="223432" y="199307"/>
                  <a:pt x="230579" y="167723"/>
                </a:cubicBezTo>
                <a:lnTo>
                  <a:pt x="183408" y="167723"/>
                </a:lnTo>
                <a:close/>
                <a:moveTo>
                  <a:pt x="65569" y="167723"/>
                </a:moveTo>
                <a:cubicBezTo>
                  <a:pt x="73074" y="199307"/>
                  <a:pt x="97374" y="223713"/>
                  <a:pt x="128822" y="231250"/>
                </a:cubicBezTo>
                <a:lnTo>
                  <a:pt x="128822" y="183515"/>
                </a:lnTo>
                <a:cubicBezTo>
                  <a:pt x="122032" y="179926"/>
                  <a:pt x="116672" y="174542"/>
                  <a:pt x="112741" y="167723"/>
                </a:cubicBezTo>
                <a:lnTo>
                  <a:pt x="65569" y="167723"/>
                </a:lnTo>
                <a:close/>
                <a:moveTo>
                  <a:pt x="180549" y="158750"/>
                </a:moveTo>
                <a:lnTo>
                  <a:pt x="236297" y="158750"/>
                </a:lnTo>
                <a:cubicBezTo>
                  <a:pt x="237369" y="158750"/>
                  <a:pt x="238441" y="159468"/>
                  <a:pt x="239513" y="160545"/>
                </a:cubicBezTo>
                <a:cubicBezTo>
                  <a:pt x="240228" y="161621"/>
                  <a:pt x="240943" y="162698"/>
                  <a:pt x="240586" y="164134"/>
                </a:cubicBezTo>
                <a:cubicBezTo>
                  <a:pt x="233796" y="203614"/>
                  <a:pt x="203063" y="234122"/>
                  <a:pt x="164111" y="240941"/>
                </a:cubicBezTo>
                <a:cubicBezTo>
                  <a:pt x="163753" y="240941"/>
                  <a:pt x="163396" y="240941"/>
                  <a:pt x="163039" y="240941"/>
                </a:cubicBezTo>
                <a:cubicBezTo>
                  <a:pt x="161966" y="240941"/>
                  <a:pt x="160894" y="240582"/>
                  <a:pt x="160537" y="239864"/>
                </a:cubicBezTo>
                <a:cubicBezTo>
                  <a:pt x="159465" y="239147"/>
                  <a:pt x="158750" y="237711"/>
                  <a:pt x="158750" y="236634"/>
                </a:cubicBezTo>
                <a:lnTo>
                  <a:pt x="158750" y="181003"/>
                </a:lnTo>
                <a:cubicBezTo>
                  <a:pt x="158750" y="179208"/>
                  <a:pt x="159822" y="177414"/>
                  <a:pt x="161252" y="177055"/>
                </a:cubicBezTo>
                <a:cubicBezTo>
                  <a:pt x="168042" y="173824"/>
                  <a:pt x="173402" y="168082"/>
                  <a:pt x="176618" y="161621"/>
                </a:cubicBezTo>
                <a:cubicBezTo>
                  <a:pt x="177333" y="159827"/>
                  <a:pt x="178762" y="158750"/>
                  <a:pt x="180549" y="158750"/>
                </a:cubicBezTo>
                <a:close/>
                <a:moveTo>
                  <a:pt x="60209" y="158750"/>
                </a:moveTo>
                <a:lnTo>
                  <a:pt x="115600" y="158750"/>
                </a:lnTo>
                <a:cubicBezTo>
                  <a:pt x="117386" y="158750"/>
                  <a:pt x="118816" y="159827"/>
                  <a:pt x="119888" y="161621"/>
                </a:cubicBezTo>
                <a:cubicBezTo>
                  <a:pt x="122747" y="168082"/>
                  <a:pt x="128107" y="173824"/>
                  <a:pt x="135254" y="177055"/>
                </a:cubicBezTo>
                <a:cubicBezTo>
                  <a:pt x="136684" y="177414"/>
                  <a:pt x="137756" y="179208"/>
                  <a:pt x="137756" y="181003"/>
                </a:cubicBezTo>
                <a:lnTo>
                  <a:pt x="137756" y="236634"/>
                </a:lnTo>
                <a:cubicBezTo>
                  <a:pt x="137756" y="237711"/>
                  <a:pt x="137041" y="239147"/>
                  <a:pt x="135969" y="239864"/>
                </a:cubicBezTo>
                <a:cubicBezTo>
                  <a:pt x="135254" y="240582"/>
                  <a:pt x="134182" y="240941"/>
                  <a:pt x="133110" y="240941"/>
                </a:cubicBezTo>
                <a:cubicBezTo>
                  <a:pt x="133110" y="240941"/>
                  <a:pt x="132753" y="240941"/>
                  <a:pt x="132395" y="240941"/>
                </a:cubicBezTo>
                <a:cubicBezTo>
                  <a:pt x="93086" y="234122"/>
                  <a:pt x="62710" y="203614"/>
                  <a:pt x="55921" y="164134"/>
                </a:cubicBezTo>
                <a:cubicBezTo>
                  <a:pt x="55563" y="162698"/>
                  <a:pt x="55921" y="161621"/>
                  <a:pt x="56635" y="160545"/>
                </a:cubicBezTo>
                <a:cubicBezTo>
                  <a:pt x="57707" y="159468"/>
                  <a:pt x="59137" y="158750"/>
                  <a:pt x="60209" y="158750"/>
                </a:cubicBezTo>
                <a:close/>
                <a:moveTo>
                  <a:pt x="167684" y="65254"/>
                </a:moveTo>
                <a:lnTo>
                  <a:pt x="167684" y="112989"/>
                </a:lnTo>
                <a:cubicBezTo>
                  <a:pt x="174117" y="116578"/>
                  <a:pt x="179834" y="122321"/>
                  <a:pt x="183408" y="128781"/>
                </a:cubicBezTo>
                <a:lnTo>
                  <a:pt x="230579" y="128781"/>
                </a:lnTo>
                <a:cubicBezTo>
                  <a:pt x="223432" y="97556"/>
                  <a:pt x="198774" y="72791"/>
                  <a:pt x="167684" y="65254"/>
                </a:cubicBezTo>
                <a:close/>
                <a:moveTo>
                  <a:pt x="128822" y="65254"/>
                </a:moveTo>
                <a:cubicBezTo>
                  <a:pt x="97374" y="72791"/>
                  <a:pt x="73074" y="97556"/>
                  <a:pt x="65569" y="128781"/>
                </a:cubicBezTo>
                <a:lnTo>
                  <a:pt x="112741" y="128781"/>
                </a:lnTo>
                <a:cubicBezTo>
                  <a:pt x="116672" y="122321"/>
                  <a:pt x="122032" y="116578"/>
                  <a:pt x="128822" y="112989"/>
                </a:cubicBezTo>
                <a:lnTo>
                  <a:pt x="128822" y="65254"/>
                </a:lnTo>
                <a:close/>
                <a:moveTo>
                  <a:pt x="164111" y="55563"/>
                </a:moveTo>
                <a:cubicBezTo>
                  <a:pt x="203063" y="62382"/>
                  <a:pt x="233796" y="93249"/>
                  <a:pt x="240586" y="132370"/>
                </a:cubicBezTo>
                <a:cubicBezTo>
                  <a:pt x="240943" y="133806"/>
                  <a:pt x="240228" y="135242"/>
                  <a:pt x="239513" y="136318"/>
                </a:cubicBezTo>
                <a:cubicBezTo>
                  <a:pt x="238441" y="137036"/>
                  <a:pt x="237369" y="137754"/>
                  <a:pt x="236297" y="137754"/>
                </a:cubicBezTo>
                <a:lnTo>
                  <a:pt x="180549" y="137754"/>
                </a:lnTo>
                <a:cubicBezTo>
                  <a:pt x="178762" y="137754"/>
                  <a:pt x="177333" y="136677"/>
                  <a:pt x="176618" y="135242"/>
                </a:cubicBezTo>
                <a:cubicBezTo>
                  <a:pt x="173402" y="128422"/>
                  <a:pt x="168042" y="123039"/>
                  <a:pt x="161252" y="119808"/>
                </a:cubicBezTo>
                <a:cubicBezTo>
                  <a:pt x="159822" y="119091"/>
                  <a:pt x="158750" y="117296"/>
                  <a:pt x="158750" y="115501"/>
                </a:cubicBezTo>
                <a:lnTo>
                  <a:pt x="158750" y="60229"/>
                </a:lnTo>
                <a:cubicBezTo>
                  <a:pt x="158750" y="58793"/>
                  <a:pt x="159465" y="57358"/>
                  <a:pt x="160537" y="56640"/>
                </a:cubicBezTo>
                <a:cubicBezTo>
                  <a:pt x="161252" y="55563"/>
                  <a:pt x="162681" y="55563"/>
                  <a:pt x="164111" y="55563"/>
                </a:cubicBezTo>
                <a:close/>
                <a:moveTo>
                  <a:pt x="132395" y="55563"/>
                </a:moveTo>
                <a:cubicBezTo>
                  <a:pt x="133468" y="55563"/>
                  <a:pt x="135254" y="55563"/>
                  <a:pt x="135969" y="56640"/>
                </a:cubicBezTo>
                <a:cubicBezTo>
                  <a:pt x="137041" y="57358"/>
                  <a:pt x="137756" y="58793"/>
                  <a:pt x="137756" y="60229"/>
                </a:cubicBezTo>
                <a:lnTo>
                  <a:pt x="137756" y="115501"/>
                </a:lnTo>
                <a:cubicBezTo>
                  <a:pt x="137756" y="117296"/>
                  <a:pt x="136684" y="119091"/>
                  <a:pt x="135254" y="119808"/>
                </a:cubicBezTo>
                <a:cubicBezTo>
                  <a:pt x="128107" y="123039"/>
                  <a:pt x="122747" y="128422"/>
                  <a:pt x="119888" y="135242"/>
                </a:cubicBezTo>
                <a:cubicBezTo>
                  <a:pt x="118816" y="136677"/>
                  <a:pt x="117386" y="137754"/>
                  <a:pt x="115600" y="137754"/>
                </a:cubicBezTo>
                <a:lnTo>
                  <a:pt x="60209" y="137754"/>
                </a:lnTo>
                <a:cubicBezTo>
                  <a:pt x="59137" y="137754"/>
                  <a:pt x="57707" y="137036"/>
                  <a:pt x="56635" y="136318"/>
                </a:cubicBezTo>
                <a:cubicBezTo>
                  <a:pt x="55921" y="135242"/>
                  <a:pt x="55563" y="133806"/>
                  <a:pt x="55921" y="132370"/>
                </a:cubicBezTo>
                <a:cubicBezTo>
                  <a:pt x="62710" y="93249"/>
                  <a:pt x="93086" y="62382"/>
                  <a:pt x="132395" y="55563"/>
                </a:cubicBezTo>
                <a:close/>
                <a:moveTo>
                  <a:pt x="137624" y="9018"/>
                </a:moveTo>
                <a:cubicBezTo>
                  <a:pt x="136183" y="9018"/>
                  <a:pt x="135102" y="10100"/>
                  <a:pt x="135102" y="11543"/>
                </a:cubicBezTo>
                <a:lnTo>
                  <a:pt x="135102" y="31021"/>
                </a:lnTo>
                <a:cubicBezTo>
                  <a:pt x="135102" y="33185"/>
                  <a:pt x="133300" y="34989"/>
                  <a:pt x="131139" y="35349"/>
                </a:cubicBezTo>
                <a:cubicBezTo>
                  <a:pt x="122853" y="36792"/>
                  <a:pt x="114927" y="38956"/>
                  <a:pt x="107001" y="41842"/>
                </a:cubicBezTo>
                <a:cubicBezTo>
                  <a:pt x="104839" y="42564"/>
                  <a:pt x="102677" y="41842"/>
                  <a:pt x="101597" y="40039"/>
                </a:cubicBezTo>
                <a:lnTo>
                  <a:pt x="91869" y="23085"/>
                </a:lnTo>
                <a:cubicBezTo>
                  <a:pt x="91509" y="22364"/>
                  <a:pt x="90788" y="22003"/>
                  <a:pt x="90068" y="22003"/>
                </a:cubicBezTo>
                <a:cubicBezTo>
                  <a:pt x="89347" y="21642"/>
                  <a:pt x="88627" y="22003"/>
                  <a:pt x="88267" y="22003"/>
                </a:cubicBezTo>
                <a:lnTo>
                  <a:pt x="69532" y="32824"/>
                </a:lnTo>
                <a:cubicBezTo>
                  <a:pt x="68812" y="33185"/>
                  <a:pt x="68091" y="33907"/>
                  <a:pt x="68091" y="34628"/>
                </a:cubicBezTo>
                <a:cubicBezTo>
                  <a:pt x="68091" y="35349"/>
                  <a:pt x="68091" y="36071"/>
                  <a:pt x="68452" y="36792"/>
                </a:cubicBezTo>
                <a:lnTo>
                  <a:pt x="77819" y="53385"/>
                </a:lnTo>
                <a:cubicBezTo>
                  <a:pt x="79260" y="55188"/>
                  <a:pt x="78900" y="57713"/>
                  <a:pt x="77098" y="59156"/>
                </a:cubicBezTo>
                <a:cubicBezTo>
                  <a:pt x="70613" y="64567"/>
                  <a:pt x="64489" y="70338"/>
                  <a:pt x="59445" y="76831"/>
                </a:cubicBezTo>
                <a:cubicBezTo>
                  <a:pt x="58004" y="78634"/>
                  <a:pt x="55481" y="78995"/>
                  <a:pt x="53680" y="77913"/>
                </a:cubicBezTo>
                <a:lnTo>
                  <a:pt x="36747" y="68174"/>
                </a:lnTo>
                <a:cubicBezTo>
                  <a:pt x="36387" y="67813"/>
                  <a:pt x="35306" y="67813"/>
                  <a:pt x="34946" y="68174"/>
                </a:cubicBezTo>
                <a:cubicBezTo>
                  <a:pt x="33865" y="68174"/>
                  <a:pt x="33505" y="68535"/>
                  <a:pt x="33145" y="69256"/>
                </a:cubicBezTo>
                <a:lnTo>
                  <a:pt x="22337" y="88013"/>
                </a:lnTo>
                <a:cubicBezTo>
                  <a:pt x="21976" y="88734"/>
                  <a:pt x="21976" y="89456"/>
                  <a:pt x="22337" y="89816"/>
                </a:cubicBezTo>
                <a:cubicBezTo>
                  <a:pt x="22337" y="90899"/>
                  <a:pt x="22697" y="91259"/>
                  <a:pt x="23417" y="91620"/>
                </a:cubicBezTo>
                <a:lnTo>
                  <a:pt x="39990" y="101359"/>
                </a:lnTo>
                <a:cubicBezTo>
                  <a:pt x="42151" y="102441"/>
                  <a:pt x="42872" y="104605"/>
                  <a:pt x="42151" y="106770"/>
                </a:cubicBezTo>
                <a:cubicBezTo>
                  <a:pt x="38909" y="114705"/>
                  <a:pt x="36747" y="122641"/>
                  <a:pt x="35306" y="130937"/>
                </a:cubicBezTo>
                <a:cubicBezTo>
                  <a:pt x="35306" y="133101"/>
                  <a:pt x="33505" y="134905"/>
                  <a:pt x="30983" y="134905"/>
                </a:cubicBezTo>
                <a:lnTo>
                  <a:pt x="11889" y="134905"/>
                </a:lnTo>
                <a:cubicBezTo>
                  <a:pt x="10448" y="134905"/>
                  <a:pt x="9007" y="135987"/>
                  <a:pt x="9007" y="137430"/>
                </a:cubicBezTo>
                <a:lnTo>
                  <a:pt x="9007" y="159072"/>
                </a:lnTo>
                <a:cubicBezTo>
                  <a:pt x="9007" y="160515"/>
                  <a:pt x="10448" y="161597"/>
                  <a:pt x="11889" y="161597"/>
                </a:cubicBezTo>
                <a:lnTo>
                  <a:pt x="30983" y="161597"/>
                </a:lnTo>
                <a:cubicBezTo>
                  <a:pt x="33505" y="161597"/>
                  <a:pt x="35306" y="163401"/>
                  <a:pt x="35306" y="165565"/>
                </a:cubicBezTo>
                <a:cubicBezTo>
                  <a:pt x="36747" y="173861"/>
                  <a:pt x="38909" y="181797"/>
                  <a:pt x="42151" y="189733"/>
                </a:cubicBezTo>
                <a:cubicBezTo>
                  <a:pt x="42872" y="191897"/>
                  <a:pt x="42151" y="194061"/>
                  <a:pt x="39990" y="195504"/>
                </a:cubicBezTo>
                <a:lnTo>
                  <a:pt x="23417" y="204882"/>
                </a:lnTo>
                <a:cubicBezTo>
                  <a:pt x="22697" y="205243"/>
                  <a:pt x="22337" y="205965"/>
                  <a:pt x="22337" y="206686"/>
                </a:cubicBezTo>
                <a:cubicBezTo>
                  <a:pt x="21976" y="207407"/>
                  <a:pt x="21976" y="208129"/>
                  <a:pt x="22337" y="208850"/>
                </a:cubicBezTo>
                <a:lnTo>
                  <a:pt x="33145" y="227246"/>
                </a:lnTo>
                <a:cubicBezTo>
                  <a:pt x="33865" y="228689"/>
                  <a:pt x="35306" y="229050"/>
                  <a:pt x="36747" y="228328"/>
                </a:cubicBezTo>
                <a:lnTo>
                  <a:pt x="53680" y="218589"/>
                </a:lnTo>
                <a:cubicBezTo>
                  <a:pt x="55481" y="217507"/>
                  <a:pt x="58004" y="218229"/>
                  <a:pt x="59445" y="219671"/>
                </a:cubicBezTo>
                <a:cubicBezTo>
                  <a:pt x="64489" y="226164"/>
                  <a:pt x="70613" y="232296"/>
                  <a:pt x="77098" y="237346"/>
                </a:cubicBezTo>
                <a:cubicBezTo>
                  <a:pt x="78900" y="238789"/>
                  <a:pt x="79260" y="240953"/>
                  <a:pt x="77819" y="243478"/>
                </a:cubicBezTo>
                <a:lnTo>
                  <a:pt x="68452" y="260071"/>
                </a:lnTo>
                <a:cubicBezTo>
                  <a:pt x="68091" y="260792"/>
                  <a:pt x="68091" y="261514"/>
                  <a:pt x="68091" y="261874"/>
                </a:cubicBezTo>
                <a:cubicBezTo>
                  <a:pt x="68091" y="262596"/>
                  <a:pt x="68812" y="263317"/>
                  <a:pt x="69532" y="263678"/>
                </a:cubicBezTo>
                <a:lnTo>
                  <a:pt x="88267" y="274499"/>
                </a:lnTo>
                <a:cubicBezTo>
                  <a:pt x="89347" y="275221"/>
                  <a:pt x="90788" y="274860"/>
                  <a:pt x="91869" y="273417"/>
                </a:cubicBezTo>
                <a:lnTo>
                  <a:pt x="101597" y="256464"/>
                </a:lnTo>
                <a:cubicBezTo>
                  <a:pt x="102317" y="255382"/>
                  <a:pt x="103758" y="254660"/>
                  <a:pt x="105199" y="254660"/>
                </a:cubicBezTo>
                <a:cubicBezTo>
                  <a:pt x="105920" y="254660"/>
                  <a:pt x="106280" y="254660"/>
                  <a:pt x="107001" y="254660"/>
                </a:cubicBezTo>
                <a:cubicBezTo>
                  <a:pt x="114927" y="257907"/>
                  <a:pt x="122853" y="260071"/>
                  <a:pt x="131139" y="261514"/>
                </a:cubicBezTo>
                <a:cubicBezTo>
                  <a:pt x="133300" y="261514"/>
                  <a:pt x="135102" y="263317"/>
                  <a:pt x="135102" y="265842"/>
                </a:cubicBezTo>
                <a:lnTo>
                  <a:pt x="135102" y="284960"/>
                </a:lnTo>
                <a:cubicBezTo>
                  <a:pt x="135102" y="286403"/>
                  <a:pt x="136183" y="287845"/>
                  <a:pt x="137624" y="287845"/>
                </a:cubicBezTo>
                <a:lnTo>
                  <a:pt x="158880" y="287845"/>
                </a:lnTo>
                <a:cubicBezTo>
                  <a:pt x="160681" y="287845"/>
                  <a:pt x="161762" y="286403"/>
                  <a:pt x="161762" y="284960"/>
                </a:cubicBezTo>
                <a:lnTo>
                  <a:pt x="161762" y="265842"/>
                </a:lnTo>
                <a:cubicBezTo>
                  <a:pt x="161762" y="263317"/>
                  <a:pt x="163563" y="261514"/>
                  <a:pt x="165725" y="261514"/>
                </a:cubicBezTo>
                <a:cubicBezTo>
                  <a:pt x="173651" y="260071"/>
                  <a:pt x="181937" y="257907"/>
                  <a:pt x="189863" y="254660"/>
                </a:cubicBezTo>
                <a:cubicBezTo>
                  <a:pt x="191664" y="253939"/>
                  <a:pt x="194186" y="254660"/>
                  <a:pt x="195267" y="256464"/>
                </a:cubicBezTo>
                <a:lnTo>
                  <a:pt x="204994" y="273417"/>
                </a:lnTo>
                <a:cubicBezTo>
                  <a:pt x="205355" y="274138"/>
                  <a:pt x="205715" y="274499"/>
                  <a:pt x="206435" y="274499"/>
                </a:cubicBezTo>
                <a:cubicBezTo>
                  <a:pt x="207156" y="274860"/>
                  <a:pt x="207876" y="274860"/>
                  <a:pt x="208597" y="274499"/>
                </a:cubicBezTo>
                <a:lnTo>
                  <a:pt x="227331" y="263678"/>
                </a:lnTo>
                <a:cubicBezTo>
                  <a:pt x="228772" y="262956"/>
                  <a:pt x="229132" y="261514"/>
                  <a:pt x="228052" y="260071"/>
                </a:cubicBezTo>
                <a:lnTo>
                  <a:pt x="218685" y="243478"/>
                </a:lnTo>
                <a:cubicBezTo>
                  <a:pt x="217243" y="240953"/>
                  <a:pt x="217964" y="238789"/>
                  <a:pt x="219765" y="237346"/>
                </a:cubicBezTo>
                <a:cubicBezTo>
                  <a:pt x="226250" y="232296"/>
                  <a:pt x="232015" y="226164"/>
                  <a:pt x="237419" y="219671"/>
                </a:cubicBezTo>
                <a:cubicBezTo>
                  <a:pt x="238860" y="218229"/>
                  <a:pt x="241021" y="217507"/>
                  <a:pt x="242823" y="218589"/>
                </a:cubicBezTo>
                <a:lnTo>
                  <a:pt x="260116" y="228328"/>
                </a:lnTo>
                <a:cubicBezTo>
                  <a:pt x="260476" y="228689"/>
                  <a:pt x="261196" y="229050"/>
                  <a:pt x="261917" y="228689"/>
                </a:cubicBezTo>
                <a:cubicBezTo>
                  <a:pt x="262638" y="228328"/>
                  <a:pt x="262998" y="227968"/>
                  <a:pt x="263718" y="227246"/>
                </a:cubicBezTo>
                <a:lnTo>
                  <a:pt x="274526" y="208850"/>
                </a:lnTo>
                <a:cubicBezTo>
                  <a:pt x="274887" y="207407"/>
                  <a:pt x="274526" y="205965"/>
                  <a:pt x="273446" y="204882"/>
                </a:cubicBezTo>
                <a:lnTo>
                  <a:pt x="256513" y="195504"/>
                </a:lnTo>
                <a:cubicBezTo>
                  <a:pt x="254712" y="194061"/>
                  <a:pt x="253631" y="191897"/>
                  <a:pt x="254712" y="189733"/>
                </a:cubicBezTo>
                <a:cubicBezTo>
                  <a:pt x="257594" y="181797"/>
                  <a:pt x="260116" y="173861"/>
                  <a:pt x="261196" y="165565"/>
                </a:cubicBezTo>
                <a:cubicBezTo>
                  <a:pt x="261557" y="163401"/>
                  <a:pt x="263358" y="161597"/>
                  <a:pt x="265520" y="161597"/>
                </a:cubicBezTo>
                <a:lnTo>
                  <a:pt x="284974" y="161597"/>
                </a:lnTo>
                <a:cubicBezTo>
                  <a:pt x="286415" y="161597"/>
                  <a:pt x="287856" y="160515"/>
                  <a:pt x="287856" y="159072"/>
                </a:cubicBezTo>
                <a:lnTo>
                  <a:pt x="287856" y="137430"/>
                </a:lnTo>
                <a:cubicBezTo>
                  <a:pt x="287856" y="135987"/>
                  <a:pt x="286415" y="134905"/>
                  <a:pt x="284974" y="134905"/>
                </a:cubicBezTo>
                <a:lnTo>
                  <a:pt x="265520" y="134905"/>
                </a:lnTo>
                <a:cubicBezTo>
                  <a:pt x="263358" y="134905"/>
                  <a:pt x="261557" y="133101"/>
                  <a:pt x="261196" y="130937"/>
                </a:cubicBezTo>
                <a:cubicBezTo>
                  <a:pt x="260116" y="122641"/>
                  <a:pt x="257594" y="114705"/>
                  <a:pt x="254712" y="106770"/>
                </a:cubicBezTo>
                <a:cubicBezTo>
                  <a:pt x="253631" y="104605"/>
                  <a:pt x="254712" y="102441"/>
                  <a:pt x="256513" y="101359"/>
                </a:cubicBezTo>
                <a:lnTo>
                  <a:pt x="273446" y="91620"/>
                </a:lnTo>
                <a:cubicBezTo>
                  <a:pt x="274526" y="90899"/>
                  <a:pt x="274887" y="89456"/>
                  <a:pt x="274526" y="88013"/>
                </a:cubicBezTo>
                <a:lnTo>
                  <a:pt x="263718" y="69256"/>
                </a:lnTo>
                <a:cubicBezTo>
                  <a:pt x="262998" y="68535"/>
                  <a:pt x="262638" y="68174"/>
                  <a:pt x="261917" y="68174"/>
                </a:cubicBezTo>
                <a:cubicBezTo>
                  <a:pt x="261196" y="67813"/>
                  <a:pt x="260476" y="67813"/>
                  <a:pt x="260116" y="68174"/>
                </a:cubicBezTo>
                <a:lnTo>
                  <a:pt x="242823" y="77913"/>
                </a:lnTo>
                <a:cubicBezTo>
                  <a:pt x="241021" y="78995"/>
                  <a:pt x="238860" y="78634"/>
                  <a:pt x="237419" y="76831"/>
                </a:cubicBezTo>
                <a:cubicBezTo>
                  <a:pt x="232015" y="70338"/>
                  <a:pt x="226250" y="64567"/>
                  <a:pt x="219765" y="59156"/>
                </a:cubicBezTo>
                <a:cubicBezTo>
                  <a:pt x="217964" y="57713"/>
                  <a:pt x="217243" y="55188"/>
                  <a:pt x="218685" y="53385"/>
                </a:cubicBezTo>
                <a:lnTo>
                  <a:pt x="228052" y="36792"/>
                </a:lnTo>
                <a:cubicBezTo>
                  <a:pt x="229132" y="35349"/>
                  <a:pt x="228772" y="33907"/>
                  <a:pt x="227331" y="32824"/>
                </a:cubicBezTo>
                <a:lnTo>
                  <a:pt x="208597" y="22003"/>
                </a:lnTo>
                <a:cubicBezTo>
                  <a:pt x="207876" y="22003"/>
                  <a:pt x="207156" y="21642"/>
                  <a:pt x="206435" y="22003"/>
                </a:cubicBezTo>
                <a:cubicBezTo>
                  <a:pt x="205715" y="22003"/>
                  <a:pt x="205355" y="22364"/>
                  <a:pt x="204994" y="23085"/>
                </a:cubicBezTo>
                <a:lnTo>
                  <a:pt x="195267" y="40039"/>
                </a:lnTo>
                <a:cubicBezTo>
                  <a:pt x="194186" y="41842"/>
                  <a:pt x="191664" y="42564"/>
                  <a:pt x="189863" y="41842"/>
                </a:cubicBezTo>
                <a:cubicBezTo>
                  <a:pt x="181937" y="38956"/>
                  <a:pt x="173651" y="36792"/>
                  <a:pt x="165725" y="35349"/>
                </a:cubicBezTo>
                <a:cubicBezTo>
                  <a:pt x="163563" y="34989"/>
                  <a:pt x="161762" y="33185"/>
                  <a:pt x="161762" y="31021"/>
                </a:cubicBezTo>
                <a:lnTo>
                  <a:pt x="161762" y="11543"/>
                </a:lnTo>
                <a:cubicBezTo>
                  <a:pt x="161762" y="10100"/>
                  <a:pt x="160681" y="9018"/>
                  <a:pt x="158880" y="9018"/>
                </a:cubicBezTo>
                <a:lnTo>
                  <a:pt x="137624" y="9018"/>
                </a:lnTo>
                <a:close/>
                <a:moveTo>
                  <a:pt x="137624" y="0"/>
                </a:moveTo>
                <a:lnTo>
                  <a:pt x="158880" y="0"/>
                </a:lnTo>
                <a:cubicBezTo>
                  <a:pt x="165725" y="0"/>
                  <a:pt x="170769" y="5050"/>
                  <a:pt x="170769" y="11543"/>
                </a:cubicBezTo>
                <a:lnTo>
                  <a:pt x="170769" y="27053"/>
                </a:lnTo>
                <a:cubicBezTo>
                  <a:pt x="176893" y="28135"/>
                  <a:pt x="183378" y="29939"/>
                  <a:pt x="189503" y="32103"/>
                </a:cubicBezTo>
                <a:lnTo>
                  <a:pt x="197068" y="18757"/>
                </a:lnTo>
                <a:cubicBezTo>
                  <a:pt x="198870" y="15871"/>
                  <a:pt x="201392" y="14068"/>
                  <a:pt x="204274" y="13346"/>
                </a:cubicBezTo>
                <a:cubicBezTo>
                  <a:pt x="207156" y="12264"/>
                  <a:pt x="210398" y="12985"/>
                  <a:pt x="213280" y="14428"/>
                </a:cubicBezTo>
                <a:lnTo>
                  <a:pt x="231654" y="25250"/>
                </a:lnTo>
                <a:cubicBezTo>
                  <a:pt x="237419" y="28496"/>
                  <a:pt x="239220" y="35710"/>
                  <a:pt x="235978" y="41121"/>
                </a:cubicBezTo>
                <a:lnTo>
                  <a:pt x="228052" y="54828"/>
                </a:lnTo>
                <a:cubicBezTo>
                  <a:pt x="233095" y="58795"/>
                  <a:pt x="237779" y="63485"/>
                  <a:pt x="242102" y="68174"/>
                </a:cubicBezTo>
                <a:lnTo>
                  <a:pt x="255432" y="60599"/>
                </a:lnTo>
                <a:cubicBezTo>
                  <a:pt x="257954" y="58795"/>
                  <a:pt x="261196" y="58435"/>
                  <a:pt x="264079" y="59517"/>
                </a:cubicBezTo>
                <a:cubicBezTo>
                  <a:pt x="267321" y="59878"/>
                  <a:pt x="269843" y="62042"/>
                  <a:pt x="271284" y="64567"/>
                </a:cubicBezTo>
                <a:lnTo>
                  <a:pt x="282092" y="83684"/>
                </a:lnTo>
                <a:cubicBezTo>
                  <a:pt x="285335" y="89095"/>
                  <a:pt x="283533" y="96309"/>
                  <a:pt x="278129" y="99556"/>
                </a:cubicBezTo>
                <a:lnTo>
                  <a:pt x="264439" y="107130"/>
                </a:lnTo>
                <a:cubicBezTo>
                  <a:pt x="266601" y="113262"/>
                  <a:pt x="268042" y="119394"/>
                  <a:pt x="269483" y="125887"/>
                </a:cubicBezTo>
                <a:lnTo>
                  <a:pt x="284974" y="125887"/>
                </a:lnTo>
                <a:cubicBezTo>
                  <a:pt x="291459" y="125887"/>
                  <a:pt x="296503" y="130937"/>
                  <a:pt x="296503" y="137430"/>
                </a:cubicBezTo>
                <a:lnTo>
                  <a:pt x="296503" y="159072"/>
                </a:lnTo>
                <a:cubicBezTo>
                  <a:pt x="296503" y="165565"/>
                  <a:pt x="291459" y="170976"/>
                  <a:pt x="284974" y="170976"/>
                </a:cubicBezTo>
                <a:lnTo>
                  <a:pt x="269483" y="170976"/>
                </a:lnTo>
                <a:cubicBezTo>
                  <a:pt x="268042" y="177108"/>
                  <a:pt x="266601" y="183240"/>
                  <a:pt x="264439" y="189372"/>
                </a:cubicBezTo>
                <a:lnTo>
                  <a:pt x="278129" y="196947"/>
                </a:lnTo>
                <a:cubicBezTo>
                  <a:pt x="283533" y="200554"/>
                  <a:pt x="285335" y="207768"/>
                  <a:pt x="282092" y="213179"/>
                </a:cubicBezTo>
                <a:lnTo>
                  <a:pt x="271284" y="231936"/>
                </a:lnTo>
                <a:cubicBezTo>
                  <a:pt x="269843" y="234460"/>
                  <a:pt x="267321" y="236625"/>
                  <a:pt x="264079" y="237346"/>
                </a:cubicBezTo>
                <a:cubicBezTo>
                  <a:pt x="261196" y="238068"/>
                  <a:pt x="257954" y="237707"/>
                  <a:pt x="255432" y="236264"/>
                </a:cubicBezTo>
                <a:lnTo>
                  <a:pt x="242102" y="228328"/>
                </a:lnTo>
                <a:cubicBezTo>
                  <a:pt x="237779" y="233378"/>
                  <a:pt x="233095" y="237707"/>
                  <a:pt x="228052" y="242035"/>
                </a:cubicBezTo>
                <a:lnTo>
                  <a:pt x="235978" y="255382"/>
                </a:lnTo>
                <a:cubicBezTo>
                  <a:pt x="239220" y="261153"/>
                  <a:pt x="237419" y="268367"/>
                  <a:pt x="231654" y="271613"/>
                </a:cubicBezTo>
                <a:lnTo>
                  <a:pt x="213280" y="282074"/>
                </a:lnTo>
                <a:cubicBezTo>
                  <a:pt x="210398" y="283878"/>
                  <a:pt x="207156" y="284238"/>
                  <a:pt x="204274" y="283517"/>
                </a:cubicBezTo>
                <a:cubicBezTo>
                  <a:pt x="201392" y="282795"/>
                  <a:pt x="198870" y="280631"/>
                  <a:pt x="197068" y="278106"/>
                </a:cubicBezTo>
                <a:lnTo>
                  <a:pt x="189503" y="264399"/>
                </a:lnTo>
                <a:cubicBezTo>
                  <a:pt x="183378" y="266564"/>
                  <a:pt x="176893" y="268367"/>
                  <a:pt x="170769" y="269449"/>
                </a:cubicBezTo>
                <a:lnTo>
                  <a:pt x="170769" y="284960"/>
                </a:lnTo>
                <a:cubicBezTo>
                  <a:pt x="170769" y="291452"/>
                  <a:pt x="165725" y="296502"/>
                  <a:pt x="158880" y="296502"/>
                </a:cubicBezTo>
                <a:lnTo>
                  <a:pt x="137624" y="296502"/>
                </a:lnTo>
                <a:cubicBezTo>
                  <a:pt x="131139" y="296502"/>
                  <a:pt x="125735" y="291452"/>
                  <a:pt x="125735" y="284960"/>
                </a:cubicBezTo>
                <a:lnTo>
                  <a:pt x="125735" y="269449"/>
                </a:lnTo>
                <a:cubicBezTo>
                  <a:pt x="119610" y="268367"/>
                  <a:pt x="113485" y="266564"/>
                  <a:pt x="107001" y="264399"/>
                </a:cubicBezTo>
                <a:lnTo>
                  <a:pt x="99435" y="278106"/>
                </a:lnTo>
                <a:cubicBezTo>
                  <a:pt x="97994" y="280631"/>
                  <a:pt x="95472" y="282795"/>
                  <a:pt x="92230" y="283517"/>
                </a:cubicBezTo>
                <a:cubicBezTo>
                  <a:pt x="89347" y="284238"/>
                  <a:pt x="86105" y="283878"/>
                  <a:pt x="83583" y="282074"/>
                </a:cubicBezTo>
                <a:lnTo>
                  <a:pt x="64849" y="271613"/>
                </a:lnTo>
                <a:cubicBezTo>
                  <a:pt x="62327" y="269810"/>
                  <a:pt x="60165" y="267285"/>
                  <a:pt x="59445" y="264399"/>
                </a:cubicBezTo>
                <a:cubicBezTo>
                  <a:pt x="58724" y="261514"/>
                  <a:pt x="59085" y="258267"/>
                  <a:pt x="60526" y="255382"/>
                </a:cubicBezTo>
                <a:lnTo>
                  <a:pt x="68452" y="242035"/>
                </a:lnTo>
                <a:cubicBezTo>
                  <a:pt x="63408" y="237707"/>
                  <a:pt x="59085" y="233378"/>
                  <a:pt x="54761" y="228328"/>
                </a:cubicBezTo>
                <a:lnTo>
                  <a:pt x="41431" y="236264"/>
                </a:lnTo>
                <a:cubicBezTo>
                  <a:pt x="35667" y="239510"/>
                  <a:pt x="28821" y="237346"/>
                  <a:pt x="25219" y="231936"/>
                </a:cubicBezTo>
                <a:lnTo>
                  <a:pt x="14411" y="213179"/>
                </a:lnTo>
                <a:cubicBezTo>
                  <a:pt x="12969" y="210654"/>
                  <a:pt x="12609" y="207407"/>
                  <a:pt x="13330" y="204161"/>
                </a:cubicBezTo>
                <a:cubicBezTo>
                  <a:pt x="14411" y="201275"/>
                  <a:pt x="16212" y="198750"/>
                  <a:pt x="19094" y="196947"/>
                </a:cubicBezTo>
                <a:lnTo>
                  <a:pt x="32424" y="189372"/>
                </a:lnTo>
                <a:cubicBezTo>
                  <a:pt x="30262" y="183240"/>
                  <a:pt x="28461" y="177108"/>
                  <a:pt x="27380" y="170976"/>
                </a:cubicBezTo>
                <a:lnTo>
                  <a:pt x="11889" y="170976"/>
                </a:lnTo>
                <a:cubicBezTo>
                  <a:pt x="5404" y="170976"/>
                  <a:pt x="0" y="165565"/>
                  <a:pt x="0" y="159072"/>
                </a:cubicBezTo>
                <a:lnTo>
                  <a:pt x="0" y="137430"/>
                </a:lnTo>
                <a:cubicBezTo>
                  <a:pt x="0" y="130937"/>
                  <a:pt x="5404" y="125887"/>
                  <a:pt x="11889" y="125887"/>
                </a:cubicBezTo>
                <a:lnTo>
                  <a:pt x="27380" y="125887"/>
                </a:lnTo>
                <a:cubicBezTo>
                  <a:pt x="28461" y="119394"/>
                  <a:pt x="30262" y="113262"/>
                  <a:pt x="32424" y="107130"/>
                </a:cubicBezTo>
                <a:lnTo>
                  <a:pt x="19094" y="99556"/>
                </a:lnTo>
                <a:cubicBezTo>
                  <a:pt x="16212" y="98113"/>
                  <a:pt x="14411" y="95227"/>
                  <a:pt x="13330" y="92341"/>
                </a:cubicBezTo>
                <a:cubicBezTo>
                  <a:pt x="12609" y="89456"/>
                  <a:pt x="12969" y="86209"/>
                  <a:pt x="14411" y="83684"/>
                </a:cubicBezTo>
                <a:lnTo>
                  <a:pt x="25219" y="64567"/>
                </a:lnTo>
                <a:cubicBezTo>
                  <a:pt x="27020" y="62042"/>
                  <a:pt x="29542" y="59878"/>
                  <a:pt x="32424" y="59517"/>
                </a:cubicBezTo>
                <a:cubicBezTo>
                  <a:pt x="35306" y="58435"/>
                  <a:pt x="38549" y="58795"/>
                  <a:pt x="41431" y="60599"/>
                </a:cubicBezTo>
                <a:lnTo>
                  <a:pt x="54761" y="68174"/>
                </a:lnTo>
                <a:cubicBezTo>
                  <a:pt x="59085" y="63485"/>
                  <a:pt x="63408" y="58795"/>
                  <a:pt x="68452" y="54828"/>
                </a:cubicBezTo>
                <a:lnTo>
                  <a:pt x="60526" y="41121"/>
                </a:lnTo>
                <a:cubicBezTo>
                  <a:pt x="59085" y="38596"/>
                  <a:pt x="58724" y="35349"/>
                  <a:pt x="59445" y="32103"/>
                </a:cubicBezTo>
                <a:cubicBezTo>
                  <a:pt x="60165" y="29217"/>
                  <a:pt x="62327" y="26692"/>
                  <a:pt x="64849" y="25250"/>
                </a:cubicBezTo>
                <a:lnTo>
                  <a:pt x="83583" y="14428"/>
                </a:lnTo>
                <a:cubicBezTo>
                  <a:pt x="86105" y="12985"/>
                  <a:pt x="89347" y="12264"/>
                  <a:pt x="92230" y="13346"/>
                </a:cubicBezTo>
                <a:cubicBezTo>
                  <a:pt x="95472" y="14068"/>
                  <a:pt x="97994" y="15871"/>
                  <a:pt x="99435" y="18757"/>
                </a:cubicBezTo>
                <a:lnTo>
                  <a:pt x="107001" y="32103"/>
                </a:lnTo>
                <a:cubicBezTo>
                  <a:pt x="113485" y="29939"/>
                  <a:pt x="119610" y="28135"/>
                  <a:pt x="125735" y="27053"/>
                </a:cubicBezTo>
                <a:lnTo>
                  <a:pt x="125735" y="11543"/>
                </a:lnTo>
                <a:cubicBezTo>
                  <a:pt x="125735" y="5050"/>
                  <a:pt x="131139" y="0"/>
                  <a:pt x="137624" y="0"/>
                </a:cubicBezTo>
                <a:close/>
              </a:path>
            </a:pathLst>
          </a:custGeom>
          <a:solidFill>
            <a:schemeClr val="bg1"/>
          </a:solidFill>
          <a:ln>
            <a:noFill/>
          </a:ln>
          <a:effectLst/>
        </p:spPr>
        <p:txBody>
          <a:bodyPr anchor="ctr"/>
          <a:lstStyle/>
          <a:p>
            <a:endParaRPr lang="en-US" sz="2000" dirty="0">
              <a:latin typeface="Verdana" panose="020B0604030504040204" pitchFamily="34" charset="0"/>
              <a:ea typeface="Verdana" panose="020B0604030504040204" pitchFamily="34" charset="0"/>
            </a:endParaRPr>
          </a:p>
        </p:txBody>
      </p:sp>
      <p:sp>
        <p:nvSpPr>
          <p:cNvPr id="28" name="Freeform 927">
            <a:extLst>
              <a:ext uri="{FF2B5EF4-FFF2-40B4-BE49-F238E27FC236}">
                <a16:creationId xmlns:a16="http://schemas.microsoft.com/office/drawing/2014/main" id="{7E141FEF-42DD-844B-90AA-109F68E2758A}"/>
              </a:ext>
            </a:extLst>
          </p:cNvPr>
          <p:cNvSpPr>
            <a:spLocks noChangeAspect="1" noChangeArrowheads="1"/>
          </p:cNvSpPr>
          <p:nvPr/>
        </p:nvSpPr>
        <p:spPr bwMode="auto">
          <a:xfrm>
            <a:off x="7731024" y="5472176"/>
            <a:ext cx="271285" cy="340612"/>
          </a:xfrm>
          <a:custGeom>
            <a:avLst/>
            <a:gdLst>
              <a:gd name="T0" fmla="*/ 15719183 w 236178"/>
              <a:gd name="T1" fmla="*/ 61945660 h 296502"/>
              <a:gd name="T2" fmla="*/ 39336738 w 236178"/>
              <a:gd name="T3" fmla="*/ 53251753 h 296502"/>
              <a:gd name="T4" fmla="*/ 25568115 w 236178"/>
              <a:gd name="T5" fmla="*/ 48512621 h 296502"/>
              <a:gd name="T6" fmla="*/ 25568115 w 236178"/>
              <a:gd name="T7" fmla="*/ 53899668 h 296502"/>
              <a:gd name="T8" fmla="*/ 25568115 w 236178"/>
              <a:gd name="T9" fmla="*/ 48512621 h 296502"/>
              <a:gd name="T10" fmla="*/ 36630756 w 236178"/>
              <a:gd name="T11" fmla="*/ 49327357 h 296502"/>
              <a:gd name="T12" fmla="*/ 35050893 w 236178"/>
              <a:gd name="T13" fmla="*/ 50352551 h 296502"/>
              <a:gd name="T14" fmla="*/ 17399647 w 236178"/>
              <a:gd name="T15" fmla="*/ 46094902 h 296502"/>
              <a:gd name="T16" fmla="*/ 15146683 w 236178"/>
              <a:gd name="T17" fmla="*/ 50825669 h 296502"/>
              <a:gd name="T18" fmla="*/ 16031604 w 236178"/>
              <a:gd name="T19" fmla="*/ 46489164 h 296502"/>
              <a:gd name="T20" fmla="*/ 43755479 w 236178"/>
              <a:gd name="T21" fmla="*/ 41587318 h 296502"/>
              <a:gd name="T22" fmla="*/ 42745234 w 236178"/>
              <a:gd name="T23" fmla="*/ 43231587 h 296502"/>
              <a:gd name="T24" fmla="*/ 40879607 w 236178"/>
              <a:gd name="T25" fmla="*/ 39865021 h 296502"/>
              <a:gd name="T26" fmla="*/ 10937612 w 236178"/>
              <a:gd name="T27" fmla="*/ 41587318 h 296502"/>
              <a:gd name="T28" fmla="*/ 6803121 w 236178"/>
              <a:gd name="T29" fmla="*/ 42918386 h 296502"/>
              <a:gd name="T30" fmla="*/ 42750416 w 236178"/>
              <a:gd name="T31" fmla="*/ 31089329 h 296502"/>
              <a:gd name="T32" fmla="*/ 46080630 w 236178"/>
              <a:gd name="T33" fmla="*/ 33060198 h 296502"/>
              <a:gd name="T34" fmla="*/ 42750416 w 236178"/>
              <a:gd name="T35" fmla="*/ 31089329 h 296502"/>
              <a:gd name="T36" fmla="*/ 8815338 w 236178"/>
              <a:gd name="T37" fmla="*/ 32035261 h 296502"/>
              <a:gd name="T38" fmla="*/ 3761903 w 236178"/>
              <a:gd name="T39" fmla="*/ 32035261 h 296502"/>
              <a:gd name="T40" fmla="*/ 44066148 w 236178"/>
              <a:gd name="T41" fmla="*/ 21111891 h 296502"/>
              <a:gd name="T42" fmla="*/ 40413366 w 236178"/>
              <a:gd name="T43" fmla="*/ 24179702 h 296502"/>
              <a:gd name="T44" fmla="*/ 42745234 w 236178"/>
              <a:gd name="T45" fmla="*/ 20728437 h 296502"/>
              <a:gd name="T46" fmla="*/ 11243943 w 236178"/>
              <a:gd name="T47" fmla="*/ 23719612 h 296502"/>
              <a:gd name="T48" fmla="*/ 7186406 w 236178"/>
              <a:gd name="T49" fmla="*/ 22415668 h 296502"/>
              <a:gd name="T50" fmla="*/ 25555282 w 236178"/>
              <a:gd name="T51" fmla="*/ 18790270 h 296502"/>
              <a:gd name="T52" fmla="*/ 33106335 w 236178"/>
              <a:gd name="T53" fmla="*/ 31122562 h 296502"/>
              <a:gd name="T54" fmla="*/ 25555282 w 236178"/>
              <a:gd name="T55" fmla="*/ 33061749 h 296502"/>
              <a:gd name="T56" fmla="*/ 25555282 w 236178"/>
              <a:gd name="T57" fmla="*/ 18790270 h 296502"/>
              <a:gd name="T58" fmla="*/ 35050893 w 236178"/>
              <a:gd name="T59" fmla="*/ 17555252 h 296502"/>
              <a:gd name="T60" fmla="*/ 33395829 w 236178"/>
              <a:gd name="T61" fmla="*/ 16608694 h 296502"/>
              <a:gd name="T62" fmla="*/ 14663890 w 236178"/>
              <a:gd name="T63" fmla="*/ 13297463 h 296502"/>
              <a:gd name="T64" fmla="*/ 17399647 w 236178"/>
              <a:gd name="T65" fmla="*/ 17949471 h 296502"/>
              <a:gd name="T66" fmla="*/ 14342217 w 236178"/>
              <a:gd name="T67" fmla="*/ 14637848 h 296502"/>
              <a:gd name="T68" fmla="*/ 26594265 w 236178"/>
              <a:gd name="T69" fmla="*/ 11495095 h 296502"/>
              <a:gd name="T70" fmla="*/ 24621214 w 236178"/>
              <a:gd name="T71" fmla="*/ 14735849 h 296502"/>
              <a:gd name="T72" fmla="*/ 25398433 w 236178"/>
              <a:gd name="T73" fmla="*/ 8383574 h 296502"/>
              <a:gd name="T74" fmla="*/ 48861174 w 236178"/>
              <a:gd name="T75" fmla="*/ 31904504 h 296502"/>
              <a:gd name="T76" fmla="*/ 12854119 w 236178"/>
              <a:gd name="T77" fmla="*/ 4192038 h 296502"/>
              <a:gd name="T78" fmla="*/ 39336738 w 236178"/>
              <a:gd name="T79" fmla="*/ 10634558 h 296502"/>
              <a:gd name="T80" fmla="*/ 15719183 w 236178"/>
              <a:gd name="T81" fmla="*/ 1940661 h 296502"/>
              <a:gd name="T82" fmla="*/ 39878861 w 236178"/>
              <a:gd name="T83" fmla="*/ 3804166 h 296502"/>
              <a:gd name="T84" fmla="*/ 41659812 w 236178"/>
              <a:gd name="T85" fmla="*/ 51544061 h 296502"/>
              <a:gd name="T86" fmla="*/ 15719183 w 236178"/>
              <a:gd name="T87" fmla="*/ 63808757 h 296502"/>
              <a:gd name="T88" fmla="*/ 0 w 236178"/>
              <a:gd name="T89" fmla="*/ 31904504 h 296502"/>
              <a:gd name="T90" fmla="*/ 15719183 w 236178"/>
              <a:gd name="T91" fmla="*/ 0 h 2965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6178" h="296502">
                <a:moveTo>
                  <a:pt x="53562" y="247446"/>
                </a:moveTo>
                <a:lnTo>
                  <a:pt x="59673" y="277024"/>
                </a:lnTo>
                <a:cubicBezTo>
                  <a:pt x="60752" y="283517"/>
                  <a:pt x="66503" y="287845"/>
                  <a:pt x="72974" y="287845"/>
                </a:cubicBezTo>
                <a:lnTo>
                  <a:pt x="163204" y="287845"/>
                </a:lnTo>
                <a:cubicBezTo>
                  <a:pt x="169674" y="287845"/>
                  <a:pt x="175066" y="283517"/>
                  <a:pt x="176145" y="277024"/>
                </a:cubicBezTo>
                <a:lnTo>
                  <a:pt x="182615" y="247446"/>
                </a:lnTo>
                <a:cubicBezTo>
                  <a:pt x="163923" y="259710"/>
                  <a:pt x="141635" y="266924"/>
                  <a:pt x="117909" y="266924"/>
                </a:cubicBezTo>
                <a:cubicBezTo>
                  <a:pt x="94183" y="266924"/>
                  <a:pt x="72255" y="259710"/>
                  <a:pt x="53562" y="247446"/>
                </a:cubicBezTo>
                <a:close/>
                <a:moveTo>
                  <a:pt x="118696" y="225425"/>
                </a:moveTo>
                <a:cubicBezTo>
                  <a:pt x="121261" y="225425"/>
                  <a:pt x="123459" y="227266"/>
                  <a:pt x="123459" y="230211"/>
                </a:cubicBezTo>
                <a:lnTo>
                  <a:pt x="123459" y="245671"/>
                </a:lnTo>
                <a:cubicBezTo>
                  <a:pt x="123459" y="248248"/>
                  <a:pt x="121261" y="250457"/>
                  <a:pt x="118696" y="250457"/>
                </a:cubicBezTo>
                <a:cubicBezTo>
                  <a:pt x="116498" y="250457"/>
                  <a:pt x="114300" y="248248"/>
                  <a:pt x="114300" y="245671"/>
                </a:cubicBezTo>
                <a:lnTo>
                  <a:pt x="114300" y="230211"/>
                </a:lnTo>
                <a:cubicBezTo>
                  <a:pt x="114300" y="227266"/>
                  <a:pt x="116498" y="225425"/>
                  <a:pt x="118696" y="225425"/>
                </a:cubicBezTo>
                <a:close/>
                <a:moveTo>
                  <a:pt x="156781" y="214190"/>
                </a:moveTo>
                <a:cubicBezTo>
                  <a:pt x="158528" y="212725"/>
                  <a:pt x="161322" y="213458"/>
                  <a:pt x="162719" y="216022"/>
                </a:cubicBezTo>
                <a:lnTo>
                  <a:pt x="170053" y="229211"/>
                </a:lnTo>
                <a:cubicBezTo>
                  <a:pt x="171101" y="231409"/>
                  <a:pt x="170752" y="233974"/>
                  <a:pt x="168656" y="235439"/>
                </a:cubicBezTo>
                <a:cubicBezTo>
                  <a:pt x="167608" y="235805"/>
                  <a:pt x="167259" y="236172"/>
                  <a:pt x="166211" y="236172"/>
                </a:cubicBezTo>
                <a:cubicBezTo>
                  <a:pt x="164814" y="236172"/>
                  <a:pt x="163417" y="235439"/>
                  <a:pt x="162719" y="233974"/>
                </a:cubicBezTo>
                <a:lnTo>
                  <a:pt x="155035" y="220418"/>
                </a:lnTo>
                <a:cubicBezTo>
                  <a:pt x="153987" y="218220"/>
                  <a:pt x="154686" y="215290"/>
                  <a:pt x="156781" y="214190"/>
                </a:cubicBezTo>
                <a:close/>
                <a:moveTo>
                  <a:pt x="80775" y="214190"/>
                </a:moveTo>
                <a:cubicBezTo>
                  <a:pt x="83016" y="215290"/>
                  <a:pt x="83763" y="218220"/>
                  <a:pt x="82269" y="220418"/>
                </a:cubicBezTo>
                <a:lnTo>
                  <a:pt x="74425" y="233974"/>
                </a:lnTo>
                <a:cubicBezTo>
                  <a:pt x="73678" y="235439"/>
                  <a:pt x="71810" y="236172"/>
                  <a:pt x="70316" y="236172"/>
                </a:cubicBezTo>
                <a:cubicBezTo>
                  <a:pt x="69569" y="236172"/>
                  <a:pt x="68822" y="235805"/>
                  <a:pt x="68075" y="235439"/>
                </a:cubicBezTo>
                <a:cubicBezTo>
                  <a:pt x="65834" y="233974"/>
                  <a:pt x="65087" y="231409"/>
                  <a:pt x="66581" y="229211"/>
                </a:cubicBezTo>
                <a:lnTo>
                  <a:pt x="74425" y="216022"/>
                </a:lnTo>
                <a:cubicBezTo>
                  <a:pt x="75546" y="213458"/>
                  <a:pt x="78534" y="212725"/>
                  <a:pt x="80775" y="214190"/>
                </a:cubicBezTo>
                <a:close/>
                <a:moveTo>
                  <a:pt x="189778" y="185241"/>
                </a:moveTo>
                <a:lnTo>
                  <a:pt x="203128" y="193245"/>
                </a:lnTo>
                <a:cubicBezTo>
                  <a:pt x="205293" y="194337"/>
                  <a:pt x="206014" y="197247"/>
                  <a:pt x="204571" y="199430"/>
                </a:cubicBezTo>
                <a:cubicBezTo>
                  <a:pt x="203850" y="200885"/>
                  <a:pt x="202406" y="201249"/>
                  <a:pt x="200963" y="201249"/>
                </a:cubicBezTo>
                <a:cubicBezTo>
                  <a:pt x="199881" y="201249"/>
                  <a:pt x="199520" y="201249"/>
                  <a:pt x="198438" y="200885"/>
                </a:cubicBezTo>
                <a:lnTo>
                  <a:pt x="185088" y="193245"/>
                </a:lnTo>
                <a:cubicBezTo>
                  <a:pt x="182923" y="191790"/>
                  <a:pt x="182562" y="189243"/>
                  <a:pt x="183645" y="186697"/>
                </a:cubicBezTo>
                <a:cubicBezTo>
                  <a:pt x="185088" y="184878"/>
                  <a:pt x="187613" y="184150"/>
                  <a:pt x="189778" y="185241"/>
                </a:cubicBezTo>
                <a:close/>
                <a:moveTo>
                  <a:pt x="46156" y="185241"/>
                </a:moveTo>
                <a:cubicBezTo>
                  <a:pt x="48643" y="184150"/>
                  <a:pt x="51131" y="184878"/>
                  <a:pt x="52198" y="186697"/>
                </a:cubicBezTo>
                <a:cubicBezTo>
                  <a:pt x="53619" y="189243"/>
                  <a:pt x="52908" y="191790"/>
                  <a:pt x="50776" y="193245"/>
                </a:cubicBezTo>
                <a:lnTo>
                  <a:pt x="37626" y="200885"/>
                </a:lnTo>
                <a:cubicBezTo>
                  <a:pt x="36915" y="201249"/>
                  <a:pt x="36204" y="201249"/>
                  <a:pt x="35493" y="201249"/>
                </a:cubicBezTo>
                <a:cubicBezTo>
                  <a:pt x="33716" y="201249"/>
                  <a:pt x="32650" y="200885"/>
                  <a:pt x="31583" y="199430"/>
                </a:cubicBezTo>
                <a:cubicBezTo>
                  <a:pt x="30162" y="197247"/>
                  <a:pt x="31228" y="194337"/>
                  <a:pt x="33361" y="193245"/>
                </a:cubicBezTo>
                <a:lnTo>
                  <a:pt x="46156" y="185241"/>
                </a:lnTo>
                <a:close/>
                <a:moveTo>
                  <a:pt x="198461" y="144463"/>
                </a:moveTo>
                <a:lnTo>
                  <a:pt x="213922" y="144463"/>
                </a:lnTo>
                <a:cubicBezTo>
                  <a:pt x="216498" y="144463"/>
                  <a:pt x="218707" y="146295"/>
                  <a:pt x="218707" y="148859"/>
                </a:cubicBezTo>
                <a:cubicBezTo>
                  <a:pt x="218707" y="151424"/>
                  <a:pt x="216498" y="153622"/>
                  <a:pt x="213922" y="153622"/>
                </a:cubicBezTo>
                <a:lnTo>
                  <a:pt x="198461" y="153622"/>
                </a:lnTo>
                <a:cubicBezTo>
                  <a:pt x="195884" y="153622"/>
                  <a:pt x="193675" y="151424"/>
                  <a:pt x="193675" y="148859"/>
                </a:cubicBezTo>
                <a:cubicBezTo>
                  <a:pt x="193675" y="146295"/>
                  <a:pt x="195884" y="144463"/>
                  <a:pt x="198461" y="144463"/>
                </a:cubicBezTo>
                <a:close/>
                <a:moveTo>
                  <a:pt x="21664" y="144463"/>
                </a:moveTo>
                <a:lnTo>
                  <a:pt x="36722" y="144463"/>
                </a:lnTo>
                <a:cubicBezTo>
                  <a:pt x="39174" y="144463"/>
                  <a:pt x="40925" y="146295"/>
                  <a:pt x="40925" y="148859"/>
                </a:cubicBezTo>
                <a:cubicBezTo>
                  <a:pt x="40925" y="151424"/>
                  <a:pt x="39174" y="153622"/>
                  <a:pt x="36722" y="153622"/>
                </a:cubicBezTo>
                <a:lnTo>
                  <a:pt x="21664" y="153622"/>
                </a:lnTo>
                <a:cubicBezTo>
                  <a:pt x="19213" y="153622"/>
                  <a:pt x="17462" y="151424"/>
                  <a:pt x="17462" y="148859"/>
                </a:cubicBezTo>
                <a:cubicBezTo>
                  <a:pt x="17462" y="146295"/>
                  <a:pt x="19213" y="144463"/>
                  <a:pt x="21664" y="144463"/>
                </a:cubicBezTo>
                <a:close/>
                <a:moveTo>
                  <a:pt x="198438" y="96319"/>
                </a:moveTo>
                <a:cubicBezTo>
                  <a:pt x="200602" y="95250"/>
                  <a:pt x="203489" y="95963"/>
                  <a:pt x="204571" y="98101"/>
                </a:cubicBezTo>
                <a:cubicBezTo>
                  <a:pt x="206014" y="100239"/>
                  <a:pt x="205293" y="103091"/>
                  <a:pt x="203128" y="104160"/>
                </a:cubicBezTo>
                <a:lnTo>
                  <a:pt x="189778" y="111644"/>
                </a:lnTo>
                <a:cubicBezTo>
                  <a:pt x="189057" y="112000"/>
                  <a:pt x="188335" y="112357"/>
                  <a:pt x="187613" y="112357"/>
                </a:cubicBezTo>
                <a:cubicBezTo>
                  <a:pt x="186170" y="112357"/>
                  <a:pt x="184727" y="111644"/>
                  <a:pt x="183645" y="110218"/>
                </a:cubicBezTo>
                <a:cubicBezTo>
                  <a:pt x="182562" y="108080"/>
                  <a:pt x="182923" y="105229"/>
                  <a:pt x="185088" y="104160"/>
                </a:cubicBezTo>
                <a:lnTo>
                  <a:pt x="198438" y="96319"/>
                </a:lnTo>
                <a:close/>
                <a:moveTo>
                  <a:pt x="37626" y="96319"/>
                </a:moveTo>
                <a:lnTo>
                  <a:pt x="50776" y="104160"/>
                </a:lnTo>
                <a:cubicBezTo>
                  <a:pt x="52908" y="105229"/>
                  <a:pt x="53619" y="108080"/>
                  <a:pt x="52198" y="110218"/>
                </a:cubicBezTo>
                <a:cubicBezTo>
                  <a:pt x="51487" y="111644"/>
                  <a:pt x="50065" y="112357"/>
                  <a:pt x="48643" y="112357"/>
                </a:cubicBezTo>
                <a:cubicBezTo>
                  <a:pt x="47577" y="112357"/>
                  <a:pt x="47222" y="112000"/>
                  <a:pt x="46156" y="111644"/>
                </a:cubicBezTo>
                <a:lnTo>
                  <a:pt x="33361" y="104160"/>
                </a:lnTo>
                <a:cubicBezTo>
                  <a:pt x="31228" y="103091"/>
                  <a:pt x="30162" y="100239"/>
                  <a:pt x="31583" y="98101"/>
                </a:cubicBezTo>
                <a:cubicBezTo>
                  <a:pt x="33005" y="95963"/>
                  <a:pt x="35493" y="95250"/>
                  <a:pt x="37626" y="96319"/>
                </a:cubicBezTo>
                <a:close/>
                <a:moveTo>
                  <a:pt x="118637" y="87313"/>
                </a:moveTo>
                <a:cubicBezTo>
                  <a:pt x="121167" y="87313"/>
                  <a:pt x="123335" y="89115"/>
                  <a:pt x="123335" y="91638"/>
                </a:cubicBezTo>
                <a:lnTo>
                  <a:pt x="123335" y="144617"/>
                </a:lnTo>
                <a:lnTo>
                  <a:pt x="153691" y="144617"/>
                </a:lnTo>
                <a:cubicBezTo>
                  <a:pt x="156221" y="144617"/>
                  <a:pt x="158389" y="146420"/>
                  <a:pt x="158389" y="148942"/>
                </a:cubicBezTo>
                <a:cubicBezTo>
                  <a:pt x="158389" y="151465"/>
                  <a:pt x="156221" y="153628"/>
                  <a:pt x="153691" y="153628"/>
                </a:cubicBezTo>
                <a:lnTo>
                  <a:pt x="118637" y="153628"/>
                </a:lnTo>
                <a:cubicBezTo>
                  <a:pt x="116469" y="153628"/>
                  <a:pt x="114300" y="151465"/>
                  <a:pt x="114300" y="148942"/>
                </a:cubicBezTo>
                <a:lnTo>
                  <a:pt x="114300" y="91638"/>
                </a:lnTo>
                <a:cubicBezTo>
                  <a:pt x="114300" y="89115"/>
                  <a:pt x="116469" y="87313"/>
                  <a:pt x="118637" y="87313"/>
                </a:cubicBezTo>
                <a:close/>
                <a:moveTo>
                  <a:pt x="168656" y="61790"/>
                </a:moveTo>
                <a:cubicBezTo>
                  <a:pt x="170752" y="62889"/>
                  <a:pt x="171101" y="65820"/>
                  <a:pt x="170053" y="68018"/>
                </a:cubicBezTo>
                <a:lnTo>
                  <a:pt x="162719" y="81574"/>
                </a:lnTo>
                <a:cubicBezTo>
                  <a:pt x="161671" y="83039"/>
                  <a:pt x="160274" y="83772"/>
                  <a:pt x="158877" y="83772"/>
                </a:cubicBezTo>
                <a:cubicBezTo>
                  <a:pt x="158178" y="83772"/>
                  <a:pt x="157480" y="83772"/>
                  <a:pt x="156781" y="83405"/>
                </a:cubicBezTo>
                <a:cubicBezTo>
                  <a:pt x="154686" y="81940"/>
                  <a:pt x="153987" y="79375"/>
                  <a:pt x="155035" y="77177"/>
                </a:cubicBezTo>
                <a:lnTo>
                  <a:pt x="162719" y="63622"/>
                </a:lnTo>
                <a:cubicBezTo>
                  <a:pt x="163767" y="61424"/>
                  <a:pt x="166211" y="60325"/>
                  <a:pt x="168656" y="61790"/>
                </a:cubicBezTo>
                <a:close/>
                <a:moveTo>
                  <a:pt x="68075" y="61790"/>
                </a:moveTo>
                <a:cubicBezTo>
                  <a:pt x="70316" y="60325"/>
                  <a:pt x="73304" y="61424"/>
                  <a:pt x="74425" y="63622"/>
                </a:cubicBezTo>
                <a:lnTo>
                  <a:pt x="82269" y="77177"/>
                </a:lnTo>
                <a:cubicBezTo>
                  <a:pt x="83763" y="79375"/>
                  <a:pt x="83016" y="81940"/>
                  <a:pt x="80775" y="83405"/>
                </a:cubicBezTo>
                <a:cubicBezTo>
                  <a:pt x="80028" y="83772"/>
                  <a:pt x="79281" y="83772"/>
                  <a:pt x="78160" y="83772"/>
                </a:cubicBezTo>
                <a:cubicBezTo>
                  <a:pt x="76666" y="83772"/>
                  <a:pt x="75172" y="83039"/>
                  <a:pt x="74425" y="81574"/>
                </a:cubicBezTo>
                <a:lnTo>
                  <a:pt x="66581" y="68018"/>
                </a:lnTo>
                <a:cubicBezTo>
                  <a:pt x="65087" y="65820"/>
                  <a:pt x="65834" y="62889"/>
                  <a:pt x="68075" y="61790"/>
                </a:cubicBezTo>
                <a:close/>
                <a:moveTo>
                  <a:pt x="118696" y="49213"/>
                </a:moveTo>
                <a:cubicBezTo>
                  <a:pt x="121261" y="49213"/>
                  <a:pt x="123459" y="50964"/>
                  <a:pt x="123459" y="53415"/>
                </a:cubicBezTo>
                <a:lnTo>
                  <a:pt x="123459" y="68473"/>
                </a:lnTo>
                <a:cubicBezTo>
                  <a:pt x="123459" y="70924"/>
                  <a:pt x="121261" y="72675"/>
                  <a:pt x="118696" y="72675"/>
                </a:cubicBezTo>
                <a:cubicBezTo>
                  <a:pt x="116498" y="72675"/>
                  <a:pt x="114300" y="70924"/>
                  <a:pt x="114300" y="68473"/>
                </a:cubicBezTo>
                <a:lnTo>
                  <a:pt x="114300" y="53415"/>
                </a:lnTo>
                <a:cubicBezTo>
                  <a:pt x="114300" y="50964"/>
                  <a:pt x="116498" y="49213"/>
                  <a:pt x="118696" y="49213"/>
                </a:cubicBezTo>
                <a:close/>
                <a:moveTo>
                  <a:pt x="117909" y="38956"/>
                </a:moveTo>
                <a:cubicBezTo>
                  <a:pt x="57876" y="38956"/>
                  <a:pt x="8987" y="88013"/>
                  <a:pt x="8987" y="148251"/>
                </a:cubicBezTo>
                <a:cubicBezTo>
                  <a:pt x="8987" y="208850"/>
                  <a:pt x="57876" y="257907"/>
                  <a:pt x="117909" y="257907"/>
                </a:cubicBezTo>
                <a:cubicBezTo>
                  <a:pt x="177942" y="257907"/>
                  <a:pt x="226831" y="208850"/>
                  <a:pt x="226831" y="148251"/>
                </a:cubicBezTo>
                <a:cubicBezTo>
                  <a:pt x="226831" y="88013"/>
                  <a:pt x="177942" y="38956"/>
                  <a:pt x="117909" y="38956"/>
                </a:cubicBezTo>
                <a:close/>
                <a:moveTo>
                  <a:pt x="72974" y="9018"/>
                </a:moveTo>
                <a:cubicBezTo>
                  <a:pt x="66503" y="9018"/>
                  <a:pt x="60752" y="13346"/>
                  <a:pt x="59673" y="19478"/>
                </a:cubicBezTo>
                <a:lnTo>
                  <a:pt x="53562" y="49417"/>
                </a:lnTo>
                <a:cubicBezTo>
                  <a:pt x="72255" y="37153"/>
                  <a:pt x="94183" y="29939"/>
                  <a:pt x="117909" y="29939"/>
                </a:cubicBezTo>
                <a:cubicBezTo>
                  <a:pt x="141635" y="29939"/>
                  <a:pt x="163923" y="37153"/>
                  <a:pt x="182615" y="49417"/>
                </a:cubicBezTo>
                <a:lnTo>
                  <a:pt x="176145" y="19478"/>
                </a:lnTo>
                <a:cubicBezTo>
                  <a:pt x="175066" y="13346"/>
                  <a:pt x="169674" y="9018"/>
                  <a:pt x="163204" y="9018"/>
                </a:cubicBezTo>
                <a:lnTo>
                  <a:pt x="72974" y="9018"/>
                </a:lnTo>
                <a:close/>
                <a:moveTo>
                  <a:pt x="72974" y="0"/>
                </a:moveTo>
                <a:lnTo>
                  <a:pt x="163204" y="0"/>
                </a:lnTo>
                <a:cubicBezTo>
                  <a:pt x="173988" y="0"/>
                  <a:pt x="182975" y="7575"/>
                  <a:pt x="185132" y="17675"/>
                </a:cubicBezTo>
                <a:lnTo>
                  <a:pt x="193400" y="57353"/>
                </a:lnTo>
                <a:cubicBezTo>
                  <a:pt x="219282" y="78995"/>
                  <a:pt x="236178" y="111820"/>
                  <a:pt x="236178" y="148251"/>
                </a:cubicBezTo>
                <a:cubicBezTo>
                  <a:pt x="236178" y="185043"/>
                  <a:pt x="219282" y="217507"/>
                  <a:pt x="193400" y="239510"/>
                </a:cubicBezTo>
                <a:lnTo>
                  <a:pt x="185132" y="278828"/>
                </a:lnTo>
                <a:cubicBezTo>
                  <a:pt x="182975" y="289288"/>
                  <a:pt x="173988" y="296502"/>
                  <a:pt x="163204" y="296502"/>
                </a:cubicBezTo>
                <a:lnTo>
                  <a:pt x="72974" y="296502"/>
                </a:lnTo>
                <a:cubicBezTo>
                  <a:pt x="62190" y="296502"/>
                  <a:pt x="53203" y="289288"/>
                  <a:pt x="51046" y="278828"/>
                </a:cubicBezTo>
                <a:lnTo>
                  <a:pt x="42778" y="239510"/>
                </a:lnTo>
                <a:cubicBezTo>
                  <a:pt x="16536" y="217507"/>
                  <a:pt x="0" y="185043"/>
                  <a:pt x="0" y="148251"/>
                </a:cubicBezTo>
                <a:cubicBezTo>
                  <a:pt x="0" y="111820"/>
                  <a:pt x="16536" y="78995"/>
                  <a:pt x="42778" y="57353"/>
                </a:cubicBezTo>
                <a:lnTo>
                  <a:pt x="51046" y="17675"/>
                </a:lnTo>
                <a:cubicBezTo>
                  <a:pt x="53203" y="7575"/>
                  <a:pt x="62190" y="0"/>
                  <a:pt x="72974" y="0"/>
                </a:cubicBezTo>
                <a:close/>
              </a:path>
            </a:pathLst>
          </a:custGeom>
          <a:solidFill>
            <a:schemeClr val="bg1"/>
          </a:solidFill>
          <a:ln>
            <a:noFill/>
          </a:ln>
          <a:effectLst/>
        </p:spPr>
        <p:txBody>
          <a:bodyPr anchor="ctr"/>
          <a:lstStyle/>
          <a:p>
            <a:endParaRPr lang="en-US" sz="2000" dirty="0">
              <a:latin typeface="Verdana" panose="020B0604030504040204" pitchFamily="34" charset="0"/>
              <a:ea typeface="Verdana" panose="020B0604030504040204" pitchFamily="34" charset="0"/>
            </a:endParaRPr>
          </a:p>
        </p:txBody>
      </p:sp>
      <p:sp>
        <p:nvSpPr>
          <p:cNvPr id="29" name="Freeform 928">
            <a:extLst>
              <a:ext uri="{FF2B5EF4-FFF2-40B4-BE49-F238E27FC236}">
                <a16:creationId xmlns:a16="http://schemas.microsoft.com/office/drawing/2014/main" id="{AE568648-4E30-B847-9CA0-54A9924A0EEF}"/>
              </a:ext>
            </a:extLst>
          </p:cNvPr>
          <p:cNvSpPr>
            <a:spLocks noChangeAspect="1" noChangeArrowheads="1"/>
          </p:cNvSpPr>
          <p:nvPr/>
        </p:nvSpPr>
        <p:spPr bwMode="auto">
          <a:xfrm>
            <a:off x="9465999" y="1510241"/>
            <a:ext cx="340612" cy="340612"/>
          </a:xfrm>
          <a:custGeom>
            <a:avLst/>
            <a:gdLst>
              <a:gd name="T0" fmla="*/ 52254225 w 296503"/>
              <a:gd name="T1" fmla="*/ 61945660 h 296502"/>
              <a:gd name="T2" fmla="*/ 5028382 w 296503"/>
              <a:gd name="T3" fmla="*/ 33784189 h 296502"/>
              <a:gd name="T4" fmla="*/ 6504772 w 296503"/>
              <a:gd name="T5" fmla="*/ 35150848 h 296502"/>
              <a:gd name="T6" fmla="*/ 4782684 w 296503"/>
              <a:gd name="T7" fmla="*/ 34467459 h 296502"/>
              <a:gd name="T8" fmla="*/ 6750347 w 296503"/>
              <a:gd name="T9" fmla="*/ 24177399 h 296502"/>
              <a:gd name="T10" fmla="*/ 5766989 w 296503"/>
              <a:gd name="T11" fmla="*/ 23231549 h 296502"/>
              <a:gd name="T12" fmla="*/ 33259861 w 296503"/>
              <a:gd name="T13" fmla="*/ 45100975 h 296502"/>
              <a:gd name="T14" fmla="*/ 26437486 w 296503"/>
              <a:gd name="T15" fmla="*/ 45489142 h 296502"/>
              <a:gd name="T16" fmla="*/ 25506739 w 296503"/>
              <a:gd name="T17" fmla="*/ 49836206 h 296502"/>
              <a:gd name="T18" fmla="*/ 37833994 w 296503"/>
              <a:gd name="T19" fmla="*/ 56744956 h 296502"/>
              <a:gd name="T20" fmla="*/ 50006064 w 296503"/>
              <a:gd name="T21" fmla="*/ 36018927 h 296502"/>
              <a:gd name="T22" fmla="*/ 47524820 w 296503"/>
              <a:gd name="T23" fmla="*/ 35708342 h 296502"/>
              <a:gd name="T24" fmla="*/ 43028288 w 296503"/>
              <a:gd name="T25" fmla="*/ 34776545 h 296502"/>
              <a:gd name="T26" fmla="*/ 37756496 w 296503"/>
              <a:gd name="T27" fmla="*/ 34699141 h 296502"/>
              <a:gd name="T28" fmla="*/ 35198176 w 296503"/>
              <a:gd name="T29" fmla="*/ 21269621 h 296502"/>
              <a:gd name="T30" fmla="*/ 59022020 w 296503"/>
              <a:gd name="T31" fmla="*/ 28721621 h 296502"/>
              <a:gd name="T32" fmla="*/ 57051074 w 296503"/>
              <a:gd name="T33" fmla="*/ 19714318 h 296502"/>
              <a:gd name="T34" fmla="*/ 6504772 w 296503"/>
              <a:gd name="T35" fmla="*/ 13362117 h 296502"/>
              <a:gd name="T36" fmla="*/ 5766989 w 296503"/>
              <a:gd name="T37" fmla="*/ 14956327 h 296502"/>
              <a:gd name="T38" fmla="*/ 5028382 w 296503"/>
              <a:gd name="T39" fmla="*/ 13362117 h 296502"/>
              <a:gd name="T40" fmla="*/ 45700124 w 296503"/>
              <a:gd name="T41" fmla="*/ 16697533 h 296502"/>
              <a:gd name="T42" fmla="*/ 43767864 w 296503"/>
              <a:gd name="T43" fmla="*/ 29297046 h 296502"/>
              <a:gd name="T44" fmla="*/ 24212631 w 296503"/>
              <a:gd name="T45" fmla="*/ 12523466 h 296502"/>
              <a:gd name="T46" fmla="*/ 24212631 w 296503"/>
              <a:gd name="T47" fmla="*/ 36253785 h 296502"/>
              <a:gd name="T48" fmla="*/ 28463661 w 296503"/>
              <a:gd name="T49" fmla="*/ 38186340 h 296502"/>
              <a:gd name="T50" fmla="*/ 18106104 w 296503"/>
              <a:gd name="T51" fmla="*/ 16697533 h 296502"/>
              <a:gd name="T52" fmla="*/ 11629318 w 296503"/>
              <a:gd name="T53" fmla="*/ 46420826 h 296502"/>
              <a:gd name="T54" fmla="*/ 31321675 w 296503"/>
              <a:gd name="T55" fmla="*/ 43858780 h 296502"/>
              <a:gd name="T56" fmla="*/ 38996977 w 296503"/>
              <a:gd name="T57" fmla="*/ 22666995 h 296502"/>
              <a:gd name="T58" fmla="*/ 45354248 w 296503"/>
              <a:gd name="T59" fmla="*/ 31982135 h 296502"/>
              <a:gd name="T60" fmla="*/ 54114929 w 296503"/>
              <a:gd name="T61" fmla="*/ 37881810 h 296502"/>
              <a:gd name="T62" fmla="*/ 57991356 w 296503"/>
              <a:gd name="T63" fmla="*/ 46420826 h 296502"/>
              <a:gd name="T64" fmla="*/ 57991356 w 296503"/>
              <a:gd name="T65" fmla="*/ 1940661 h 296502"/>
              <a:gd name="T66" fmla="*/ 53184720 w 296503"/>
              <a:gd name="T67" fmla="*/ 32913465 h 296502"/>
              <a:gd name="T68" fmla="*/ 11629318 w 296503"/>
              <a:gd name="T69" fmla="*/ 1940661 h 296502"/>
              <a:gd name="T70" fmla="*/ 1938315 w 296503"/>
              <a:gd name="T71" fmla="*/ 42539377 h 296502"/>
              <a:gd name="T72" fmla="*/ 9691307 w 296503"/>
              <a:gd name="T73" fmla="*/ 1940661 h 296502"/>
              <a:gd name="T74" fmla="*/ 57991356 w 296503"/>
              <a:gd name="T75" fmla="*/ 0 h 296502"/>
              <a:gd name="T76" fmla="*/ 57991356 w 296503"/>
              <a:gd name="T77" fmla="*/ 48361434 h 296502"/>
              <a:gd name="T78" fmla="*/ 53184720 w 296503"/>
              <a:gd name="T79" fmla="*/ 63808757 h 296502"/>
              <a:gd name="T80" fmla="*/ 36826304 w 296503"/>
              <a:gd name="T81" fmla="*/ 58530447 h 296502"/>
              <a:gd name="T82" fmla="*/ 20777785 w 296503"/>
              <a:gd name="T83" fmla="*/ 52319971 h 296502"/>
              <a:gd name="T84" fmla="*/ 19304618 w 296503"/>
              <a:gd name="T85" fmla="*/ 48361434 h 296502"/>
              <a:gd name="T86" fmla="*/ 0 w 296503"/>
              <a:gd name="T87" fmla="*/ 5821872 h 29650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6503" h="296502">
                <a:moveTo>
                  <a:pt x="180496" y="272696"/>
                </a:moveTo>
                <a:lnTo>
                  <a:pt x="180496" y="287845"/>
                </a:lnTo>
                <a:lnTo>
                  <a:pt x="242822" y="287845"/>
                </a:lnTo>
                <a:lnTo>
                  <a:pt x="242822" y="272696"/>
                </a:lnTo>
                <a:lnTo>
                  <a:pt x="180496" y="272696"/>
                </a:lnTo>
                <a:close/>
                <a:moveTo>
                  <a:pt x="23368" y="156986"/>
                </a:moveTo>
                <a:cubicBezTo>
                  <a:pt x="25273" y="155575"/>
                  <a:pt x="28321" y="155575"/>
                  <a:pt x="30226" y="156986"/>
                </a:cubicBezTo>
                <a:cubicBezTo>
                  <a:pt x="30988" y="158044"/>
                  <a:pt x="31369" y="159103"/>
                  <a:pt x="31369" y="160161"/>
                </a:cubicBezTo>
                <a:cubicBezTo>
                  <a:pt x="31369" y="161572"/>
                  <a:pt x="30988" y="162631"/>
                  <a:pt x="30226" y="163336"/>
                </a:cubicBezTo>
                <a:cubicBezTo>
                  <a:pt x="29083" y="164042"/>
                  <a:pt x="27940" y="164747"/>
                  <a:pt x="26797" y="164747"/>
                </a:cubicBezTo>
                <a:cubicBezTo>
                  <a:pt x="25654" y="164747"/>
                  <a:pt x="24130" y="164042"/>
                  <a:pt x="23368" y="163336"/>
                </a:cubicBezTo>
                <a:cubicBezTo>
                  <a:pt x="22606" y="162631"/>
                  <a:pt x="22225" y="161572"/>
                  <a:pt x="22225" y="160161"/>
                </a:cubicBezTo>
                <a:cubicBezTo>
                  <a:pt x="22225" y="159103"/>
                  <a:pt x="22606" y="158044"/>
                  <a:pt x="23368" y="156986"/>
                </a:cubicBezTo>
                <a:close/>
                <a:moveTo>
                  <a:pt x="26797" y="107950"/>
                </a:moveTo>
                <a:cubicBezTo>
                  <a:pt x="29464" y="107950"/>
                  <a:pt x="31369" y="109782"/>
                  <a:pt x="31369" y="112346"/>
                </a:cubicBezTo>
                <a:cubicBezTo>
                  <a:pt x="31369" y="115277"/>
                  <a:pt x="29464" y="117109"/>
                  <a:pt x="26797" y="117109"/>
                </a:cubicBezTo>
                <a:cubicBezTo>
                  <a:pt x="24130" y="117109"/>
                  <a:pt x="22225" y="115277"/>
                  <a:pt x="22225" y="112346"/>
                </a:cubicBezTo>
                <a:cubicBezTo>
                  <a:pt x="22225" y="109782"/>
                  <a:pt x="24130" y="107950"/>
                  <a:pt x="26797" y="107950"/>
                </a:cubicBezTo>
                <a:close/>
                <a:moveTo>
                  <a:pt x="163563" y="98834"/>
                </a:moveTo>
                <a:cubicBezTo>
                  <a:pt x="158880" y="98834"/>
                  <a:pt x="154556" y="101720"/>
                  <a:pt x="154556" y="105327"/>
                </a:cubicBezTo>
                <a:lnTo>
                  <a:pt x="154556" y="209572"/>
                </a:lnTo>
                <a:cubicBezTo>
                  <a:pt x="154556" y="211014"/>
                  <a:pt x="153836" y="212457"/>
                  <a:pt x="152755" y="213179"/>
                </a:cubicBezTo>
                <a:cubicBezTo>
                  <a:pt x="152034" y="213900"/>
                  <a:pt x="150233" y="214261"/>
                  <a:pt x="148792" y="213900"/>
                </a:cubicBezTo>
                <a:cubicBezTo>
                  <a:pt x="145189" y="212818"/>
                  <a:pt x="134741" y="210654"/>
                  <a:pt x="122853" y="211375"/>
                </a:cubicBezTo>
                <a:cubicBezTo>
                  <a:pt x="109162" y="212818"/>
                  <a:pt x="99075" y="218950"/>
                  <a:pt x="98354" y="226164"/>
                </a:cubicBezTo>
                <a:cubicBezTo>
                  <a:pt x="98354" y="229411"/>
                  <a:pt x="98714" y="231936"/>
                  <a:pt x="99075" y="233378"/>
                </a:cubicBezTo>
                <a:cubicBezTo>
                  <a:pt x="103758" y="232657"/>
                  <a:pt x="112044" y="231575"/>
                  <a:pt x="118529" y="231575"/>
                </a:cubicBezTo>
                <a:cubicBezTo>
                  <a:pt x="121772" y="231575"/>
                  <a:pt x="124654" y="231575"/>
                  <a:pt x="126816" y="232296"/>
                </a:cubicBezTo>
                <a:cubicBezTo>
                  <a:pt x="138344" y="236264"/>
                  <a:pt x="148792" y="244560"/>
                  <a:pt x="158519" y="252496"/>
                </a:cubicBezTo>
                <a:cubicBezTo>
                  <a:pt x="165004" y="257907"/>
                  <a:pt x="172570" y="263678"/>
                  <a:pt x="175812" y="263678"/>
                </a:cubicBezTo>
                <a:lnTo>
                  <a:pt x="242822" y="263678"/>
                </a:lnTo>
                <a:lnTo>
                  <a:pt x="242822" y="177108"/>
                </a:lnTo>
                <a:cubicBezTo>
                  <a:pt x="242102" y="171337"/>
                  <a:pt x="237418" y="167369"/>
                  <a:pt x="232375" y="167369"/>
                </a:cubicBezTo>
                <a:cubicBezTo>
                  <a:pt x="230573" y="167369"/>
                  <a:pt x="228772" y="167729"/>
                  <a:pt x="227331" y="168812"/>
                </a:cubicBezTo>
                <a:cubicBezTo>
                  <a:pt x="226250" y="169533"/>
                  <a:pt x="224809" y="169533"/>
                  <a:pt x="223368" y="168812"/>
                </a:cubicBezTo>
                <a:cubicBezTo>
                  <a:pt x="221927" y="168090"/>
                  <a:pt x="221206" y="167008"/>
                  <a:pt x="220846" y="165926"/>
                </a:cubicBezTo>
                <a:cubicBezTo>
                  <a:pt x="219765" y="160876"/>
                  <a:pt x="215442" y="157269"/>
                  <a:pt x="210758" y="157269"/>
                </a:cubicBezTo>
                <a:cubicBezTo>
                  <a:pt x="208236" y="157269"/>
                  <a:pt x="205715" y="158712"/>
                  <a:pt x="203553" y="160515"/>
                </a:cubicBezTo>
                <a:cubicBezTo>
                  <a:pt x="202832" y="161237"/>
                  <a:pt x="201391" y="161597"/>
                  <a:pt x="199950" y="161597"/>
                </a:cubicBezTo>
                <a:cubicBezTo>
                  <a:pt x="198869" y="161597"/>
                  <a:pt x="197789" y="160876"/>
                  <a:pt x="197068" y="159794"/>
                </a:cubicBezTo>
                <a:cubicBezTo>
                  <a:pt x="193105" y="154383"/>
                  <a:pt x="184459" y="154383"/>
                  <a:pt x="180496" y="159794"/>
                </a:cubicBezTo>
                <a:cubicBezTo>
                  <a:pt x="179415" y="161237"/>
                  <a:pt x="177253" y="161958"/>
                  <a:pt x="175452" y="161237"/>
                </a:cubicBezTo>
                <a:cubicBezTo>
                  <a:pt x="173651" y="160515"/>
                  <a:pt x="172570" y="159072"/>
                  <a:pt x="172570" y="156908"/>
                </a:cubicBezTo>
                <a:lnTo>
                  <a:pt x="172570" y="105327"/>
                </a:lnTo>
                <a:cubicBezTo>
                  <a:pt x="172570" y="101720"/>
                  <a:pt x="168247" y="98834"/>
                  <a:pt x="163563" y="98834"/>
                </a:cubicBezTo>
                <a:close/>
                <a:moveTo>
                  <a:pt x="269509" y="87313"/>
                </a:moveTo>
                <a:cubicBezTo>
                  <a:pt x="272074" y="87313"/>
                  <a:pt x="274272" y="89102"/>
                  <a:pt x="274272" y="91606"/>
                </a:cubicBezTo>
                <a:lnTo>
                  <a:pt x="274272" y="133462"/>
                </a:lnTo>
                <a:cubicBezTo>
                  <a:pt x="274272" y="135967"/>
                  <a:pt x="272074" y="137755"/>
                  <a:pt x="269509" y="137755"/>
                </a:cubicBezTo>
                <a:cubicBezTo>
                  <a:pt x="267311" y="137755"/>
                  <a:pt x="265113" y="135967"/>
                  <a:pt x="265113" y="133462"/>
                </a:cubicBezTo>
                <a:lnTo>
                  <a:pt x="265113" y="91606"/>
                </a:lnTo>
                <a:cubicBezTo>
                  <a:pt x="265113" y="89102"/>
                  <a:pt x="267311" y="87313"/>
                  <a:pt x="269509" y="87313"/>
                </a:cubicBezTo>
                <a:close/>
                <a:moveTo>
                  <a:pt x="23368" y="62089"/>
                </a:moveTo>
                <a:cubicBezTo>
                  <a:pt x="25273" y="60325"/>
                  <a:pt x="28321" y="60325"/>
                  <a:pt x="30226" y="62089"/>
                </a:cubicBezTo>
                <a:cubicBezTo>
                  <a:pt x="30988" y="62794"/>
                  <a:pt x="31369" y="63853"/>
                  <a:pt x="31369" y="65264"/>
                </a:cubicBezTo>
                <a:cubicBezTo>
                  <a:pt x="31369" y="66322"/>
                  <a:pt x="30988" y="67381"/>
                  <a:pt x="30226" y="68439"/>
                </a:cubicBezTo>
                <a:cubicBezTo>
                  <a:pt x="29083" y="68792"/>
                  <a:pt x="27940" y="69497"/>
                  <a:pt x="26797" y="69497"/>
                </a:cubicBezTo>
                <a:cubicBezTo>
                  <a:pt x="25273" y="69497"/>
                  <a:pt x="24130" y="68792"/>
                  <a:pt x="23368" y="68439"/>
                </a:cubicBezTo>
                <a:cubicBezTo>
                  <a:pt x="22606" y="67381"/>
                  <a:pt x="22225" y="66322"/>
                  <a:pt x="22225" y="65264"/>
                </a:cubicBezTo>
                <a:cubicBezTo>
                  <a:pt x="22225" y="63853"/>
                  <a:pt x="22606" y="62794"/>
                  <a:pt x="23368" y="62089"/>
                </a:cubicBezTo>
                <a:close/>
                <a:moveTo>
                  <a:pt x="112514" y="49213"/>
                </a:moveTo>
                <a:lnTo>
                  <a:pt x="183990" y="49213"/>
                </a:lnTo>
                <a:cubicBezTo>
                  <a:pt x="199794" y="49213"/>
                  <a:pt x="212366" y="61784"/>
                  <a:pt x="212366" y="77588"/>
                </a:cubicBezTo>
                <a:lnTo>
                  <a:pt x="212366" y="136135"/>
                </a:lnTo>
                <a:cubicBezTo>
                  <a:pt x="212366" y="138649"/>
                  <a:pt x="210570" y="140445"/>
                  <a:pt x="208056" y="140445"/>
                </a:cubicBezTo>
                <a:cubicBezTo>
                  <a:pt x="205541" y="140445"/>
                  <a:pt x="203386" y="138649"/>
                  <a:pt x="203386" y="136135"/>
                </a:cubicBezTo>
                <a:lnTo>
                  <a:pt x="203386" y="77588"/>
                </a:lnTo>
                <a:cubicBezTo>
                  <a:pt x="203386" y="66813"/>
                  <a:pt x="194766" y="58193"/>
                  <a:pt x="183990" y="58193"/>
                </a:cubicBezTo>
                <a:lnTo>
                  <a:pt x="112514" y="58193"/>
                </a:lnTo>
                <a:cubicBezTo>
                  <a:pt x="101738" y="58193"/>
                  <a:pt x="93118" y="66813"/>
                  <a:pt x="93118" y="77588"/>
                </a:cubicBezTo>
                <a:lnTo>
                  <a:pt x="93118" y="149065"/>
                </a:lnTo>
                <a:cubicBezTo>
                  <a:pt x="93118" y="159841"/>
                  <a:pt x="101738" y="168461"/>
                  <a:pt x="112514" y="168461"/>
                </a:cubicBezTo>
                <a:lnTo>
                  <a:pt x="132269" y="168461"/>
                </a:lnTo>
                <a:cubicBezTo>
                  <a:pt x="134783" y="168461"/>
                  <a:pt x="136579" y="170616"/>
                  <a:pt x="136579" y="173131"/>
                </a:cubicBezTo>
                <a:cubicBezTo>
                  <a:pt x="136579" y="175645"/>
                  <a:pt x="134783" y="177441"/>
                  <a:pt x="132269" y="177441"/>
                </a:cubicBezTo>
                <a:lnTo>
                  <a:pt x="112514" y="177441"/>
                </a:lnTo>
                <a:cubicBezTo>
                  <a:pt x="96710" y="177441"/>
                  <a:pt x="84138" y="164869"/>
                  <a:pt x="84138" y="149065"/>
                </a:cubicBezTo>
                <a:lnTo>
                  <a:pt x="84138" y="77588"/>
                </a:lnTo>
                <a:cubicBezTo>
                  <a:pt x="84138" y="61784"/>
                  <a:pt x="96710" y="49213"/>
                  <a:pt x="112514" y="49213"/>
                </a:cubicBezTo>
                <a:close/>
                <a:moveTo>
                  <a:pt x="54040" y="9018"/>
                </a:moveTo>
                <a:lnTo>
                  <a:pt x="54040" y="215704"/>
                </a:lnTo>
                <a:lnTo>
                  <a:pt x="93310" y="215704"/>
                </a:lnTo>
                <a:cubicBezTo>
                  <a:pt x="98354" y="208850"/>
                  <a:pt x="108802" y="203800"/>
                  <a:pt x="122132" y="202718"/>
                </a:cubicBezTo>
                <a:cubicBezTo>
                  <a:pt x="131499" y="201636"/>
                  <a:pt x="139785" y="202718"/>
                  <a:pt x="145550" y="203800"/>
                </a:cubicBezTo>
                <a:lnTo>
                  <a:pt x="145550" y="105327"/>
                </a:lnTo>
                <a:cubicBezTo>
                  <a:pt x="145550" y="97031"/>
                  <a:pt x="153836" y="89816"/>
                  <a:pt x="163563" y="89816"/>
                </a:cubicBezTo>
                <a:cubicBezTo>
                  <a:pt x="173290" y="89816"/>
                  <a:pt x="181216" y="97031"/>
                  <a:pt x="181216" y="105327"/>
                </a:cubicBezTo>
                <a:lnTo>
                  <a:pt x="181216" y="147890"/>
                </a:lnTo>
                <a:cubicBezTo>
                  <a:pt x="187701" y="145366"/>
                  <a:pt x="195627" y="146808"/>
                  <a:pt x="201031" y="151137"/>
                </a:cubicBezTo>
                <a:cubicBezTo>
                  <a:pt x="203913" y="149333"/>
                  <a:pt x="207156" y="148612"/>
                  <a:pt x="210758" y="148612"/>
                </a:cubicBezTo>
                <a:cubicBezTo>
                  <a:pt x="217964" y="148612"/>
                  <a:pt x="224449" y="152940"/>
                  <a:pt x="227691" y="159072"/>
                </a:cubicBezTo>
                <a:cubicBezTo>
                  <a:pt x="229132" y="158712"/>
                  <a:pt x="230933" y="158351"/>
                  <a:pt x="232375" y="158351"/>
                </a:cubicBezTo>
                <a:cubicBezTo>
                  <a:pt x="242102" y="158351"/>
                  <a:pt x="250388" y="165926"/>
                  <a:pt x="251469" y="176026"/>
                </a:cubicBezTo>
                <a:cubicBezTo>
                  <a:pt x="251469" y="176026"/>
                  <a:pt x="251469" y="176747"/>
                  <a:pt x="251469" y="177108"/>
                </a:cubicBezTo>
                <a:lnTo>
                  <a:pt x="251469" y="215704"/>
                </a:lnTo>
                <a:lnTo>
                  <a:pt x="269482" y="215704"/>
                </a:lnTo>
                <a:cubicBezTo>
                  <a:pt x="279570" y="215704"/>
                  <a:pt x="287496" y="207768"/>
                  <a:pt x="287496" y="197668"/>
                </a:cubicBezTo>
                <a:lnTo>
                  <a:pt x="287496" y="27053"/>
                </a:lnTo>
                <a:cubicBezTo>
                  <a:pt x="287496" y="16953"/>
                  <a:pt x="279570" y="9018"/>
                  <a:pt x="269482" y="9018"/>
                </a:cubicBezTo>
                <a:lnTo>
                  <a:pt x="251469" y="9018"/>
                </a:lnTo>
                <a:lnTo>
                  <a:pt x="251469" y="148251"/>
                </a:lnTo>
                <a:cubicBezTo>
                  <a:pt x="251469" y="150776"/>
                  <a:pt x="249668" y="152940"/>
                  <a:pt x="247146" y="152940"/>
                </a:cubicBezTo>
                <a:cubicBezTo>
                  <a:pt x="244624" y="152940"/>
                  <a:pt x="242822" y="150776"/>
                  <a:pt x="242822" y="148251"/>
                </a:cubicBezTo>
                <a:lnTo>
                  <a:pt x="242822" y="9018"/>
                </a:lnTo>
                <a:lnTo>
                  <a:pt x="54040" y="9018"/>
                </a:lnTo>
                <a:close/>
                <a:moveTo>
                  <a:pt x="27020" y="9018"/>
                </a:moveTo>
                <a:cubicBezTo>
                  <a:pt x="16932" y="9018"/>
                  <a:pt x="9007" y="16953"/>
                  <a:pt x="9007" y="27053"/>
                </a:cubicBezTo>
                <a:lnTo>
                  <a:pt x="9007" y="197668"/>
                </a:lnTo>
                <a:cubicBezTo>
                  <a:pt x="9007" y="207768"/>
                  <a:pt x="16932" y="215704"/>
                  <a:pt x="27020" y="215704"/>
                </a:cubicBezTo>
                <a:lnTo>
                  <a:pt x="45034" y="215704"/>
                </a:lnTo>
                <a:lnTo>
                  <a:pt x="45034" y="9018"/>
                </a:lnTo>
                <a:lnTo>
                  <a:pt x="27020" y="9018"/>
                </a:lnTo>
                <a:close/>
                <a:moveTo>
                  <a:pt x="27020" y="0"/>
                </a:moveTo>
                <a:lnTo>
                  <a:pt x="269482" y="0"/>
                </a:lnTo>
                <a:cubicBezTo>
                  <a:pt x="284614" y="0"/>
                  <a:pt x="296503" y="11903"/>
                  <a:pt x="296503" y="27053"/>
                </a:cubicBezTo>
                <a:lnTo>
                  <a:pt x="296503" y="197668"/>
                </a:lnTo>
                <a:cubicBezTo>
                  <a:pt x="296503" y="212457"/>
                  <a:pt x="284614" y="224721"/>
                  <a:pt x="269482" y="224721"/>
                </a:cubicBezTo>
                <a:lnTo>
                  <a:pt x="251469" y="224721"/>
                </a:lnTo>
                <a:lnTo>
                  <a:pt x="251469" y="292174"/>
                </a:lnTo>
                <a:cubicBezTo>
                  <a:pt x="251469" y="294699"/>
                  <a:pt x="249668" y="296502"/>
                  <a:pt x="247146" y="296502"/>
                </a:cubicBezTo>
                <a:lnTo>
                  <a:pt x="175812" y="296502"/>
                </a:lnTo>
                <a:cubicBezTo>
                  <a:pt x="173290" y="296502"/>
                  <a:pt x="171129" y="294699"/>
                  <a:pt x="171129" y="292174"/>
                </a:cubicBezTo>
                <a:lnTo>
                  <a:pt x="171129" y="271974"/>
                </a:lnTo>
                <a:cubicBezTo>
                  <a:pt x="165725" y="269810"/>
                  <a:pt x="159960" y="265121"/>
                  <a:pt x="152755" y="259349"/>
                </a:cubicBezTo>
                <a:cubicBezTo>
                  <a:pt x="143748" y="252135"/>
                  <a:pt x="134021" y="244200"/>
                  <a:pt x="123933" y="240953"/>
                </a:cubicBezTo>
                <a:cubicBezTo>
                  <a:pt x="119610" y="239510"/>
                  <a:pt x="105199" y="241314"/>
                  <a:pt x="96553" y="243117"/>
                </a:cubicBezTo>
                <a:cubicBezTo>
                  <a:pt x="94751" y="243478"/>
                  <a:pt x="92950" y="242757"/>
                  <a:pt x="91869" y="240953"/>
                </a:cubicBezTo>
                <a:cubicBezTo>
                  <a:pt x="91509" y="240232"/>
                  <a:pt x="89347" y="235903"/>
                  <a:pt x="89708" y="225803"/>
                </a:cubicBezTo>
                <a:cubicBezTo>
                  <a:pt x="89708" y="225443"/>
                  <a:pt x="89708" y="225082"/>
                  <a:pt x="89708" y="224721"/>
                </a:cubicBezTo>
                <a:lnTo>
                  <a:pt x="27020" y="224721"/>
                </a:lnTo>
                <a:cubicBezTo>
                  <a:pt x="12249" y="224721"/>
                  <a:pt x="0" y="212457"/>
                  <a:pt x="0" y="197668"/>
                </a:cubicBezTo>
                <a:lnTo>
                  <a:pt x="0" y="27053"/>
                </a:lnTo>
                <a:cubicBezTo>
                  <a:pt x="0" y="11903"/>
                  <a:pt x="12249" y="0"/>
                  <a:pt x="27020" y="0"/>
                </a:cubicBezTo>
                <a:close/>
              </a:path>
            </a:pathLst>
          </a:custGeom>
          <a:solidFill>
            <a:schemeClr val="bg1"/>
          </a:solidFill>
          <a:ln>
            <a:noFill/>
          </a:ln>
          <a:effectLst/>
        </p:spPr>
        <p:txBody>
          <a:bodyPr anchor="ctr"/>
          <a:lstStyle/>
          <a:p>
            <a:endParaRPr lang="en-US" sz="2000" dirty="0">
              <a:latin typeface="Verdana" panose="020B0604030504040204" pitchFamily="34" charset="0"/>
              <a:ea typeface="Verdana" panose="020B0604030504040204" pitchFamily="34" charset="0"/>
            </a:endParaRPr>
          </a:p>
        </p:txBody>
      </p:sp>
      <p:sp>
        <p:nvSpPr>
          <p:cNvPr id="35" name="TextBox 34">
            <a:extLst>
              <a:ext uri="{FF2B5EF4-FFF2-40B4-BE49-F238E27FC236}">
                <a16:creationId xmlns:a16="http://schemas.microsoft.com/office/drawing/2014/main" id="{2DB2DC92-28D4-E145-BA37-066A91F7C7FB}"/>
              </a:ext>
            </a:extLst>
          </p:cNvPr>
          <p:cNvSpPr txBox="1"/>
          <p:nvPr/>
        </p:nvSpPr>
        <p:spPr>
          <a:xfrm>
            <a:off x="2101843" y="3275582"/>
            <a:ext cx="915635" cy="400110"/>
          </a:xfrm>
          <a:prstGeom prst="rect">
            <a:avLst/>
          </a:prstGeom>
          <a:noFill/>
        </p:spPr>
        <p:txBody>
          <a:bodyPr wrap="none" rtlCol="0" anchor="ctr" anchorCtr="0">
            <a:spAutoFit/>
          </a:bodyPr>
          <a:lstStyle/>
          <a:p>
            <a:pPr algn="ctr"/>
            <a:r>
              <a:rPr lang="en-US" sz="2000" b="1" dirty="0">
                <a:solidFill>
                  <a:schemeClr val="bg1"/>
                </a:solidFill>
                <a:latin typeface="Verdana" panose="020B0604030504040204" pitchFamily="34" charset="0"/>
                <a:ea typeface="Verdana" panose="020B0604030504040204" pitchFamily="34" charset="0"/>
                <a:cs typeface="Poppins" pitchFamily="2" charset="77"/>
              </a:rPr>
              <a:t>2016</a:t>
            </a:r>
          </a:p>
        </p:txBody>
      </p:sp>
      <p:sp>
        <p:nvSpPr>
          <p:cNvPr id="39" name="TextBox 38">
            <a:extLst>
              <a:ext uri="{FF2B5EF4-FFF2-40B4-BE49-F238E27FC236}">
                <a16:creationId xmlns:a16="http://schemas.microsoft.com/office/drawing/2014/main" id="{1E9BD4B7-566F-EE45-A9D4-AA3F8596E80A}"/>
              </a:ext>
            </a:extLst>
          </p:cNvPr>
          <p:cNvSpPr txBox="1"/>
          <p:nvPr/>
        </p:nvSpPr>
        <p:spPr>
          <a:xfrm>
            <a:off x="7408849" y="3609694"/>
            <a:ext cx="915635" cy="400110"/>
          </a:xfrm>
          <a:prstGeom prst="rect">
            <a:avLst/>
          </a:prstGeom>
          <a:noFill/>
        </p:spPr>
        <p:txBody>
          <a:bodyPr wrap="none" rtlCol="0" anchor="ctr" anchorCtr="0">
            <a:spAutoFit/>
          </a:bodyPr>
          <a:lstStyle/>
          <a:p>
            <a:pPr algn="ctr"/>
            <a:r>
              <a:rPr lang="en-US" sz="2000" b="1" dirty="0">
                <a:solidFill>
                  <a:schemeClr val="bg1"/>
                </a:solidFill>
                <a:latin typeface="Verdana" panose="020B0604030504040204" pitchFamily="34" charset="0"/>
                <a:ea typeface="Verdana" panose="020B0604030504040204" pitchFamily="34" charset="0"/>
                <a:cs typeface="Poppins" pitchFamily="2" charset="77"/>
              </a:rPr>
              <a:t>2019</a:t>
            </a:r>
          </a:p>
        </p:txBody>
      </p:sp>
      <p:sp>
        <p:nvSpPr>
          <p:cNvPr id="19" name="Diagrama de flujo: conector 18">
            <a:extLst>
              <a:ext uri="{FF2B5EF4-FFF2-40B4-BE49-F238E27FC236}">
                <a16:creationId xmlns:a16="http://schemas.microsoft.com/office/drawing/2014/main" id="{32FE4DBA-797E-D607-E68B-5D67CF527B5E}"/>
              </a:ext>
            </a:extLst>
          </p:cNvPr>
          <p:cNvSpPr/>
          <p:nvPr/>
        </p:nvSpPr>
        <p:spPr>
          <a:xfrm>
            <a:off x="393160" y="1047322"/>
            <a:ext cx="661629" cy="670279"/>
          </a:xfrm>
          <a:prstGeom prst="flowChartConnector">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latin typeface="Verdana" panose="020B0604030504040204" pitchFamily="34" charset="0"/>
                <a:ea typeface="Verdana" panose="020B0604030504040204" pitchFamily="34" charset="0"/>
              </a:rPr>
              <a:t>1</a:t>
            </a:r>
            <a:endParaRPr lang="es-MX" sz="2000" dirty="0">
              <a:latin typeface="Verdana" panose="020B0604030504040204" pitchFamily="34" charset="0"/>
              <a:ea typeface="Verdana" panose="020B0604030504040204" pitchFamily="34" charset="0"/>
            </a:endParaRPr>
          </a:p>
        </p:txBody>
      </p:sp>
      <p:sp>
        <p:nvSpPr>
          <p:cNvPr id="20" name="Diagrama de flujo: conector 19">
            <a:extLst>
              <a:ext uri="{FF2B5EF4-FFF2-40B4-BE49-F238E27FC236}">
                <a16:creationId xmlns:a16="http://schemas.microsoft.com/office/drawing/2014/main" id="{5C26BC0C-9254-D81C-404C-38CF7D4F0D36}"/>
              </a:ext>
            </a:extLst>
          </p:cNvPr>
          <p:cNvSpPr/>
          <p:nvPr/>
        </p:nvSpPr>
        <p:spPr>
          <a:xfrm>
            <a:off x="393159" y="2464948"/>
            <a:ext cx="661629" cy="670279"/>
          </a:xfrm>
          <a:prstGeom prst="flowChartConnector">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latin typeface="Verdana" panose="020B0604030504040204" pitchFamily="34" charset="0"/>
                <a:ea typeface="Verdana" panose="020B0604030504040204" pitchFamily="34" charset="0"/>
              </a:rPr>
              <a:t>2</a:t>
            </a:r>
            <a:endParaRPr lang="es-MX" sz="2000" dirty="0">
              <a:latin typeface="Verdana" panose="020B0604030504040204" pitchFamily="34" charset="0"/>
              <a:ea typeface="Verdana" panose="020B0604030504040204" pitchFamily="34" charset="0"/>
            </a:endParaRPr>
          </a:p>
        </p:txBody>
      </p:sp>
      <p:sp>
        <p:nvSpPr>
          <p:cNvPr id="21" name="Diagrama de flujo: conector 20">
            <a:extLst>
              <a:ext uri="{FF2B5EF4-FFF2-40B4-BE49-F238E27FC236}">
                <a16:creationId xmlns:a16="http://schemas.microsoft.com/office/drawing/2014/main" id="{21F81A0D-8D69-B52E-9072-93777F5A1359}"/>
              </a:ext>
            </a:extLst>
          </p:cNvPr>
          <p:cNvSpPr/>
          <p:nvPr/>
        </p:nvSpPr>
        <p:spPr>
          <a:xfrm>
            <a:off x="376572" y="3809749"/>
            <a:ext cx="661629" cy="670279"/>
          </a:xfrm>
          <a:prstGeom prst="flowChartConnector">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latin typeface="Verdana" panose="020B0604030504040204" pitchFamily="34" charset="0"/>
                <a:ea typeface="Verdana" panose="020B0604030504040204" pitchFamily="34" charset="0"/>
              </a:rPr>
              <a:t>3</a:t>
            </a:r>
            <a:endParaRPr lang="es-MX" sz="2000" dirty="0">
              <a:latin typeface="Verdana" panose="020B0604030504040204" pitchFamily="34" charset="0"/>
              <a:ea typeface="Verdana" panose="020B0604030504040204" pitchFamily="34" charset="0"/>
            </a:endParaRPr>
          </a:p>
        </p:txBody>
      </p:sp>
      <p:sp>
        <p:nvSpPr>
          <p:cNvPr id="22" name="Diagrama de flujo: conector 21">
            <a:extLst>
              <a:ext uri="{FF2B5EF4-FFF2-40B4-BE49-F238E27FC236}">
                <a16:creationId xmlns:a16="http://schemas.microsoft.com/office/drawing/2014/main" id="{F4460E65-3B4C-FFA3-725B-92053653271C}"/>
              </a:ext>
            </a:extLst>
          </p:cNvPr>
          <p:cNvSpPr/>
          <p:nvPr/>
        </p:nvSpPr>
        <p:spPr>
          <a:xfrm>
            <a:off x="346047" y="5208114"/>
            <a:ext cx="661629" cy="670279"/>
          </a:xfrm>
          <a:prstGeom prst="flowChartConnector">
            <a:avLst/>
          </a:prstGeom>
          <a:solidFill>
            <a:srgbClr val="FF3300"/>
          </a:solidFill>
          <a:ln>
            <a:solidFill>
              <a:srgbClr val="FF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latin typeface="Verdana" panose="020B0604030504040204" pitchFamily="34" charset="0"/>
                <a:ea typeface="Verdana" panose="020B0604030504040204" pitchFamily="34" charset="0"/>
              </a:rPr>
              <a:t>4</a:t>
            </a:r>
            <a:endParaRPr lang="es-MX" sz="2000" dirty="0">
              <a:latin typeface="Verdana" panose="020B0604030504040204" pitchFamily="34" charset="0"/>
              <a:ea typeface="Verdana" panose="020B0604030504040204" pitchFamily="34" charset="0"/>
            </a:endParaRPr>
          </a:p>
        </p:txBody>
      </p:sp>
      <p:sp>
        <p:nvSpPr>
          <p:cNvPr id="24" name="CuadroTexto 23">
            <a:extLst>
              <a:ext uri="{FF2B5EF4-FFF2-40B4-BE49-F238E27FC236}">
                <a16:creationId xmlns:a16="http://schemas.microsoft.com/office/drawing/2014/main" id="{F87BF7EB-F3D2-179F-BA80-80F00058620D}"/>
              </a:ext>
            </a:extLst>
          </p:cNvPr>
          <p:cNvSpPr txBox="1"/>
          <p:nvPr/>
        </p:nvSpPr>
        <p:spPr>
          <a:xfrm>
            <a:off x="1456726" y="2595932"/>
            <a:ext cx="10217154" cy="1200329"/>
          </a:xfrm>
          <a:prstGeom prst="rect">
            <a:avLst/>
          </a:prstGeom>
          <a:noFill/>
        </p:spPr>
        <p:txBody>
          <a:bodyPr wrap="square" rtlCol="0">
            <a:spAutoFit/>
          </a:bodyPr>
          <a:lstStyle/>
          <a:p>
            <a:r>
              <a:rPr lang="es-MX" b="1" dirty="0">
                <a:effectLst/>
                <a:latin typeface="Verdana" panose="020B0604030504040204" pitchFamily="34" charset="0"/>
                <a:ea typeface="Verdana" panose="020B0604030504040204" pitchFamily="34" charset="0"/>
              </a:rPr>
              <a:t>Combatir la arbitrariedad y el abuso de poder</a:t>
            </a:r>
          </a:p>
          <a:p>
            <a:endParaRPr lang="es-MX" sz="2000" b="1" dirty="0">
              <a:latin typeface="Verdana" panose="020B0604030504040204" pitchFamily="34" charset="0"/>
              <a:ea typeface="Verdana" panose="020B0604030504040204" pitchFamily="34" charset="0"/>
            </a:endParaRPr>
          </a:p>
          <a:p>
            <a:r>
              <a:rPr lang="es-MX" sz="1600" dirty="0">
                <a:latin typeface="Verdana" panose="020B0604030504040204" pitchFamily="34" charset="0"/>
                <a:ea typeface="Verdana" panose="020B0604030504040204" pitchFamily="34" charset="0"/>
                <a:cs typeface="Times New Roman" panose="02020603050405020304" pitchFamily="18" charset="0"/>
              </a:rPr>
              <a:t>Considera temas relacionados con la profesionalización e integridad en el servicio público, procesos institucionales, auditoría y fiscalización</a:t>
            </a:r>
            <a:endParaRPr lang="es-MX" sz="1600" b="1" dirty="0">
              <a:latin typeface="Verdana" panose="020B0604030504040204" pitchFamily="34" charset="0"/>
              <a:ea typeface="Verdana" panose="020B0604030504040204" pitchFamily="34" charset="0"/>
            </a:endParaRPr>
          </a:p>
        </p:txBody>
      </p:sp>
      <p:sp>
        <p:nvSpPr>
          <p:cNvPr id="40" name="CuadroTexto 39">
            <a:extLst>
              <a:ext uri="{FF2B5EF4-FFF2-40B4-BE49-F238E27FC236}">
                <a16:creationId xmlns:a16="http://schemas.microsoft.com/office/drawing/2014/main" id="{33430865-039F-EB62-4148-FBBF2282485B}"/>
              </a:ext>
            </a:extLst>
          </p:cNvPr>
          <p:cNvSpPr txBox="1"/>
          <p:nvPr/>
        </p:nvSpPr>
        <p:spPr>
          <a:xfrm>
            <a:off x="1456726" y="1049123"/>
            <a:ext cx="10117257" cy="1384995"/>
          </a:xfrm>
          <a:prstGeom prst="rect">
            <a:avLst/>
          </a:prstGeom>
          <a:noFill/>
        </p:spPr>
        <p:txBody>
          <a:bodyPr wrap="square" rtlCol="0">
            <a:spAutoFit/>
          </a:bodyPr>
          <a:lstStyle/>
          <a:p>
            <a:r>
              <a:rPr lang="es-MX" b="1" dirty="0">
                <a:effectLst/>
                <a:latin typeface="Verdana" panose="020B0604030504040204" pitchFamily="34" charset="0"/>
                <a:ea typeface="Verdana" panose="020B0604030504040204" pitchFamily="34" charset="0"/>
              </a:rPr>
              <a:t>Combatir la corrupción y la impunidad</a:t>
            </a:r>
          </a:p>
          <a:p>
            <a:endParaRPr lang="es-MX" b="1" dirty="0">
              <a:latin typeface="Verdana" panose="020B0604030504040204" pitchFamily="34" charset="0"/>
              <a:ea typeface="Verdana" panose="020B0604030504040204" pitchFamily="34" charset="0"/>
            </a:endParaRPr>
          </a:p>
          <a:p>
            <a:r>
              <a:rPr lang="es-MX" sz="1600" dirty="0">
                <a:latin typeface="Verdana" panose="020B0604030504040204" pitchFamily="34" charset="0"/>
                <a:ea typeface="Verdana" panose="020B0604030504040204" pitchFamily="34" charset="0"/>
                <a:cs typeface="Times New Roman" panose="02020603050405020304" pitchFamily="18" charset="0"/>
              </a:rPr>
              <a:t>Establece acciones de prevención, detección, denuncia, investigación, substanciación y sanción de faltas administrativas, además de procuración e impartición de justicia en materia de delitos por hechos de corrupción</a:t>
            </a:r>
            <a:endParaRPr lang="es-MX" sz="1600" b="1" dirty="0">
              <a:latin typeface="Verdana" panose="020B0604030504040204" pitchFamily="34" charset="0"/>
              <a:ea typeface="Verdana" panose="020B0604030504040204" pitchFamily="34" charset="0"/>
            </a:endParaRPr>
          </a:p>
        </p:txBody>
      </p:sp>
      <p:sp>
        <p:nvSpPr>
          <p:cNvPr id="44" name="CuadroTexto 43">
            <a:extLst>
              <a:ext uri="{FF2B5EF4-FFF2-40B4-BE49-F238E27FC236}">
                <a16:creationId xmlns:a16="http://schemas.microsoft.com/office/drawing/2014/main" id="{82EBB49E-6552-6EDA-8D14-E81BF4C19EDB}"/>
              </a:ext>
            </a:extLst>
          </p:cNvPr>
          <p:cNvSpPr txBox="1"/>
          <p:nvPr/>
        </p:nvSpPr>
        <p:spPr>
          <a:xfrm>
            <a:off x="1456726" y="3887014"/>
            <a:ext cx="10217154" cy="1446550"/>
          </a:xfrm>
          <a:prstGeom prst="rect">
            <a:avLst/>
          </a:prstGeom>
          <a:noFill/>
        </p:spPr>
        <p:txBody>
          <a:bodyPr wrap="square" rtlCol="0">
            <a:spAutoFit/>
          </a:bodyPr>
          <a:lstStyle/>
          <a:p>
            <a:r>
              <a:rPr lang="es-MX" b="1" dirty="0">
                <a:effectLst/>
                <a:latin typeface="Verdana" panose="020B0604030504040204" pitchFamily="34" charset="0"/>
                <a:ea typeface="Verdana" panose="020B0604030504040204" pitchFamily="34" charset="0"/>
              </a:rPr>
              <a:t>Promover la mejora de la gestión pública y de los puntos de contacto gobierno-sociedad</a:t>
            </a:r>
          </a:p>
          <a:p>
            <a:endParaRPr lang="es-MX" sz="2000" b="1" dirty="0">
              <a:latin typeface="Verdana" panose="020B0604030504040204" pitchFamily="34" charset="0"/>
              <a:ea typeface="Verdana" panose="020B0604030504040204" pitchFamily="34" charset="0"/>
            </a:endParaRPr>
          </a:p>
          <a:p>
            <a:r>
              <a:rPr lang="es-MX" sz="1600" dirty="0">
                <a:latin typeface="Verdana" panose="020B0604030504040204" pitchFamily="34" charset="0"/>
                <a:ea typeface="Verdana" panose="020B0604030504040204" pitchFamily="34" charset="0"/>
                <a:cs typeface="Times New Roman" panose="02020603050405020304" pitchFamily="18" charset="0"/>
              </a:rPr>
              <a:t>Contempla acciones de mejora en puntos de contacto gobierno-ciudadanía, a través de trámites, servicios y programas públicos, puntos de contacto gobierno-iniciativa privada</a:t>
            </a:r>
            <a:r>
              <a:rPr lang="es-MX" sz="1600" b="1" dirty="0">
                <a:effectLst/>
                <a:latin typeface="Verdana" panose="020B0604030504040204" pitchFamily="34" charset="0"/>
                <a:ea typeface="Verdana" panose="020B0604030504040204" pitchFamily="34" charset="0"/>
              </a:rPr>
              <a:t> </a:t>
            </a:r>
            <a:endParaRPr lang="es-MX" sz="1600" b="1" dirty="0">
              <a:latin typeface="Verdana" panose="020B0604030504040204" pitchFamily="34" charset="0"/>
              <a:ea typeface="Verdana" panose="020B0604030504040204" pitchFamily="34" charset="0"/>
            </a:endParaRPr>
          </a:p>
        </p:txBody>
      </p:sp>
      <p:sp>
        <p:nvSpPr>
          <p:cNvPr id="46" name="CuadroTexto 45">
            <a:extLst>
              <a:ext uri="{FF2B5EF4-FFF2-40B4-BE49-F238E27FC236}">
                <a16:creationId xmlns:a16="http://schemas.microsoft.com/office/drawing/2014/main" id="{36FEDCE0-3E35-280F-37D0-9A86C0BE43A2}"/>
              </a:ext>
            </a:extLst>
          </p:cNvPr>
          <p:cNvSpPr txBox="1"/>
          <p:nvPr/>
        </p:nvSpPr>
        <p:spPr>
          <a:xfrm>
            <a:off x="1456726" y="5384619"/>
            <a:ext cx="10338822" cy="1384995"/>
          </a:xfrm>
          <a:prstGeom prst="rect">
            <a:avLst/>
          </a:prstGeom>
          <a:noFill/>
        </p:spPr>
        <p:txBody>
          <a:bodyPr wrap="square" rtlCol="0">
            <a:spAutoFit/>
          </a:bodyPr>
          <a:lstStyle/>
          <a:p>
            <a:r>
              <a:rPr lang="es-MX" b="1" dirty="0">
                <a:solidFill>
                  <a:srgbClr val="000000"/>
                </a:solidFill>
                <a:effectLst/>
                <a:latin typeface="Verdana" panose="020B0604030504040204" pitchFamily="34" charset="0"/>
                <a:ea typeface="Verdana" panose="020B0604030504040204" pitchFamily="34" charset="0"/>
              </a:rPr>
              <a:t>Involucrar a la sociedad y el sector privado</a:t>
            </a:r>
          </a:p>
          <a:p>
            <a:endParaRPr lang="es-MX" b="1" dirty="0">
              <a:solidFill>
                <a:srgbClr val="000000"/>
              </a:solidFill>
              <a:effectLst/>
              <a:latin typeface="Verdana" panose="020B0604030504040204" pitchFamily="34" charset="0"/>
              <a:ea typeface="Verdana" panose="020B0604030504040204" pitchFamily="34" charset="0"/>
            </a:endParaRPr>
          </a:p>
          <a:p>
            <a:r>
              <a:rPr lang="es-MX" sz="1600" dirty="0">
                <a:latin typeface="Verdana" panose="020B0604030504040204" pitchFamily="34" charset="0"/>
                <a:ea typeface="Verdana" panose="020B0604030504040204" pitchFamily="34" charset="0"/>
                <a:cs typeface="Times New Roman" panose="02020603050405020304" pitchFamily="18" charset="0"/>
              </a:rPr>
              <a:t>involucramiento social en el control de la corrupción con acciones de participación ciudadana, en temas de vigilancia, colaboración y </a:t>
            </a:r>
            <a:r>
              <a:rPr lang="es-MX" sz="1600" dirty="0" err="1">
                <a:latin typeface="Verdana" panose="020B0604030504040204" pitchFamily="34" charset="0"/>
                <a:ea typeface="Verdana" panose="020B0604030504040204" pitchFamily="34" charset="0"/>
                <a:cs typeface="Times New Roman" panose="02020603050405020304" pitchFamily="18" charset="0"/>
              </a:rPr>
              <a:t>cocreación</a:t>
            </a:r>
            <a:r>
              <a:rPr lang="es-MX" sz="1600" dirty="0">
                <a:latin typeface="Verdana" panose="020B0604030504040204" pitchFamily="34" charset="0"/>
                <a:ea typeface="Verdana" panose="020B0604030504040204" pitchFamily="34" charset="0"/>
                <a:cs typeface="Times New Roman" panose="02020603050405020304" pitchFamily="18" charset="0"/>
              </a:rPr>
              <a:t>, corresponsabilidad e integridad empresarial, así como en educación y comunicación para el control de la corrupción.</a:t>
            </a:r>
            <a:endParaRPr lang="es-MX" sz="16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230056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1000"/>
                                        <p:tgtEl>
                                          <p:spTgt spid="40"/>
                                        </p:tgtEl>
                                      </p:cBhvr>
                                    </p:animEffect>
                                    <p:anim calcmode="lin" valueType="num">
                                      <p:cBhvr>
                                        <p:cTn id="13" dur="1000" fill="hold"/>
                                        <p:tgtEl>
                                          <p:spTgt spid="40"/>
                                        </p:tgtEl>
                                        <p:attrNameLst>
                                          <p:attrName>ppt_x</p:attrName>
                                        </p:attrNameLst>
                                      </p:cBhvr>
                                      <p:tavLst>
                                        <p:tav tm="0">
                                          <p:val>
                                            <p:strVal val="#ppt_x"/>
                                          </p:val>
                                        </p:tav>
                                        <p:tav tm="100000">
                                          <p:val>
                                            <p:strVal val="#ppt_x"/>
                                          </p:val>
                                        </p:tav>
                                      </p:tavLst>
                                    </p:anim>
                                    <p:anim calcmode="lin" valueType="num">
                                      <p:cBhvr>
                                        <p:cTn id="14"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anim calcmode="lin" valueType="num">
                                      <p:cBhvr>
                                        <p:cTn id="25" dur="1000" fill="hold"/>
                                        <p:tgtEl>
                                          <p:spTgt spid="24"/>
                                        </p:tgtEl>
                                        <p:attrNameLst>
                                          <p:attrName>ppt_x</p:attrName>
                                        </p:attrNameLst>
                                      </p:cBhvr>
                                      <p:tavLst>
                                        <p:tav tm="0">
                                          <p:val>
                                            <p:strVal val="#ppt_x"/>
                                          </p:val>
                                        </p:tav>
                                        <p:tav tm="100000">
                                          <p:val>
                                            <p:strVal val="#ppt_x"/>
                                          </p:val>
                                        </p:tav>
                                      </p:tavLst>
                                    </p:anim>
                                    <p:anim calcmode="lin" valueType="num">
                                      <p:cBhvr>
                                        <p:cTn id="2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1000"/>
                                        <p:tgtEl>
                                          <p:spTgt spid="21"/>
                                        </p:tgtEl>
                                      </p:cBhvr>
                                    </p:animEffect>
                                    <p:anim calcmode="lin" valueType="num">
                                      <p:cBhvr>
                                        <p:cTn id="32" dur="1000" fill="hold"/>
                                        <p:tgtEl>
                                          <p:spTgt spid="21"/>
                                        </p:tgtEl>
                                        <p:attrNameLst>
                                          <p:attrName>ppt_x</p:attrName>
                                        </p:attrNameLst>
                                      </p:cBhvr>
                                      <p:tavLst>
                                        <p:tav tm="0">
                                          <p:val>
                                            <p:strVal val="#ppt_x"/>
                                          </p:val>
                                        </p:tav>
                                        <p:tav tm="100000">
                                          <p:val>
                                            <p:strVal val="#ppt_x"/>
                                          </p:val>
                                        </p:tav>
                                      </p:tavLst>
                                    </p:anim>
                                    <p:anim calcmode="lin" valueType="num">
                                      <p:cBhvr>
                                        <p:cTn id="33" dur="1000" fill="hold"/>
                                        <p:tgtEl>
                                          <p:spTgt spid="2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fade">
                                      <p:cBhvr>
                                        <p:cTn id="36" dur="1000"/>
                                        <p:tgtEl>
                                          <p:spTgt spid="44"/>
                                        </p:tgtEl>
                                      </p:cBhvr>
                                    </p:animEffect>
                                    <p:anim calcmode="lin" valueType="num">
                                      <p:cBhvr>
                                        <p:cTn id="37" dur="1000" fill="hold"/>
                                        <p:tgtEl>
                                          <p:spTgt spid="44"/>
                                        </p:tgtEl>
                                        <p:attrNameLst>
                                          <p:attrName>ppt_x</p:attrName>
                                        </p:attrNameLst>
                                      </p:cBhvr>
                                      <p:tavLst>
                                        <p:tav tm="0">
                                          <p:val>
                                            <p:strVal val="#ppt_x"/>
                                          </p:val>
                                        </p:tav>
                                        <p:tav tm="100000">
                                          <p:val>
                                            <p:strVal val="#ppt_x"/>
                                          </p:val>
                                        </p:tav>
                                      </p:tavLst>
                                    </p:anim>
                                    <p:anim calcmode="lin" valueType="num">
                                      <p:cBhvr>
                                        <p:cTn id="38"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1000"/>
                                        <p:tgtEl>
                                          <p:spTgt spid="22"/>
                                        </p:tgtEl>
                                      </p:cBhvr>
                                    </p:animEffect>
                                    <p:anim calcmode="lin" valueType="num">
                                      <p:cBhvr>
                                        <p:cTn id="44" dur="1000" fill="hold"/>
                                        <p:tgtEl>
                                          <p:spTgt spid="22"/>
                                        </p:tgtEl>
                                        <p:attrNameLst>
                                          <p:attrName>ppt_x</p:attrName>
                                        </p:attrNameLst>
                                      </p:cBhvr>
                                      <p:tavLst>
                                        <p:tav tm="0">
                                          <p:val>
                                            <p:strVal val="#ppt_x"/>
                                          </p:val>
                                        </p:tav>
                                        <p:tav tm="100000">
                                          <p:val>
                                            <p:strVal val="#ppt_x"/>
                                          </p:val>
                                        </p:tav>
                                      </p:tavLst>
                                    </p:anim>
                                    <p:anim calcmode="lin" valueType="num">
                                      <p:cBhvr>
                                        <p:cTn id="45" dur="1000" fill="hold"/>
                                        <p:tgtEl>
                                          <p:spTgt spid="22"/>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fade">
                                      <p:cBhvr>
                                        <p:cTn id="48" dur="1000"/>
                                        <p:tgtEl>
                                          <p:spTgt spid="46"/>
                                        </p:tgtEl>
                                      </p:cBhvr>
                                    </p:animEffect>
                                    <p:anim calcmode="lin" valueType="num">
                                      <p:cBhvr>
                                        <p:cTn id="49" dur="1000" fill="hold"/>
                                        <p:tgtEl>
                                          <p:spTgt spid="46"/>
                                        </p:tgtEl>
                                        <p:attrNameLst>
                                          <p:attrName>ppt_x</p:attrName>
                                        </p:attrNameLst>
                                      </p:cBhvr>
                                      <p:tavLst>
                                        <p:tav tm="0">
                                          <p:val>
                                            <p:strVal val="#ppt_x"/>
                                          </p:val>
                                        </p:tav>
                                        <p:tav tm="100000">
                                          <p:val>
                                            <p:strVal val="#ppt_x"/>
                                          </p:val>
                                        </p:tav>
                                      </p:tavLst>
                                    </p:anim>
                                    <p:anim calcmode="lin" valueType="num">
                                      <p:cBhvr>
                                        <p:cTn id="5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4" grpId="0"/>
      <p:bldP spid="40" grpId="0"/>
      <p:bldP spid="44" grpId="0"/>
      <p:bldP spid="4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AEB51B1A-4C61-7F4F-9599-EE070E0A0CD3}"/>
              </a:ext>
            </a:extLst>
          </p:cNvPr>
          <p:cNvSpPr txBox="1"/>
          <p:nvPr/>
        </p:nvSpPr>
        <p:spPr>
          <a:xfrm>
            <a:off x="384785" y="324034"/>
            <a:ext cx="11157857" cy="461665"/>
          </a:xfrm>
          <a:prstGeom prst="rect">
            <a:avLst/>
          </a:prstGeom>
          <a:noFill/>
        </p:spPr>
        <p:txBody>
          <a:bodyPr wrap="square" rtlCol="0">
            <a:spAutoFit/>
          </a:bodyPr>
          <a:lstStyle/>
          <a:p>
            <a:pPr algn="ctr"/>
            <a:r>
              <a:rPr lang="en-US" sz="2400" b="1" dirty="0">
                <a:solidFill>
                  <a:schemeClr val="tx2"/>
                </a:solidFill>
                <a:latin typeface="Verdana" panose="020B0604030504040204" pitchFamily="34" charset="0"/>
                <a:ea typeface="Verdana" panose="020B0604030504040204" pitchFamily="34" charset="0"/>
                <a:cs typeface="Poppins" pitchFamily="2" charset="77"/>
              </a:rPr>
              <a:t>OBJETIVOS DE LA POLÍTICA </a:t>
            </a:r>
            <a:r>
              <a:rPr lang="en-US" sz="2400" b="1" dirty="0" err="1">
                <a:solidFill>
                  <a:schemeClr val="tx2"/>
                </a:solidFill>
                <a:latin typeface="Verdana" panose="020B0604030504040204" pitchFamily="34" charset="0"/>
                <a:ea typeface="Verdana" panose="020B0604030504040204" pitchFamily="34" charset="0"/>
                <a:cs typeface="Poppins" pitchFamily="2" charset="77"/>
              </a:rPr>
              <a:t>ESTATAL</a:t>
            </a:r>
            <a:r>
              <a:rPr lang="en-US" sz="2400" b="1" dirty="0">
                <a:solidFill>
                  <a:schemeClr val="tx2"/>
                </a:solidFill>
                <a:latin typeface="Verdana" panose="020B0604030504040204" pitchFamily="34" charset="0"/>
                <a:ea typeface="Verdana" panose="020B0604030504040204" pitchFamily="34" charset="0"/>
                <a:cs typeface="Poppins" pitchFamily="2" charset="77"/>
              </a:rPr>
              <a:t> ANTICORRUPCIÓN</a:t>
            </a:r>
          </a:p>
        </p:txBody>
      </p:sp>
      <p:sp>
        <p:nvSpPr>
          <p:cNvPr id="14" name="Diagrama de flujo: conector 13">
            <a:extLst>
              <a:ext uri="{FF2B5EF4-FFF2-40B4-BE49-F238E27FC236}">
                <a16:creationId xmlns:a16="http://schemas.microsoft.com/office/drawing/2014/main" id="{516E50A4-83F3-08B8-4DA5-2EF11364D28B}"/>
              </a:ext>
            </a:extLst>
          </p:cNvPr>
          <p:cNvSpPr/>
          <p:nvPr/>
        </p:nvSpPr>
        <p:spPr>
          <a:xfrm>
            <a:off x="352633" y="1060591"/>
            <a:ext cx="692397" cy="650413"/>
          </a:xfrm>
          <a:prstGeom prst="flowChartConnector">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1</a:t>
            </a:r>
            <a:endParaRPr lang="es-MX" sz="1600" dirty="0">
              <a:latin typeface="Verdana" panose="020B0604030504040204" pitchFamily="34" charset="0"/>
              <a:ea typeface="Verdana" panose="020B0604030504040204" pitchFamily="34" charset="0"/>
            </a:endParaRPr>
          </a:p>
        </p:txBody>
      </p:sp>
      <p:sp>
        <p:nvSpPr>
          <p:cNvPr id="18" name="Diagrama de flujo: conector 17">
            <a:extLst>
              <a:ext uri="{FF2B5EF4-FFF2-40B4-BE49-F238E27FC236}">
                <a16:creationId xmlns:a16="http://schemas.microsoft.com/office/drawing/2014/main" id="{70ADB41A-CD7C-8402-E948-D5727B316472}"/>
              </a:ext>
            </a:extLst>
          </p:cNvPr>
          <p:cNvSpPr/>
          <p:nvPr/>
        </p:nvSpPr>
        <p:spPr>
          <a:xfrm>
            <a:off x="352633" y="2191491"/>
            <a:ext cx="692397" cy="650413"/>
          </a:xfrm>
          <a:prstGeom prst="flowChartConnector">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2</a:t>
            </a:r>
            <a:endParaRPr lang="es-MX" sz="1600" dirty="0">
              <a:latin typeface="Verdana" panose="020B0604030504040204" pitchFamily="34" charset="0"/>
              <a:ea typeface="Verdana" panose="020B0604030504040204" pitchFamily="34" charset="0"/>
            </a:endParaRPr>
          </a:p>
        </p:txBody>
      </p:sp>
      <p:sp>
        <p:nvSpPr>
          <p:cNvPr id="19" name="Diagrama de flujo: conector 18">
            <a:extLst>
              <a:ext uri="{FF2B5EF4-FFF2-40B4-BE49-F238E27FC236}">
                <a16:creationId xmlns:a16="http://schemas.microsoft.com/office/drawing/2014/main" id="{F09CCFC6-71CA-3F9D-4DAE-8DE9B9DF8CC9}"/>
              </a:ext>
            </a:extLst>
          </p:cNvPr>
          <p:cNvSpPr/>
          <p:nvPr/>
        </p:nvSpPr>
        <p:spPr>
          <a:xfrm>
            <a:off x="352632" y="3319159"/>
            <a:ext cx="692397" cy="650413"/>
          </a:xfrm>
          <a:prstGeom prst="flowChartConnector">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3</a:t>
            </a:r>
            <a:endParaRPr lang="es-MX" sz="1600" dirty="0">
              <a:latin typeface="Verdana" panose="020B0604030504040204" pitchFamily="34" charset="0"/>
              <a:ea typeface="Verdana" panose="020B0604030504040204" pitchFamily="34" charset="0"/>
            </a:endParaRPr>
          </a:p>
        </p:txBody>
      </p:sp>
      <p:sp>
        <p:nvSpPr>
          <p:cNvPr id="20" name="Diagrama de flujo: conector 19">
            <a:extLst>
              <a:ext uri="{FF2B5EF4-FFF2-40B4-BE49-F238E27FC236}">
                <a16:creationId xmlns:a16="http://schemas.microsoft.com/office/drawing/2014/main" id="{1407B24B-D20E-68FD-2E7D-BD0706F364E3}"/>
              </a:ext>
            </a:extLst>
          </p:cNvPr>
          <p:cNvSpPr/>
          <p:nvPr/>
        </p:nvSpPr>
        <p:spPr>
          <a:xfrm>
            <a:off x="352632" y="4446827"/>
            <a:ext cx="692397" cy="650413"/>
          </a:xfrm>
          <a:prstGeom prst="flowChartConnector">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4</a:t>
            </a:r>
            <a:endParaRPr lang="es-MX" sz="1600" dirty="0">
              <a:latin typeface="Verdana" panose="020B0604030504040204" pitchFamily="34" charset="0"/>
              <a:ea typeface="Verdana" panose="020B0604030504040204" pitchFamily="34" charset="0"/>
            </a:endParaRPr>
          </a:p>
        </p:txBody>
      </p:sp>
      <p:sp>
        <p:nvSpPr>
          <p:cNvPr id="21" name="Diagrama de flujo: conector 20">
            <a:extLst>
              <a:ext uri="{FF2B5EF4-FFF2-40B4-BE49-F238E27FC236}">
                <a16:creationId xmlns:a16="http://schemas.microsoft.com/office/drawing/2014/main" id="{853177EF-BC56-86C2-28F6-7B8866CF12B7}"/>
              </a:ext>
            </a:extLst>
          </p:cNvPr>
          <p:cNvSpPr/>
          <p:nvPr/>
        </p:nvSpPr>
        <p:spPr>
          <a:xfrm>
            <a:off x="352632" y="5587101"/>
            <a:ext cx="692397" cy="650413"/>
          </a:xfrm>
          <a:prstGeom prst="flowChartConnector">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5</a:t>
            </a:r>
            <a:endParaRPr lang="es-MX" sz="1600" dirty="0">
              <a:latin typeface="Verdana" panose="020B0604030504040204" pitchFamily="34" charset="0"/>
              <a:ea typeface="Verdana" panose="020B0604030504040204" pitchFamily="34" charset="0"/>
            </a:endParaRPr>
          </a:p>
        </p:txBody>
      </p:sp>
      <p:sp>
        <p:nvSpPr>
          <p:cNvPr id="22" name="CuadroTexto 21">
            <a:extLst>
              <a:ext uri="{FF2B5EF4-FFF2-40B4-BE49-F238E27FC236}">
                <a16:creationId xmlns:a16="http://schemas.microsoft.com/office/drawing/2014/main" id="{6468AB7C-890B-C7AB-8F32-2AC76D4BEF9E}"/>
              </a:ext>
            </a:extLst>
          </p:cNvPr>
          <p:cNvSpPr txBox="1"/>
          <p:nvPr/>
        </p:nvSpPr>
        <p:spPr>
          <a:xfrm>
            <a:off x="1367338" y="1138368"/>
            <a:ext cx="10175303" cy="830997"/>
          </a:xfrm>
          <a:prstGeom prst="rect">
            <a:avLst/>
          </a:prstGeom>
          <a:noFill/>
        </p:spPr>
        <p:txBody>
          <a:bodyPr wrap="square" rtlCol="0">
            <a:spAutoFit/>
          </a:bodyPr>
          <a:lstStyle/>
          <a:p>
            <a:pPr algn="just"/>
            <a:r>
              <a:rPr lang="es-MX" sz="1600" dirty="0">
                <a:effectLst/>
                <a:latin typeface="Verdana" panose="020B0604030504040204" pitchFamily="34" charset="0"/>
                <a:ea typeface="Verdana" panose="020B0604030504040204" pitchFamily="34" charset="0"/>
                <a:cs typeface="Times New Roman" panose="02020603050405020304" pitchFamily="18" charset="0"/>
              </a:rPr>
              <a:t>Promover los mecanismos de coordinación de las autoridades competentes para la mejora de los procesos de prevención, denuncia, detección, investigación, substanciación y sanción de faltas administrativa y hechos de corrupción</a:t>
            </a:r>
            <a:r>
              <a:rPr lang="es-MX" sz="1600" dirty="0">
                <a:effectLst/>
                <a:latin typeface="Lucida Sans Unicode" panose="020B0602030504020204" pitchFamily="34" charset="0"/>
                <a:ea typeface="Calibri" panose="020F0502020204030204" pitchFamily="34" charset="0"/>
                <a:cs typeface="Times New Roman" panose="02020603050405020304" pitchFamily="18" charset="0"/>
              </a:rPr>
              <a:t>.</a:t>
            </a:r>
            <a:endParaRPr lang="es-MX"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BDF1DC38-5DF5-DE35-E8E6-E5A97E1970FA}"/>
              </a:ext>
            </a:extLst>
          </p:cNvPr>
          <p:cNvSpPr txBox="1"/>
          <p:nvPr/>
        </p:nvSpPr>
        <p:spPr>
          <a:xfrm>
            <a:off x="1367338" y="2322035"/>
            <a:ext cx="10175303" cy="584775"/>
          </a:xfrm>
          <a:prstGeom prst="rect">
            <a:avLst/>
          </a:prstGeom>
          <a:noFill/>
        </p:spPr>
        <p:txBody>
          <a:bodyPr wrap="square" rtlCol="0">
            <a:spAutoFit/>
          </a:bodyPr>
          <a:lstStyle/>
          <a:p>
            <a:pPr algn="just"/>
            <a:r>
              <a:rPr lang="es-ES" sz="1600" dirty="0">
                <a:effectLst/>
                <a:latin typeface="Verdana" panose="020B0604030504040204" pitchFamily="34" charset="0"/>
                <a:ea typeface="Verdana" panose="020B0604030504040204" pitchFamily="34" charset="0"/>
                <a:cs typeface="Times New Roman" panose="02020603050405020304" pitchFamily="18" charset="0"/>
              </a:rPr>
              <a:t>Fortalecer las capacidades institucionales para el desahogo de carpetas de investigación y causas penales en materia de delitos por hechos de corrupción.</a:t>
            </a:r>
            <a:endParaRPr lang="es-MX" sz="16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4" name="CuadroTexto 23">
            <a:extLst>
              <a:ext uri="{FF2B5EF4-FFF2-40B4-BE49-F238E27FC236}">
                <a16:creationId xmlns:a16="http://schemas.microsoft.com/office/drawing/2014/main" id="{87384958-58EE-3DA6-7D7F-3E2079C9F7FE}"/>
              </a:ext>
            </a:extLst>
          </p:cNvPr>
          <p:cNvSpPr txBox="1"/>
          <p:nvPr/>
        </p:nvSpPr>
        <p:spPr>
          <a:xfrm>
            <a:off x="1367339" y="3347853"/>
            <a:ext cx="10175303" cy="830997"/>
          </a:xfrm>
          <a:prstGeom prst="rect">
            <a:avLst/>
          </a:prstGeom>
          <a:noFill/>
        </p:spPr>
        <p:txBody>
          <a:bodyPr wrap="square" rtlCol="0">
            <a:spAutoFit/>
          </a:bodyPr>
          <a:lstStyle/>
          <a:p>
            <a:pPr algn="just"/>
            <a:r>
              <a:rPr lang="es-ES" sz="1600" dirty="0">
                <a:effectLst/>
                <a:latin typeface="Verdana" panose="020B0604030504040204" pitchFamily="34" charset="0"/>
                <a:ea typeface="Verdana" panose="020B0604030504040204" pitchFamily="34" charset="0"/>
                <a:cs typeface="Times New Roman" panose="02020603050405020304" pitchFamily="18" charset="0"/>
              </a:rPr>
              <a:t>Fortalecer el servicio público mediante servicios profesionales de carrera y mecanismos de integridad a escala nacional, bajo principios de mérito, eficiencia, consistencia estructural, capacidad funcional, ética e integridad.</a:t>
            </a:r>
            <a:endParaRPr lang="es-MX" sz="16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1AF10057-98AF-0791-1525-C9E9071BE28B}"/>
              </a:ext>
            </a:extLst>
          </p:cNvPr>
          <p:cNvSpPr txBox="1"/>
          <p:nvPr/>
        </p:nvSpPr>
        <p:spPr>
          <a:xfrm>
            <a:off x="1367338" y="4451177"/>
            <a:ext cx="10175304" cy="830997"/>
          </a:xfrm>
          <a:prstGeom prst="rect">
            <a:avLst/>
          </a:prstGeom>
          <a:noFill/>
        </p:spPr>
        <p:txBody>
          <a:bodyPr wrap="square" rtlCol="0">
            <a:spAutoFit/>
          </a:bodyPr>
          <a:lstStyle/>
          <a:p>
            <a:pPr algn="just"/>
            <a:r>
              <a:rPr lang="es-ES" sz="1600" dirty="0">
                <a:effectLst/>
                <a:latin typeface="Verdana" panose="020B0604030504040204" pitchFamily="34" charset="0"/>
                <a:ea typeface="Verdana" panose="020B0604030504040204" pitchFamily="34" charset="0"/>
                <a:cs typeface="Times New Roman" panose="02020603050405020304" pitchFamily="18" charset="0"/>
              </a:rPr>
              <a:t>Fomentar el desarrollo y aplicación de procesos estandarizados de planeación, presupuestación y ejercicio del gasto con un enfoque de máxima publicidad y participación de la sociedad en la gestión de riesgos y el fomento de la integridad empresarial.</a:t>
            </a:r>
            <a:endParaRPr lang="es-MX" sz="16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6" name="CuadroTexto 25">
            <a:extLst>
              <a:ext uri="{FF2B5EF4-FFF2-40B4-BE49-F238E27FC236}">
                <a16:creationId xmlns:a16="http://schemas.microsoft.com/office/drawing/2014/main" id="{A29300FA-A52D-C903-C5F6-59256423C59A}"/>
              </a:ext>
            </a:extLst>
          </p:cNvPr>
          <p:cNvSpPr txBox="1"/>
          <p:nvPr/>
        </p:nvSpPr>
        <p:spPr>
          <a:xfrm>
            <a:off x="1367338" y="5614255"/>
            <a:ext cx="10175303" cy="584775"/>
          </a:xfrm>
          <a:prstGeom prst="rect">
            <a:avLst/>
          </a:prstGeom>
          <a:noFill/>
        </p:spPr>
        <p:txBody>
          <a:bodyPr wrap="square" rtlCol="0">
            <a:spAutoFit/>
          </a:bodyPr>
          <a:lstStyle/>
          <a:p>
            <a:pPr algn="just"/>
            <a:r>
              <a:rPr lang="es-ES" sz="1600" dirty="0">
                <a:effectLst/>
                <a:latin typeface="Verdana" panose="020B0604030504040204" pitchFamily="34" charset="0"/>
                <a:ea typeface="Verdana" panose="020B0604030504040204" pitchFamily="34" charset="0"/>
                <a:cs typeface="Times New Roman" panose="02020603050405020304" pitchFamily="18" charset="0"/>
              </a:rPr>
              <a:t>Fortalecer los mecanismos de homologación de sistemas, principios, prácticas y capacidades de auditoría, fiscalización, control interno y rendición de cuentas a escala nacional.</a:t>
            </a:r>
            <a:endParaRPr lang="es-MX" sz="1600" dirty="0">
              <a:effectLst/>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31573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000"/>
                                        <p:tgtEl>
                                          <p:spTgt spid="23"/>
                                        </p:tgtEl>
                                      </p:cBhvr>
                                    </p:animEffect>
                                    <p:anim calcmode="lin" valueType="num">
                                      <p:cBhvr>
                                        <p:cTn id="25" dur="1000" fill="hold"/>
                                        <p:tgtEl>
                                          <p:spTgt spid="23"/>
                                        </p:tgtEl>
                                        <p:attrNameLst>
                                          <p:attrName>ppt_x</p:attrName>
                                        </p:attrNameLst>
                                      </p:cBhvr>
                                      <p:tavLst>
                                        <p:tav tm="0">
                                          <p:val>
                                            <p:strVal val="#ppt_x"/>
                                          </p:val>
                                        </p:tav>
                                        <p:tav tm="100000">
                                          <p:val>
                                            <p:strVal val="#ppt_x"/>
                                          </p:val>
                                        </p:tav>
                                      </p:tavLst>
                                    </p:anim>
                                    <p:anim calcmode="lin" valueType="num">
                                      <p:cBhvr>
                                        <p:cTn id="2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1000"/>
                                        <p:tgtEl>
                                          <p:spTgt spid="24"/>
                                        </p:tgtEl>
                                      </p:cBhvr>
                                    </p:animEffect>
                                    <p:anim calcmode="lin" valueType="num">
                                      <p:cBhvr>
                                        <p:cTn id="37" dur="1000" fill="hold"/>
                                        <p:tgtEl>
                                          <p:spTgt spid="24"/>
                                        </p:tgtEl>
                                        <p:attrNameLst>
                                          <p:attrName>ppt_x</p:attrName>
                                        </p:attrNameLst>
                                      </p:cBhvr>
                                      <p:tavLst>
                                        <p:tav tm="0">
                                          <p:val>
                                            <p:strVal val="#ppt_x"/>
                                          </p:val>
                                        </p:tav>
                                        <p:tav tm="100000">
                                          <p:val>
                                            <p:strVal val="#ppt_x"/>
                                          </p:val>
                                        </p:tav>
                                      </p:tavLst>
                                    </p:anim>
                                    <p:anim calcmode="lin" valueType="num">
                                      <p:cBhvr>
                                        <p:cTn id="38"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1000"/>
                                        <p:tgtEl>
                                          <p:spTgt spid="25"/>
                                        </p:tgtEl>
                                      </p:cBhvr>
                                    </p:animEffect>
                                    <p:anim calcmode="lin" valueType="num">
                                      <p:cBhvr>
                                        <p:cTn id="49" dur="1000" fill="hold"/>
                                        <p:tgtEl>
                                          <p:spTgt spid="25"/>
                                        </p:tgtEl>
                                        <p:attrNameLst>
                                          <p:attrName>ppt_x</p:attrName>
                                        </p:attrNameLst>
                                      </p:cBhvr>
                                      <p:tavLst>
                                        <p:tav tm="0">
                                          <p:val>
                                            <p:strVal val="#ppt_x"/>
                                          </p:val>
                                        </p:tav>
                                        <p:tav tm="100000">
                                          <p:val>
                                            <p:strVal val="#ppt_x"/>
                                          </p:val>
                                        </p:tav>
                                      </p:tavLst>
                                    </p:anim>
                                    <p:anim calcmode="lin" valueType="num">
                                      <p:cBhvr>
                                        <p:cTn id="5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1000"/>
                                        <p:tgtEl>
                                          <p:spTgt spid="21"/>
                                        </p:tgtEl>
                                      </p:cBhvr>
                                    </p:animEffect>
                                    <p:anim calcmode="lin" valueType="num">
                                      <p:cBhvr>
                                        <p:cTn id="56" dur="1000" fill="hold"/>
                                        <p:tgtEl>
                                          <p:spTgt spid="21"/>
                                        </p:tgtEl>
                                        <p:attrNameLst>
                                          <p:attrName>ppt_x</p:attrName>
                                        </p:attrNameLst>
                                      </p:cBhvr>
                                      <p:tavLst>
                                        <p:tav tm="0">
                                          <p:val>
                                            <p:strVal val="#ppt_x"/>
                                          </p:val>
                                        </p:tav>
                                        <p:tav tm="100000">
                                          <p:val>
                                            <p:strVal val="#ppt_x"/>
                                          </p:val>
                                        </p:tav>
                                      </p:tavLst>
                                    </p:anim>
                                    <p:anim calcmode="lin" valueType="num">
                                      <p:cBhvr>
                                        <p:cTn id="57" dur="1000" fill="hold"/>
                                        <p:tgtEl>
                                          <p:spTgt spid="21"/>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1000"/>
                                        <p:tgtEl>
                                          <p:spTgt spid="26"/>
                                        </p:tgtEl>
                                      </p:cBhvr>
                                    </p:animEffect>
                                    <p:anim calcmode="lin" valueType="num">
                                      <p:cBhvr>
                                        <p:cTn id="61" dur="1000" fill="hold"/>
                                        <p:tgtEl>
                                          <p:spTgt spid="26"/>
                                        </p:tgtEl>
                                        <p:attrNameLst>
                                          <p:attrName>ppt_x</p:attrName>
                                        </p:attrNameLst>
                                      </p:cBhvr>
                                      <p:tavLst>
                                        <p:tav tm="0">
                                          <p:val>
                                            <p:strVal val="#ppt_x"/>
                                          </p:val>
                                        </p:tav>
                                        <p:tav tm="100000">
                                          <p:val>
                                            <p:strVal val="#ppt_x"/>
                                          </p:val>
                                        </p:tav>
                                      </p:tavLst>
                                    </p:anim>
                                    <p:anim calcmode="lin" valueType="num">
                                      <p:cBhvr>
                                        <p:cTn id="62"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P spid="20" grpId="0" animBg="1"/>
      <p:bldP spid="21" grpId="0" animBg="1"/>
      <p:bldP spid="22" grpId="0"/>
      <p:bldP spid="23" grpId="0"/>
      <p:bldP spid="24" grpId="0"/>
      <p:bldP spid="25" grpId="0"/>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AEB51B1A-4C61-7F4F-9599-EE070E0A0CD3}"/>
              </a:ext>
            </a:extLst>
          </p:cNvPr>
          <p:cNvSpPr txBox="1"/>
          <p:nvPr/>
        </p:nvSpPr>
        <p:spPr>
          <a:xfrm>
            <a:off x="567925" y="312360"/>
            <a:ext cx="11136086" cy="461665"/>
          </a:xfrm>
          <a:prstGeom prst="rect">
            <a:avLst/>
          </a:prstGeom>
          <a:noFill/>
        </p:spPr>
        <p:txBody>
          <a:bodyPr wrap="square" rtlCol="0">
            <a:spAutoFit/>
          </a:bodyPr>
          <a:lstStyle/>
          <a:p>
            <a:pPr algn="ctr"/>
            <a:r>
              <a:rPr lang="en-US" sz="2400" b="1" dirty="0" err="1">
                <a:latin typeface="Verdana" panose="020B0604030504040204" pitchFamily="34" charset="0"/>
                <a:ea typeface="Verdana" panose="020B0604030504040204" pitchFamily="34" charset="0"/>
                <a:cs typeface="Poppins" pitchFamily="2" charset="77"/>
              </a:rPr>
              <a:t>OBJETIVOS</a:t>
            </a:r>
            <a:r>
              <a:rPr lang="en-US" sz="2400" b="1" dirty="0">
                <a:latin typeface="Verdana" panose="020B0604030504040204" pitchFamily="34" charset="0"/>
                <a:ea typeface="Verdana" panose="020B0604030504040204" pitchFamily="34" charset="0"/>
                <a:cs typeface="Poppins" pitchFamily="2" charset="77"/>
              </a:rPr>
              <a:t> </a:t>
            </a:r>
            <a:r>
              <a:rPr lang="en-US" sz="2400" b="1" dirty="0" err="1">
                <a:latin typeface="Verdana" panose="020B0604030504040204" pitchFamily="34" charset="0"/>
                <a:ea typeface="Verdana" panose="020B0604030504040204" pitchFamily="34" charset="0"/>
                <a:cs typeface="Poppins" pitchFamily="2" charset="77"/>
              </a:rPr>
              <a:t>ESPECíFICOS</a:t>
            </a:r>
            <a:r>
              <a:rPr lang="en-US" sz="2400" b="1" dirty="0">
                <a:latin typeface="Verdana" panose="020B0604030504040204" pitchFamily="34" charset="0"/>
                <a:ea typeface="Verdana" panose="020B0604030504040204" pitchFamily="34" charset="0"/>
                <a:cs typeface="Poppins" pitchFamily="2" charset="77"/>
              </a:rPr>
              <a:t> DE LA PEA</a:t>
            </a:r>
          </a:p>
        </p:txBody>
      </p:sp>
      <p:sp>
        <p:nvSpPr>
          <p:cNvPr id="14" name="Diagrama de flujo: conector 13">
            <a:extLst>
              <a:ext uri="{FF2B5EF4-FFF2-40B4-BE49-F238E27FC236}">
                <a16:creationId xmlns:a16="http://schemas.microsoft.com/office/drawing/2014/main" id="{516E50A4-83F3-08B8-4DA5-2EF11364D28B}"/>
              </a:ext>
            </a:extLst>
          </p:cNvPr>
          <p:cNvSpPr/>
          <p:nvPr/>
        </p:nvSpPr>
        <p:spPr>
          <a:xfrm>
            <a:off x="222008" y="1321850"/>
            <a:ext cx="691836" cy="641856"/>
          </a:xfrm>
          <a:prstGeom prst="flowChartConnector">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6</a:t>
            </a:r>
            <a:endParaRPr lang="es-MX" sz="1600" dirty="0">
              <a:latin typeface="Verdana" panose="020B0604030504040204" pitchFamily="34" charset="0"/>
              <a:ea typeface="Verdana" panose="020B0604030504040204" pitchFamily="34" charset="0"/>
            </a:endParaRPr>
          </a:p>
        </p:txBody>
      </p:sp>
      <p:sp>
        <p:nvSpPr>
          <p:cNvPr id="18" name="Diagrama de flujo: conector 17">
            <a:extLst>
              <a:ext uri="{FF2B5EF4-FFF2-40B4-BE49-F238E27FC236}">
                <a16:creationId xmlns:a16="http://schemas.microsoft.com/office/drawing/2014/main" id="{70ADB41A-CD7C-8402-E948-D5727B316472}"/>
              </a:ext>
            </a:extLst>
          </p:cNvPr>
          <p:cNvSpPr/>
          <p:nvPr/>
        </p:nvSpPr>
        <p:spPr>
          <a:xfrm>
            <a:off x="222008" y="2452750"/>
            <a:ext cx="691836" cy="641856"/>
          </a:xfrm>
          <a:prstGeom prst="flowChartConnector">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7</a:t>
            </a:r>
            <a:endParaRPr lang="es-MX" sz="1600" dirty="0">
              <a:latin typeface="Verdana" panose="020B0604030504040204" pitchFamily="34" charset="0"/>
              <a:ea typeface="Verdana" panose="020B0604030504040204" pitchFamily="34" charset="0"/>
            </a:endParaRPr>
          </a:p>
        </p:txBody>
      </p:sp>
      <p:sp>
        <p:nvSpPr>
          <p:cNvPr id="19" name="Diagrama de flujo: conector 18">
            <a:extLst>
              <a:ext uri="{FF2B5EF4-FFF2-40B4-BE49-F238E27FC236}">
                <a16:creationId xmlns:a16="http://schemas.microsoft.com/office/drawing/2014/main" id="{F09CCFC6-71CA-3F9D-4DAE-8DE9B9DF8CC9}"/>
              </a:ext>
            </a:extLst>
          </p:cNvPr>
          <p:cNvSpPr/>
          <p:nvPr/>
        </p:nvSpPr>
        <p:spPr>
          <a:xfrm>
            <a:off x="222007" y="3580418"/>
            <a:ext cx="691836" cy="641856"/>
          </a:xfrm>
          <a:prstGeom prst="flowChartConnector">
            <a:avLst/>
          </a:prstGeom>
          <a:solidFill>
            <a:srgbClr val="FF3300"/>
          </a:solidFill>
          <a:ln>
            <a:solidFill>
              <a:srgbClr val="FF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8</a:t>
            </a:r>
            <a:endParaRPr lang="es-MX" sz="1600" dirty="0">
              <a:latin typeface="Verdana" panose="020B0604030504040204" pitchFamily="34" charset="0"/>
              <a:ea typeface="Verdana" panose="020B0604030504040204" pitchFamily="34" charset="0"/>
            </a:endParaRPr>
          </a:p>
        </p:txBody>
      </p:sp>
      <p:sp>
        <p:nvSpPr>
          <p:cNvPr id="20" name="Diagrama de flujo: conector 19">
            <a:extLst>
              <a:ext uri="{FF2B5EF4-FFF2-40B4-BE49-F238E27FC236}">
                <a16:creationId xmlns:a16="http://schemas.microsoft.com/office/drawing/2014/main" id="{1407B24B-D20E-68FD-2E7D-BD0706F364E3}"/>
              </a:ext>
            </a:extLst>
          </p:cNvPr>
          <p:cNvSpPr/>
          <p:nvPr/>
        </p:nvSpPr>
        <p:spPr>
          <a:xfrm>
            <a:off x="222007" y="4708086"/>
            <a:ext cx="691836" cy="641856"/>
          </a:xfrm>
          <a:prstGeom prst="flowChartConnector">
            <a:avLst/>
          </a:prstGeom>
          <a:solidFill>
            <a:srgbClr val="FF3300"/>
          </a:solidFill>
          <a:ln>
            <a:solidFill>
              <a:srgbClr val="FF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9</a:t>
            </a:r>
            <a:endParaRPr lang="es-MX" sz="1600" dirty="0">
              <a:latin typeface="Verdana" panose="020B0604030504040204" pitchFamily="34" charset="0"/>
              <a:ea typeface="Verdana" panose="020B0604030504040204" pitchFamily="34" charset="0"/>
            </a:endParaRPr>
          </a:p>
        </p:txBody>
      </p:sp>
      <p:sp>
        <p:nvSpPr>
          <p:cNvPr id="21" name="Diagrama de flujo: conector 20">
            <a:extLst>
              <a:ext uri="{FF2B5EF4-FFF2-40B4-BE49-F238E27FC236}">
                <a16:creationId xmlns:a16="http://schemas.microsoft.com/office/drawing/2014/main" id="{853177EF-BC56-86C2-28F6-7B8866CF12B7}"/>
              </a:ext>
            </a:extLst>
          </p:cNvPr>
          <p:cNvSpPr/>
          <p:nvPr/>
        </p:nvSpPr>
        <p:spPr>
          <a:xfrm>
            <a:off x="222007" y="5848360"/>
            <a:ext cx="691836" cy="641856"/>
          </a:xfrm>
          <a:prstGeom prst="flowChartConnector">
            <a:avLst/>
          </a:prstGeom>
          <a:solidFill>
            <a:srgbClr val="FF3300"/>
          </a:solidFill>
          <a:ln>
            <a:solidFill>
              <a:srgbClr val="FF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10</a:t>
            </a:r>
            <a:endParaRPr lang="es-MX" sz="1600" dirty="0">
              <a:latin typeface="Verdana" panose="020B0604030504040204" pitchFamily="34" charset="0"/>
              <a:ea typeface="Verdana" panose="020B0604030504040204" pitchFamily="34" charset="0"/>
            </a:endParaRPr>
          </a:p>
        </p:txBody>
      </p:sp>
      <p:sp>
        <p:nvSpPr>
          <p:cNvPr id="5" name="CuadroTexto 4">
            <a:extLst>
              <a:ext uri="{FF2B5EF4-FFF2-40B4-BE49-F238E27FC236}">
                <a16:creationId xmlns:a16="http://schemas.microsoft.com/office/drawing/2014/main" id="{EB8CB3B8-FC12-A631-182D-6B547928608D}"/>
              </a:ext>
            </a:extLst>
          </p:cNvPr>
          <p:cNvSpPr txBox="1"/>
          <p:nvPr/>
        </p:nvSpPr>
        <p:spPr>
          <a:xfrm>
            <a:off x="1213072" y="1321849"/>
            <a:ext cx="10329571" cy="830997"/>
          </a:xfrm>
          <a:prstGeom prst="rect">
            <a:avLst/>
          </a:prstGeom>
          <a:noFill/>
        </p:spPr>
        <p:txBody>
          <a:bodyPr wrap="square" rtlCol="0">
            <a:spAutoFit/>
          </a:bodyPr>
          <a:lstStyle/>
          <a:p>
            <a:pPr algn="just"/>
            <a:r>
              <a:rPr lang="es-ES" sz="1600" dirty="0">
                <a:effectLst/>
                <a:latin typeface="Verdana" panose="020B0604030504040204" pitchFamily="34" charset="0"/>
                <a:ea typeface="Verdana" panose="020B0604030504040204" pitchFamily="34" charset="0"/>
                <a:cs typeface="Times New Roman" panose="02020603050405020304" pitchFamily="18" charset="0"/>
              </a:rPr>
              <a:t>Promover la implementación de esquemas que erradiquen áreas de riesgo que propician la corrupción en las interacciones que establecen ciudadanos y empresas con el gobierno al realizar trámites, y acceder a programas y servicios públicos.</a:t>
            </a:r>
            <a:endParaRPr lang="es-MX" sz="16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A04184B6-2005-A837-10C6-80E44851A1EE}"/>
              </a:ext>
            </a:extLst>
          </p:cNvPr>
          <p:cNvSpPr txBox="1"/>
          <p:nvPr/>
        </p:nvSpPr>
        <p:spPr>
          <a:xfrm>
            <a:off x="1213072" y="2444746"/>
            <a:ext cx="10329571" cy="830997"/>
          </a:xfrm>
          <a:prstGeom prst="rect">
            <a:avLst/>
          </a:prstGeom>
          <a:noFill/>
        </p:spPr>
        <p:txBody>
          <a:bodyPr wrap="square" rtlCol="0">
            <a:spAutoFit/>
          </a:bodyPr>
          <a:lstStyle/>
          <a:p>
            <a:pPr algn="just"/>
            <a:r>
              <a:rPr lang="es-ES" sz="1600" dirty="0">
                <a:effectLst/>
                <a:latin typeface="Verdana" panose="020B0604030504040204" pitchFamily="34" charset="0"/>
                <a:ea typeface="Verdana" panose="020B0604030504040204" pitchFamily="34" charset="0"/>
                <a:cs typeface="Times New Roman" panose="02020603050405020304" pitchFamily="18" charset="0"/>
              </a:rPr>
              <a:t>Impulsar la adopción y homologación de reglas en materia de contrataciones públicas, asociaciones público-privadas y cabildeo, que garanticen interacciones íntegras e imparciales entre gobierno y sector privado.</a:t>
            </a:r>
            <a:endParaRPr lang="es-MX" sz="16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AED8B9CE-2062-E430-4493-2439B6A738D5}"/>
              </a:ext>
            </a:extLst>
          </p:cNvPr>
          <p:cNvSpPr txBox="1"/>
          <p:nvPr/>
        </p:nvSpPr>
        <p:spPr>
          <a:xfrm>
            <a:off x="1213072" y="3580418"/>
            <a:ext cx="10329571" cy="830997"/>
          </a:xfrm>
          <a:prstGeom prst="rect">
            <a:avLst/>
          </a:prstGeom>
          <a:noFill/>
        </p:spPr>
        <p:txBody>
          <a:bodyPr wrap="square" rtlCol="0">
            <a:spAutoFit/>
          </a:bodyPr>
          <a:lstStyle/>
          <a:p>
            <a:pPr algn="just"/>
            <a:r>
              <a:rPr lang="es-ES" sz="1600" dirty="0">
                <a:effectLst/>
                <a:latin typeface="Verdana" panose="020B0604030504040204" pitchFamily="34" charset="0"/>
                <a:ea typeface="Verdana" panose="020B0604030504040204" pitchFamily="34" charset="0"/>
                <a:cs typeface="Times New Roman" panose="02020603050405020304" pitchFamily="18" charset="0"/>
              </a:rPr>
              <a:t>Impulsar el desarrollo de mecanismos efectivos de participación que favorezcan el involucramiento social en el control de la corrupción, así como en la vigilancia y rendición de cuentas de las decisiones de gobierno.</a:t>
            </a:r>
            <a:endParaRPr lang="es-MX" sz="16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10" name="CuadroTexto 9">
            <a:extLst>
              <a:ext uri="{FF2B5EF4-FFF2-40B4-BE49-F238E27FC236}">
                <a16:creationId xmlns:a16="http://schemas.microsoft.com/office/drawing/2014/main" id="{80D60E27-7A57-B4D2-1EFB-00E44596C83D}"/>
              </a:ext>
            </a:extLst>
          </p:cNvPr>
          <p:cNvSpPr txBox="1"/>
          <p:nvPr/>
        </p:nvSpPr>
        <p:spPr>
          <a:xfrm>
            <a:off x="1213072" y="4765167"/>
            <a:ext cx="10490939" cy="584775"/>
          </a:xfrm>
          <a:prstGeom prst="rect">
            <a:avLst/>
          </a:prstGeom>
          <a:noFill/>
        </p:spPr>
        <p:txBody>
          <a:bodyPr wrap="square" rtlCol="0">
            <a:spAutoFit/>
          </a:bodyPr>
          <a:lstStyle/>
          <a:p>
            <a:pPr algn="just"/>
            <a:r>
              <a:rPr lang="es-ES" sz="1600" dirty="0">
                <a:effectLst/>
                <a:latin typeface="Verdana" panose="020B0604030504040204" pitchFamily="34" charset="0"/>
                <a:ea typeface="Verdana" panose="020B0604030504040204" pitchFamily="34" charset="0"/>
                <a:cs typeface="Times New Roman" panose="02020603050405020304" pitchFamily="18" charset="0"/>
              </a:rPr>
              <a:t>Promover la adopción y aplicación de principios, políticas y programas de integridad y anticorrupción en el sector privado.</a:t>
            </a:r>
            <a:endParaRPr lang="es-MX" sz="16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11" name="CuadroTexto 10">
            <a:extLst>
              <a:ext uri="{FF2B5EF4-FFF2-40B4-BE49-F238E27FC236}">
                <a16:creationId xmlns:a16="http://schemas.microsoft.com/office/drawing/2014/main" id="{3D280E87-B125-774C-F374-EC06FF70957E}"/>
              </a:ext>
            </a:extLst>
          </p:cNvPr>
          <p:cNvSpPr txBox="1"/>
          <p:nvPr/>
        </p:nvSpPr>
        <p:spPr>
          <a:xfrm>
            <a:off x="1213072" y="5905441"/>
            <a:ext cx="10329571" cy="584775"/>
          </a:xfrm>
          <a:prstGeom prst="rect">
            <a:avLst/>
          </a:prstGeom>
          <a:noFill/>
        </p:spPr>
        <p:txBody>
          <a:bodyPr wrap="square" rtlCol="0">
            <a:spAutoFit/>
          </a:bodyPr>
          <a:lstStyle/>
          <a:p>
            <a:pPr algn="just"/>
            <a:r>
              <a:rPr lang="es-ES" sz="1600" dirty="0">
                <a:effectLst/>
                <a:latin typeface="Verdana" panose="020B0604030504040204" pitchFamily="34" charset="0"/>
                <a:ea typeface="Verdana" panose="020B0604030504040204" pitchFamily="34" charset="0"/>
                <a:cs typeface="Times New Roman" panose="02020603050405020304" pitchFamily="18" charset="0"/>
              </a:rPr>
              <a:t>Fomentar la socialización y adopción de valores prácticos relevantes en la sociedad para el control de la corrupción.</a:t>
            </a:r>
            <a:endParaRPr lang="es-MX" sz="1600" dirty="0">
              <a:effectLst/>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174590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1000"/>
                                        <p:tgtEl>
                                          <p:spTgt spid="10"/>
                                        </p:tgtEl>
                                      </p:cBhvr>
                                    </p:animEffect>
                                    <p:anim calcmode="lin" valueType="num">
                                      <p:cBhvr>
                                        <p:cTn id="49" dur="1000" fill="hold"/>
                                        <p:tgtEl>
                                          <p:spTgt spid="10"/>
                                        </p:tgtEl>
                                        <p:attrNameLst>
                                          <p:attrName>ppt_x</p:attrName>
                                        </p:attrNameLst>
                                      </p:cBhvr>
                                      <p:tavLst>
                                        <p:tav tm="0">
                                          <p:val>
                                            <p:strVal val="#ppt_x"/>
                                          </p:val>
                                        </p:tav>
                                        <p:tav tm="100000">
                                          <p:val>
                                            <p:strVal val="#ppt_x"/>
                                          </p:val>
                                        </p:tav>
                                      </p:tavLst>
                                    </p:anim>
                                    <p:anim calcmode="lin" valueType="num">
                                      <p:cBhvr>
                                        <p:cTn id="5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1000"/>
                                        <p:tgtEl>
                                          <p:spTgt spid="21"/>
                                        </p:tgtEl>
                                      </p:cBhvr>
                                    </p:animEffect>
                                    <p:anim calcmode="lin" valueType="num">
                                      <p:cBhvr>
                                        <p:cTn id="56" dur="1000" fill="hold"/>
                                        <p:tgtEl>
                                          <p:spTgt spid="21"/>
                                        </p:tgtEl>
                                        <p:attrNameLst>
                                          <p:attrName>ppt_x</p:attrName>
                                        </p:attrNameLst>
                                      </p:cBhvr>
                                      <p:tavLst>
                                        <p:tav tm="0">
                                          <p:val>
                                            <p:strVal val="#ppt_x"/>
                                          </p:val>
                                        </p:tav>
                                        <p:tav tm="100000">
                                          <p:val>
                                            <p:strVal val="#ppt_x"/>
                                          </p:val>
                                        </p:tav>
                                      </p:tavLst>
                                    </p:anim>
                                    <p:anim calcmode="lin" valueType="num">
                                      <p:cBhvr>
                                        <p:cTn id="57" dur="1000" fill="hold"/>
                                        <p:tgtEl>
                                          <p:spTgt spid="21"/>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1000"/>
                                        <p:tgtEl>
                                          <p:spTgt spid="11"/>
                                        </p:tgtEl>
                                      </p:cBhvr>
                                    </p:animEffect>
                                    <p:anim calcmode="lin" valueType="num">
                                      <p:cBhvr>
                                        <p:cTn id="61" dur="1000" fill="hold"/>
                                        <p:tgtEl>
                                          <p:spTgt spid="11"/>
                                        </p:tgtEl>
                                        <p:attrNameLst>
                                          <p:attrName>ppt_x</p:attrName>
                                        </p:attrNameLst>
                                      </p:cBhvr>
                                      <p:tavLst>
                                        <p:tav tm="0">
                                          <p:val>
                                            <p:strVal val="#ppt_x"/>
                                          </p:val>
                                        </p:tav>
                                        <p:tav tm="100000">
                                          <p:val>
                                            <p:strVal val="#ppt_x"/>
                                          </p:val>
                                        </p:tav>
                                      </p:tavLst>
                                    </p:anim>
                                    <p:anim calcmode="lin" valueType="num">
                                      <p:cBhvr>
                                        <p:cTn id="6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P spid="20" grpId="0" animBg="1"/>
      <p:bldP spid="21" grpId="0" animBg="1"/>
      <p:bldP spid="5" grpId="0"/>
      <p:bldP spid="8" grpId="0"/>
      <p:bldP spid="9" grpId="0"/>
      <p:bldP spid="10"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17EA2C62-76CA-0A2A-DF58-591E974B5542}"/>
              </a:ext>
            </a:extLst>
          </p:cNvPr>
          <p:cNvSpPr/>
          <p:nvPr/>
        </p:nvSpPr>
        <p:spPr>
          <a:xfrm>
            <a:off x="490546" y="3560283"/>
            <a:ext cx="1690895" cy="1134714"/>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Eje </a:t>
            </a:r>
          </a:p>
          <a:p>
            <a:pPr algn="ctr"/>
            <a:r>
              <a:rPr lang="es-ES" sz="1600" dirty="0">
                <a:latin typeface="Verdana" panose="020B0604030504040204" pitchFamily="34" charset="0"/>
                <a:ea typeface="Verdana" panose="020B0604030504040204" pitchFamily="34" charset="0"/>
              </a:rPr>
              <a:t>estratégico</a:t>
            </a:r>
            <a:endParaRPr lang="es-MX" sz="1600" dirty="0">
              <a:latin typeface="Verdana" panose="020B0604030504040204" pitchFamily="34" charset="0"/>
              <a:ea typeface="Verdana" panose="020B0604030504040204" pitchFamily="34" charset="0"/>
            </a:endParaRPr>
          </a:p>
        </p:txBody>
      </p:sp>
      <p:sp>
        <p:nvSpPr>
          <p:cNvPr id="6" name="Rectángulo: esquinas redondeadas 5">
            <a:extLst>
              <a:ext uri="{FF2B5EF4-FFF2-40B4-BE49-F238E27FC236}">
                <a16:creationId xmlns:a16="http://schemas.microsoft.com/office/drawing/2014/main" id="{0E445D11-EE99-2DB4-5708-676C308AA2FA}"/>
              </a:ext>
            </a:extLst>
          </p:cNvPr>
          <p:cNvSpPr/>
          <p:nvPr/>
        </p:nvSpPr>
        <p:spPr>
          <a:xfrm>
            <a:off x="2800803" y="3564009"/>
            <a:ext cx="1690895" cy="113471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Objetivo </a:t>
            </a:r>
          </a:p>
          <a:p>
            <a:pPr algn="ctr"/>
            <a:r>
              <a:rPr lang="es-ES" sz="1600" dirty="0">
                <a:latin typeface="Verdana" panose="020B0604030504040204" pitchFamily="34" charset="0"/>
                <a:ea typeface="Verdana" panose="020B0604030504040204" pitchFamily="34" charset="0"/>
              </a:rPr>
              <a:t>especifico</a:t>
            </a:r>
            <a:endParaRPr lang="es-MX" sz="1600" dirty="0">
              <a:latin typeface="Verdana" panose="020B0604030504040204" pitchFamily="34" charset="0"/>
              <a:ea typeface="Verdana" panose="020B0604030504040204" pitchFamily="34" charset="0"/>
            </a:endParaRPr>
          </a:p>
        </p:txBody>
      </p:sp>
      <p:sp>
        <p:nvSpPr>
          <p:cNvPr id="7" name="Rectángulo: esquinas redondeadas 6">
            <a:extLst>
              <a:ext uri="{FF2B5EF4-FFF2-40B4-BE49-F238E27FC236}">
                <a16:creationId xmlns:a16="http://schemas.microsoft.com/office/drawing/2014/main" id="{E822DD7A-D980-5DAD-F74B-9272E3F738FF}"/>
              </a:ext>
            </a:extLst>
          </p:cNvPr>
          <p:cNvSpPr/>
          <p:nvPr/>
        </p:nvSpPr>
        <p:spPr>
          <a:xfrm>
            <a:off x="5223797" y="2707074"/>
            <a:ext cx="1699149" cy="1134714"/>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Prioridad de Política</a:t>
            </a:r>
            <a:endParaRPr lang="es-MX" sz="1600" dirty="0">
              <a:latin typeface="Verdana" panose="020B0604030504040204" pitchFamily="34" charset="0"/>
              <a:ea typeface="Verdana" panose="020B0604030504040204" pitchFamily="34" charset="0"/>
            </a:endParaRPr>
          </a:p>
        </p:txBody>
      </p:sp>
      <p:sp>
        <p:nvSpPr>
          <p:cNvPr id="10" name="Rectángulo: esquinas redondeadas 9">
            <a:extLst>
              <a:ext uri="{FF2B5EF4-FFF2-40B4-BE49-F238E27FC236}">
                <a16:creationId xmlns:a16="http://schemas.microsoft.com/office/drawing/2014/main" id="{CB980009-5FE0-B781-D4DA-6A90F87CFC01}"/>
              </a:ext>
            </a:extLst>
          </p:cNvPr>
          <p:cNvSpPr/>
          <p:nvPr/>
        </p:nvSpPr>
        <p:spPr>
          <a:xfrm>
            <a:off x="7744277" y="3572192"/>
            <a:ext cx="1690229" cy="1134714"/>
          </a:xfrm>
          <a:prstGeom prst="roundRect">
            <a:avLst/>
          </a:prstGeom>
          <a:solidFill>
            <a:srgbClr val="FF0066"/>
          </a:solidFill>
          <a:ln>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Estrategia 2</a:t>
            </a:r>
            <a:endParaRPr lang="es-MX" sz="1600" dirty="0">
              <a:latin typeface="Verdana" panose="020B0604030504040204" pitchFamily="34" charset="0"/>
              <a:ea typeface="Verdana" panose="020B0604030504040204" pitchFamily="34" charset="0"/>
            </a:endParaRPr>
          </a:p>
        </p:txBody>
      </p:sp>
      <p:sp>
        <p:nvSpPr>
          <p:cNvPr id="12" name="Rectángulo: esquinas redondeadas 11">
            <a:extLst>
              <a:ext uri="{FF2B5EF4-FFF2-40B4-BE49-F238E27FC236}">
                <a16:creationId xmlns:a16="http://schemas.microsoft.com/office/drawing/2014/main" id="{6AF91131-4D9A-EBD3-47DC-559E3A52ECE1}"/>
              </a:ext>
            </a:extLst>
          </p:cNvPr>
          <p:cNvSpPr/>
          <p:nvPr/>
        </p:nvSpPr>
        <p:spPr>
          <a:xfrm>
            <a:off x="10131787" y="2707074"/>
            <a:ext cx="1699149" cy="1134714"/>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Línea de acción</a:t>
            </a:r>
            <a:endParaRPr lang="es-MX" sz="1600" dirty="0">
              <a:latin typeface="Verdana" panose="020B0604030504040204" pitchFamily="34" charset="0"/>
              <a:ea typeface="Verdana" panose="020B0604030504040204" pitchFamily="34" charset="0"/>
            </a:endParaRPr>
          </a:p>
        </p:txBody>
      </p:sp>
      <p:cxnSp>
        <p:nvCxnSpPr>
          <p:cNvPr id="14" name="Conector recto de flecha 13">
            <a:extLst>
              <a:ext uri="{FF2B5EF4-FFF2-40B4-BE49-F238E27FC236}">
                <a16:creationId xmlns:a16="http://schemas.microsoft.com/office/drawing/2014/main" id="{A7FB12FB-2985-CD2D-FE80-B373D6004AF9}"/>
              </a:ext>
            </a:extLst>
          </p:cNvPr>
          <p:cNvCxnSpPr>
            <a:cxnSpLocks/>
            <a:stCxn id="5" idx="3"/>
            <a:endCxn id="6" idx="1"/>
          </p:cNvCxnSpPr>
          <p:nvPr/>
        </p:nvCxnSpPr>
        <p:spPr>
          <a:xfrm>
            <a:off x="2181441" y="4127640"/>
            <a:ext cx="619362" cy="37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91DE2A14-7B5B-8215-C419-909F3D6FBD3D}"/>
              </a:ext>
            </a:extLst>
          </p:cNvPr>
          <p:cNvCxnSpPr>
            <a:cxnSpLocks/>
            <a:stCxn id="6" idx="3"/>
            <a:endCxn id="7" idx="1"/>
          </p:cNvCxnSpPr>
          <p:nvPr/>
        </p:nvCxnSpPr>
        <p:spPr>
          <a:xfrm flipV="1">
            <a:off x="4491698" y="3274431"/>
            <a:ext cx="732099" cy="8569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76E11B7F-228B-B15A-1834-E2239CE99703}"/>
              </a:ext>
            </a:extLst>
          </p:cNvPr>
          <p:cNvCxnSpPr>
            <a:cxnSpLocks/>
            <a:stCxn id="6" idx="3"/>
            <a:endCxn id="97" idx="1"/>
          </p:cNvCxnSpPr>
          <p:nvPr/>
        </p:nvCxnSpPr>
        <p:spPr>
          <a:xfrm>
            <a:off x="4491698" y="4131366"/>
            <a:ext cx="732099" cy="8683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0FF0779E-F6A5-C975-3FE9-3CF6A743FA66}"/>
              </a:ext>
            </a:extLst>
          </p:cNvPr>
          <p:cNvCxnSpPr>
            <a:cxnSpLocks/>
            <a:stCxn id="7" idx="3"/>
            <a:endCxn id="101" idx="1"/>
          </p:cNvCxnSpPr>
          <p:nvPr/>
        </p:nvCxnSpPr>
        <p:spPr>
          <a:xfrm flipV="1">
            <a:off x="6922946" y="2402741"/>
            <a:ext cx="812411" cy="8716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18C154D7-95F8-F016-258A-BF98BB66FB79}"/>
              </a:ext>
            </a:extLst>
          </p:cNvPr>
          <p:cNvCxnSpPr>
            <a:cxnSpLocks/>
            <a:stCxn id="7" idx="3"/>
            <a:endCxn id="10" idx="1"/>
          </p:cNvCxnSpPr>
          <p:nvPr/>
        </p:nvCxnSpPr>
        <p:spPr>
          <a:xfrm>
            <a:off x="6922946" y="3274431"/>
            <a:ext cx="821331" cy="8651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D58F9644-5FAF-E4E8-1B89-A1F693DFABC1}"/>
              </a:ext>
            </a:extLst>
          </p:cNvPr>
          <p:cNvCxnSpPr>
            <a:cxnSpLocks/>
            <a:endCxn id="104" idx="1"/>
          </p:cNvCxnSpPr>
          <p:nvPr/>
        </p:nvCxnSpPr>
        <p:spPr>
          <a:xfrm flipV="1">
            <a:off x="9425586" y="1445354"/>
            <a:ext cx="706201" cy="9573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27BCEAE5-4681-300B-4A71-F9CA49834D66}"/>
              </a:ext>
            </a:extLst>
          </p:cNvPr>
          <p:cNvCxnSpPr>
            <a:cxnSpLocks/>
            <a:stCxn id="101" idx="3"/>
            <a:endCxn id="12" idx="1"/>
          </p:cNvCxnSpPr>
          <p:nvPr/>
        </p:nvCxnSpPr>
        <p:spPr>
          <a:xfrm>
            <a:off x="9425586" y="2402741"/>
            <a:ext cx="706201" cy="8716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Diagrama de flujo: conector 69">
            <a:extLst>
              <a:ext uri="{FF2B5EF4-FFF2-40B4-BE49-F238E27FC236}">
                <a16:creationId xmlns:a16="http://schemas.microsoft.com/office/drawing/2014/main" id="{64B492FC-5C70-F348-B4F0-A70A3CB8D29F}"/>
              </a:ext>
            </a:extLst>
          </p:cNvPr>
          <p:cNvSpPr/>
          <p:nvPr/>
        </p:nvSpPr>
        <p:spPr>
          <a:xfrm>
            <a:off x="967922" y="4999692"/>
            <a:ext cx="684000" cy="684000"/>
          </a:xfrm>
          <a:prstGeom prst="flowChartConnec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4</a:t>
            </a:r>
            <a:endParaRPr lang="es-MX" sz="1600" dirty="0">
              <a:latin typeface="Verdana" panose="020B0604030504040204" pitchFamily="34" charset="0"/>
              <a:ea typeface="Verdana" panose="020B0604030504040204" pitchFamily="34" charset="0"/>
            </a:endParaRPr>
          </a:p>
        </p:txBody>
      </p:sp>
      <p:sp>
        <p:nvSpPr>
          <p:cNvPr id="97" name="Rectángulo: esquinas redondeadas 96">
            <a:extLst>
              <a:ext uri="{FF2B5EF4-FFF2-40B4-BE49-F238E27FC236}">
                <a16:creationId xmlns:a16="http://schemas.microsoft.com/office/drawing/2014/main" id="{5CD70A0F-8958-C943-9F19-4F5B88E57E7D}"/>
              </a:ext>
            </a:extLst>
          </p:cNvPr>
          <p:cNvSpPr/>
          <p:nvPr/>
        </p:nvSpPr>
        <p:spPr>
          <a:xfrm>
            <a:off x="5223797" y="4432335"/>
            <a:ext cx="1699149" cy="1134714"/>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Prioridad de Política</a:t>
            </a:r>
            <a:endParaRPr lang="es-MX" sz="1600" dirty="0">
              <a:latin typeface="Verdana" panose="020B0604030504040204" pitchFamily="34" charset="0"/>
              <a:ea typeface="Verdana" panose="020B0604030504040204" pitchFamily="34" charset="0"/>
            </a:endParaRPr>
          </a:p>
        </p:txBody>
      </p:sp>
      <p:sp>
        <p:nvSpPr>
          <p:cNvPr id="101" name="Rectángulo: esquinas redondeadas 100">
            <a:extLst>
              <a:ext uri="{FF2B5EF4-FFF2-40B4-BE49-F238E27FC236}">
                <a16:creationId xmlns:a16="http://schemas.microsoft.com/office/drawing/2014/main" id="{FA2B2665-3CA7-F0D3-7616-B1F44034C6C5}"/>
              </a:ext>
            </a:extLst>
          </p:cNvPr>
          <p:cNvSpPr/>
          <p:nvPr/>
        </p:nvSpPr>
        <p:spPr>
          <a:xfrm>
            <a:off x="7735357" y="1835384"/>
            <a:ext cx="1690229" cy="1134714"/>
          </a:xfrm>
          <a:prstGeom prst="roundRect">
            <a:avLst/>
          </a:prstGeom>
          <a:solidFill>
            <a:srgbClr val="FF0066"/>
          </a:solidFill>
          <a:ln>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Estrategia 1</a:t>
            </a:r>
            <a:endParaRPr lang="es-MX" sz="1600" dirty="0">
              <a:latin typeface="Verdana" panose="020B0604030504040204" pitchFamily="34" charset="0"/>
              <a:ea typeface="Verdana" panose="020B0604030504040204" pitchFamily="34" charset="0"/>
            </a:endParaRPr>
          </a:p>
        </p:txBody>
      </p:sp>
      <p:sp>
        <p:nvSpPr>
          <p:cNvPr id="104" name="Rectángulo: esquinas redondeadas 103">
            <a:extLst>
              <a:ext uri="{FF2B5EF4-FFF2-40B4-BE49-F238E27FC236}">
                <a16:creationId xmlns:a16="http://schemas.microsoft.com/office/drawing/2014/main" id="{92274302-79F8-F730-B1B6-7476D3F8D2D0}"/>
              </a:ext>
            </a:extLst>
          </p:cNvPr>
          <p:cNvSpPr/>
          <p:nvPr/>
        </p:nvSpPr>
        <p:spPr>
          <a:xfrm>
            <a:off x="10131787" y="877997"/>
            <a:ext cx="1699149" cy="1134714"/>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Línea de acción</a:t>
            </a:r>
            <a:endParaRPr lang="es-MX" sz="1600" dirty="0">
              <a:latin typeface="Verdana" panose="020B0604030504040204" pitchFamily="34" charset="0"/>
              <a:ea typeface="Verdana" panose="020B0604030504040204" pitchFamily="34" charset="0"/>
            </a:endParaRPr>
          </a:p>
        </p:txBody>
      </p:sp>
      <p:sp>
        <p:nvSpPr>
          <p:cNvPr id="133" name="Diagrama de flujo: conector 132">
            <a:extLst>
              <a:ext uri="{FF2B5EF4-FFF2-40B4-BE49-F238E27FC236}">
                <a16:creationId xmlns:a16="http://schemas.microsoft.com/office/drawing/2014/main" id="{A5FDF6D4-E71E-0E29-8A3C-4382F984BA2F}"/>
              </a:ext>
            </a:extLst>
          </p:cNvPr>
          <p:cNvSpPr/>
          <p:nvPr/>
        </p:nvSpPr>
        <p:spPr>
          <a:xfrm>
            <a:off x="3215353" y="5064887"/>
            <a:ext cx="684000" cy="684000"/>
          </a:xfrm>
          <a:prstGeom prst="flowChartConnector">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10</a:t>
            </a:r>
            <a:endParaRPr lang="es-MX" sz="1600" dirty="0">
              <a:latin typeface="Verdana" panose="020B0604030504040204" pitchFamily="34" charset="0"/>
              <a:ea typeface="Verdana" panose="020B0604030504040204" pitchFamily="34" charset="0"/>
            </a:endParaRPr>
          </a:p>
        </p:txBody>
      </p:sp>
      <p:sp>
        <p:nvSpPr>
          <p:cNvPr id="134" name="Diagrama de flujo: conector 133">
            <a:extLst>
              <a:ext uri="{FF2B5EF4-FFF2-40B4-BE49-F238E27FC236}">
                <a16:creationId xmlns:a16="http://schemas.microsoft.com/office/drawing/2014/main" id="{0F306768-B79E-F916-5073-0004F2013FE6}"/>
              </a:ext>
            </a:extLst>
          </p:cNvPr>
          <p:cNvSpPr/>
          <p:nvPr/>
        </p:nvSpPr>
        <p:spPr>
          <a:xfrm>
            <a:off x="5731371" y="5815596"/>
            <a:ext cx="684000" cy="684000"/>
          </a:xfrm>
          <a:prstGeom prst="flowChartConnector">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latin typeface="Verdana" panose="020B0604030504040204" pitchFamily="34" charset="0"/>
                <a:ea typeface="Verdana" panose="020B0604030504040204" pitchFamily="34" charset="0"/>
              </a:rPr>
              <a:t>67</a:t>
            </a:r>
            <a:endParaRPr lang="es-MX" sz="1600" dirty="0">
              <a:latin typeface="Verdana" panose="020B0604030504040204" pitchFamily="34" charset="0"/>
              <a:ea typeface="Verdana" panose="020B0604030504040204" pitchFamily="34" charset="0"/>
            </a:endParaRPr>
          </a:p>
        </p:txBody>
      </p:sp>
      <p:sp>
        <p:nvSpPr>
          <p:cNvPr id="142" name="Rectángulo: esquinas redondeadas 141">
            <a:extLst>
              <a:ext uri="{FF2B5EF4-FFF2-40B4-BE49-F238E27FC236}">
                <a16:creationId xmlns:a16="http://schemas.microsoft.com/office/drawing/2014/main" id="{81084461-34F2-7257-DBFE-F0A921C20436}"/>
              </a:ext>
            </a:extLst>
          </p:cNvPr>
          <p:cNvSpPr/>
          <p:nvPr/>
        </p:nvSpPr>
        <p:spPr>
          <a:xfrm>
            <a:off x="7674889" y="5341558"/>
            <a:ext cx="1829003" cy="113471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solidFill>
                  <a:schemeClr val="tx1"/>
                </a:solidFill>
                <a:latin typeface="Verdana" panose="020B0604030504040204" pitchFamily="34" charset="0"/>
                <a:ea typeface="Verdana" panose="020B0604030504040204" pitchFamily="34" charset="0"/>
              </a:rPr>
              <a:t>Indicadores Estratégicos</a:t>
            </a:r>
            <a:endParaRPr lang="es-MX" sz="1600" dirty="0">
              <a:solidFill>
                <a:schemeClr val="tx1"/>
              </a:solidFill>
              <a:latin typeface="Verdana" panose="020B0604030504040204" pitchFamily="34" charset="0"/>
              <a:ea typeface="Verdana" panose="020B0604030504040204" pitchFamily="34" charset="0"/>
            </a:endParaRPr>
          </a:p>
        </p:txBody>
      </p:sp>
      <p:sp>
        <p:nvSpPr>
          <p:cNvPr id="144" name="Rectángulo: esquinas redondeadas 143">
            <a:extLst>
              <a:ext uri="{FF2B5EF4-FFF2-40B4-BE49-F238E27FC236}">
                <a16:creationId xmlns:a16="http://schemas.microsoft.com/office/drawing/2014/main" id="{40B9AFA8-99DF-82F4-B0F8-7DD039BB95A5}"/>
              </a:ext>
            </a:extLst>
          </p:cNvPr>
          <p:cNvSpPr/>
          <p:nvPr/>
        </p:nvSpPr>
        <p:spPr>
          <a:xfrm>
            <a:off x="10066859" y="4497530"/>
            <a:ext cx="1829003" cy="113471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solidFill>
                  <a:schemeClr val="tx1"/>
                </a:solidFill>
                <a:latin typeface="Verdana" panose="020B0604030504040204" pitchFamily="34" charset="0"/>
                <a:ea typeface="Verdana" panose="020B0604030504040204" pitchFamily="34" charset="0"/>
              </a:rPr>
              <a:t>Indicadores </a:t>
            </a:r>
          </a:p>
          <a:p>
            <a:pPr algn="ctr"/>
            <a:r>
              <a:rPr lang="es-ES" sz="1600" dirty="0">
                <a:solidFill>
                  <a:schemeClr val="tx1"/>
                </a:solidFill>
                <a:latin typeface="Verdana" panose="020B0604030504040204" pitchFamily="34" charset="0"/>
                <a:ea typeface="Verdana" panose="020B0604030504040204" pitchFamily="34" charset="0"/>
              </a:rPr>
              <a:t>Gestión</a:t>
            </a:r>
            <a:endParaRPr lang="es-MX" sz="1600" dirty="0">
              <a:solidFill>
                <a:schemeClr val="tx1"/>
              </a:solidFill>
              <a:latin typeface="Verdana" panose="020B0604030504040204" pitchFamily="34" charset="0"/>
              <a:ea typeface="Verdana" panose="020B0604030504040204" pitchFamily="34" charset="0"/>
            </a:endParaRPr>
          </a:p>
        </p:txBody>
      </p:sp>
      <p:cxnSp>
        <p:nvCxnSpPr>
          <p:cNvPr id="146" name="Conector recto de flecha 145">
            <a:extLst>
              <a:ext uri="{FF2B5EF4-FFF2-40B4-BE49-F238E27FC236}">
                <a16:creationId xmlns:a16="http://schemas.microsoft.com/office/drawing/2014/main" id="{F77653DF-2645-00AC-6CFF-A23C321747EA}"/>
              </a:ext>
            </a:extLst>
          </p:cNvPr>
          <p:cNvCxnSpPr>
            <a:stCxn id="12" idx="2"/>
            <a:endCxn id="144" idx="0"/>
          </p:cNvCxnSpPr>
          <p:nvPr/>
        </p:nvCxnSpPr>
        <p:spPr>
          <a:xfrm flipH="1">
            <a:off x="10981361" y="3841788"/>
            <a:ext cx="1" cy="6557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Conector recto de flecha 146">
            <a:extLst>
              <a:ext uri="{FF2B5EF4-FFF2-40B4-BE49-F238E27FC236}">
                <a16:creationId xmlns:a16="http://schemas.microsoft.com/office/drawing/2014/main" id="{733594C7-2C57-9709-D4D2-E100B873F9FF}"/>
              </a:ext>
            </a:extLst>
          </p:cNvPr>
          <p:cNvCxnSpPr/>
          <p:nvPr/>
        </p:nvCxnSpPr>
        <p:spPr>
          <a:xfrm flipH="1">
            <a:off x="8589390" y="4671821"/>
            <a:ext cx="1" cy="6557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1">
            <a:extLst>
              <a:ext uri="{FF2B5EF4-FFF2-40B4-BE49-F238E27FC236}">
                <a16:creationId xmlns:a16="http://schemas.microsoft.com/office/drawing/2014/main" id="{7044BE6A-D5A3-3B48-93DA-5746ED8168E5}"/>
              </a:ext>
            </a:extLst>
          </p:cNvPr>
          <p:cNvSpPr txBox="1"/>
          <p:nvPr/>
        </p:nvSpPr>
        <p:spPr>
          <a:xfrm>
            <a:off x="3872508" y="171710"/>
            <a:ext cx="3953326" cy="461665"/>
          </a:xfrm>
          <a:prstGeom prst="rect">
            <a:avLst/>
          </a:prstGeom>
          <a:noFill/>
        </p:spPr>
        <p:txBody>
          <a:bodyPr wrap="none" rtlCol="0">
            <a:spAutoFit/>
          </a:bodyPr>
          <a:lstStyle/>
          <a:p>
            <a:pPr algn="ctr"/>
            <a:r>
              <a:rPr lang="en-US" sz="2400" b="1" dirty="0">
                <a:latin typeface="Verdana" panose="020B0604030504040204" pitchFamily="34" charset="0"/>
                <a:ea typeface="Verdana" panose="020B0604030504040204" pitchFamily="34" charset="0"/>
                <a:cs typeface="Poppins" pitchFamily="2" charset="77"/>
              </a:rPr>
              <a:t>ESQUEMA DEL PI-PEA</a:t>
            </a:r>
          </a:p>
        </p:txBody>
      </p:sp>
    </p:spTree>
    <p:extLst>
      <p:ext uri="{BB962C8B-B14F-4D97-AF65-F5344CB8AC3E}">
        <p14:creationId xmlns:p14="http://schemas.microsoft.com/office/powerpoint/2010/main" val="30337704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1000"/>
                                        <p:tgtEl>
                                          <p:spTgt spid="70"/>
                                        </p:tgtEl>
                                      </p:cBhvr>
                                    </p:animEffect>
                                    <p:anim calcmode="lin" valueType="num">
                                      <p:cBhvr>
                                        <p:cTn id="13" dur="1000" fill="hold"/>
                                        <p:tgtEl>
                                          <p:spTgt spid="70"/>
                                        </p:tgtEl>
                                        <p:attrNameLst>
                                          <p:attrName>ppt_x</p:attrName>
                                        </p:attrNameLst>
                                      </p:cBhvr>
                                      <p:tavLst>
                                        <p:tav tm="0">
                                          <p:val>
                                            <p:strVal val="#ppt_x"/>
                                          </p:val>
                                        </p:tav>
                                        <p:tav tm="100000">
                                          <p:val>
                                            <p:strVal val="#ppt_x"/>
                                          </p:val>
                                        </p:tav>
                                      </p:tavLst>
                                    </p:anim>
                                    <p:anim calcmode="lin" valueType="num">
                                      <p:cBhvr>
                                        <p:cTn id="14"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33"/>
                                        </p:tgtEl>
                                        <p:attrNameLst>
                                          <p:attrName>style.visibility</p:attrName>
                                        </p:attrNameLst>
                                      </p:cBhvr>
                                      <p:to>
                                        <p:strVal val="visible"/>
                                      </p:to>
                                    </p:set>
                                    <p:animEffect transition="in" filter="fade">
                                      <p:cBhvr>
                                        <p:cTn id="29" dur="1000"/>
                                        <p:tgtEl>
                                          <p:spTgt spid="133"/>
                                        </p:tgtEl>
                                      </p:cBhvr>
                                    </p:animEffect>
                                    <p:anim calcmode="lin" valueType="num">
                                      <p:cBhvr>
                                        <p:cTn id="30" dur="1000" fill="hold"/>
                                        <p:tgtEl>
                                          <p:spTgt spid="133"/>
                                        </p:tgtEl>
                                        <p:attrNameLst>
                                          <p:attrName>ppt_x</p:attrName>
                                        </p:attrNameLst>
                                      </p:cBhvr>
                                      <p:tavLst>
                                        <p:tav tm="0">
                                          <p:val>
                                            <p:strVal val="#ppt_x"/>
                                          </p:val>
                                        </p:tav>
                                        <p:tav tm="100000">
                                          <p:val>
                                            <p:strVal val="#ppt_x"/>
                                          </p:val>
                                        </p:tav>
                                      </p:tavLst>
                                    </p:anim>
                                    <p:anim calcmode="lin" valueType="num">
                                      <p:cBhvr>
                                        <p:cTn id="31" dur="1000" fill="hold"/>
                                        <p:tgtEl>
                                          <p:spTgt spid="13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1000"/>
                                        <p:tgtEl>
                                          <p:spTgt spid="21"/>
                                        </p:tgtEl>
                                      </p:cBhvr>
                                    </p:animEffect>
                                    <p:anim calcmode="lin" valueType="num">
                                      <p:cBhvr>
                                        <p:cTn id="42" dur="1000" fill="hold"/>
                                        <p:tgtEl>
                                          <p:spTgt spid="21"/>
                                        </p:tgtEl>
                                        <p:attrNameLst>
                                          <p:attrName>ppt_x</p:attrName>
                                        </p:attrNameLst>
                                      </p:cBhvr>
                                      <p:tavLst>
                                        <p:tav tm="0">
                                          <p:val>
                                            <p:strVal val="#ppt_x"/>
                                          </p:val>
                                        </p:tav>
                                        <p:tav tm="100000">
                                          <p:val>
                                            <p:strVal val="#ppt_x"/>
                                          </p:val>
                                        </p:tav>
                                      </p:tavLst>
                                    </p:anim>
                                    <p:anim calcmode="lin" valueType="num">
                                      <p:cBhvr>
                                        <p:cTn id="43" dur="1000" fill="hold"/>
                                        <p:tgtEl>
                                          <p:spTgt spid="21"/>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1000"/>
                                        <p:tgtEl>
                                          <p:spTgt spid="7"/>
                                        </p:tgtEl>
                                      </p:cBhvr>
                                    </p:animEffect>
                                    <p:anim calcmode="lin" valueType="num">
                                      <p:cBhvr>
                                        <p:cTn id="47" dur="1000" fill="hold"/>
                                        <p:tgtEl>
                                          <p:spTgt spid="7"/>
                                        </p:tgtEl>
                                        <p:attrNameLst>
                                          <p:attrName>ppt_x</p:attrName>
                                        </p:attrNameLst>
                                      </p:cBhvr>
                                      <p:tavLst>
                                        <p:tav tm="0">
                                          <p:val>
                                            <p:strVal val="#ppt_x"/>
                                          </p:val>
                                        </p:tav>
                                        <p:tav tm="100000">
                                          <p:val>
                                            <p:strVal val="#ppt_x"/>
                                          </p:val>
                                        </p:tav>
                                      </p:tavLst>
                                    </p:anim>
                                    <p:anim calcmode="lin" valueType="num">
                                      <p:cBhvr>
                                        <p:cTn id="48" dur="1000" fill="hold"/>
                                        <p:tgtEl>
                                          <p:spTgt spid="7"/>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97"/>
                                        </p:tgtEl>
                                        <p:attrNameLst>
                                          <p:attrName>style.visibility</p:attrName>
                                        </p:attrNameLst>
                                      </p:cBhvr>
                                      <p:to>
                                        <p:strVal val="visible"/>
                                      </p:to>
                                    </p:set>
                                    <p:animEffect transition="in" filter="fade">
                                      <p:cBhvr>
                                        <p:cTn id="51" dur="1000"/>
                                        <p:tgtEl>
                                          <p:spTgt spid="97"/>
                                        </p:tgtEl>
                                      </p:cBhvr>
                                    </p:animEffect>
                                    <p:anim calcmode="lin" valueType="num">
                                      <p:cBhvr>
                                        <p:cTn id="52" dur="1000" fill="hold"/>
                                        <p:tgtEl>
                                          <p:spTgt spid="97"/>
                                        </p:tgtEl>
                                        <p:attrNameLst>
                                          <p:attrName>ppt_x</p:attrName>
                                        </p:attrNameLst>
                                      </p:cBhvr>
                                      <p:tavLst>
                                        <p:tav tm="0">
                                          <p:val>
                                            <p:strVal val="#ppt_x"/>
                                          </p:val>
                                        </p:tav>
                                        <p:tav tm="100000">
                                          <p:val>
                                            <p:strVal val="#ppt_x"/>
                                          </p:val>
                                        </p:tav>
                                      </p:tavLst>
                                    </p:anim>
                                    <p:anim calcmode="lin" valueType="num">
                                      <p:cBhvr>
                                        <p:cTn id="53" dur="1000" fill="hold"/>
                                        <p:tgtEl>
                                          <p:spTgt spid="97"/>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34"/>
                                        </p:tgtEl>
                                        <p:attrNameLst>
                                          <p:attrName>style.visibility</p:attrName>
                                        </p:attrNameLst>
                                      </p:cBhvr>
                                      <p:to>
                                        <p:strVal val="visible"/>
                                      </p:to>
                                    </p:set>
                                    <p:animEffect transition="in" filter="fade">
                                      <p:cBhvr>
                                        <p:cTn id="56" dur="1000"/>
                                        <p:tgtEl>
                                          <p:spTgt spid="134"/>
                                        </p:tgtEl>
                                      </p:cBhvr>
                                    </p:animEffect>
                                    <p:anim calcmode="lin" valueType="num">
                                      <p:cBhvr>
                                        <p:cTn id="57" dur="1000" fill="hold"/>
                                        <p:tgtEl>
                                          <p:spTgt spid="134"/>
                                        </p:tgtEl>
                                        <p:attrNameLst>
                                          <p:attrName>ppt_x</p:attrName>
                                        </p:attrNameLst>
                                      </p:cBhvr>
                                      <p:tavLst>
                                        <p:tav tm="0">
                                          <p:val>
                                            <p:strVal val="#ppt_x"/>
                                          </p:val>
                                        </p:tav>
                                        <p:tav tm="100000">
                                          <p:val>
                                            <p:strVal val="#ppt_x"/>
                                          </p:val>
                                        </p:tav>
                                      </p:tavLst>
                                    </p:anim>
                                    <p:anim calcmode="lin" valueType="num">
                                      <p:cBhvr>
                                        <p:cTn id="58" dur="1000" fill="hold"/>
                                        <p:tgtEl>
                                          <p:spTgt spid="134"/>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1000"/>
                                        <p:tgtEl>
                                          <p:spTgt spid="25"/>
                                        </p:tgtEl>
                                      </p:cBhvr>
                                    </p:animEffect>
                                    <p:anim calcmode="lin" valueType="num">
                                      <p:cBhvr>
                                        <p:cTn id="64" dur="1000" fill="hold"/>
                                        <p:tgtEl>
                                          <p:spTgt spid="25"/>
                                        </p:tgtEl>
                                        <p:attrNameLst>
                                          <p:attrName>ppt_x</p:attrName>
                                        </p:attrNameLst>
                                      </p:cBhvr>
                                      <p:tavLst>
                                        <p:tav tm="0">
                                          <p:val>
                                            <p:strVal val="#ppt_x"/>
                                          </p:val>
                                        </p:tav>
                                        <p:tav tm="100000">
                                          <p:val>
                                            <p:strVal val="#ppt_x"/>
                                          </p:val>
                                        </p:tav>
                                      </p:tavLst>
                                    </p:anim>
                                    <p:anim calcmode="lin" valueType="num">
                                      <p:cBhvr>
                                        <p:cTn id="65" dur="1000" fill="hold"/>
                                        <p:tgtEl>
                                          <p:spTgt spid="25"/>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1000"/>
                                        <p:tgtEl>
                                          <p:spTgt spid="27"/>
                                        </p:tgtEl>
                                      </p:cBhvr>
                                    </p:animEffect>
                                    <p:anim calcmode="lin" valueType="num">
                                      <p:cBhvr>
                                        <p:cTn id="69" dur="1000" fill="hold"/>
                                        <p:tgtEl>
                                          <p:spTgt spid="27"/>
                                        </p:tgtEl>
                                        <p:attrNameLst>
                                          <p:attrName>ppt_x</p:attrName>
                                        </p:attrNameLst>
                                      </p:cBhvr>
                                      <p:tavLst>
                                        <p:tav tm="0">
                                          <p:val>
                                            <p:strVal val="#ppt_x"/>
                                          </p:val>
                                        </p:tav>
                                        <p:tav tm="100000">
                                          <p:val>
                                            <p:strVal val="#ppt_x"/>
                                          </p:val>
                                        </p:tav>
                                      </p:tavLst>
                                    </p:anim>
                                    <p:anim calcmode="lin" valueType="num">
                                      <p:cBhvr>
                                        <p:cTn id="70" dur="1000" fill="hold"/>
                                        <p:tgtEl>
                                          <p:spTgt spid="27"/>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01"/>
                                        </p:tgtEl>
                                        <p:attrNameLst>
                                          <p:attrName>style.visibility</p:attrName>
                                        </p:attrNameLst>
                                      </p:cBhvr>
                                      <p:to>
                                        <p:strVal val="visible"/>
                                      </p:to>
                                    </p:set>
                                    <p:animEffect transition="in" filter="fade">
                                      <p:cBhvr>
                                        <p:cTn id="73" dur="1000"/>
                                        <p:tgtEl>
                                          <p:spTgt spid="101"/>
                                        </p:tgtEl>
                                      </p:cBhvr>
                                    </p:animEffect>
                                    <p:anim calcmode="lin" valueType="num">
                                      <p:cBhvr>
                                        <p:cTn id="74" dur="1000" fill="hold"/>
                                        <p:tgtEl>
                                          <p:spTgt spid="101"/>
                                        </p:tgtEl>
                                        <p:attrNameLst>
                                          <p:attrName>ppt_x</p:attrName>
                                        </p:attrNameLst>
                                      </p:cBhvr>
                                      <p:tavLst>
                                        <p:tav tm="0">
                                          <p:val>
                                            <p:strVal val="#ppt_x"/>
                                          </p:val>
                                        </p:tav>
                                        <p:tav tm="100000">
                                          <p:val>
                                            <p:strVal val="#ppt_x"/>
                                          </p:val>
                                        </p:tav>
                                      </p:tavLst>
                                    </p:anim>
                                    <p:anim calcmode="lin" valueType="num">
                                      <p:cBhvr>
                                        <p:cTn id="75" dur="1000" fill="hold"/>
                                        <p:tgtEl>
                                          <p:spTgt spid="101"/>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0"/>
                                        </p:tgtEl>
                                        <p:attrNameLst>
                                          <p:attrName>style.visibility</p:attrName>
                                        </p:attrNameLst>
                                      </p:cBhvr>
                                      <p:to>
                                        <p:strVal val="visible"/>
                                      </p:to>
                                    </p:set>
                                    <p:animEffect transition="in" filter="fade">
                                      <p:cBhvr>
                                        <p:cTn id="78" dur="1000"/>
                                        <p:tgtEl>
                                          <p:spTgt spid="10"/>
                                        </p:tgtEl>
                                      </p:cBhvr>
                                    </p:animEffect>
                                    <p:anim calcmode="lin" valueType="num">
                                      <p:cBhvr>
                                        <p:cTn id="79" dur="1000" fill="hold"/>
                                        <p:tgtEl>
                                          <p:spTgt spid="10"/>
                                        </p:tgtEl>
                                        <p:attrNameLst>
                                          <p:attrName>ppt_x</p:attrName>
                                        </p:attrNameLst>
                                      </p:cBhvr>
                                      <p:tavLst>
                                        <p:tav tm="0">
                                          <p:val>
                                            <p:strVal val="#ppt_x"/>
                                          </p:val>
                                        </p:tav>
                                        <p:tav tm="100000">
                                          <p:val>
                                            <p:strVal val="#ppt_x"/>
                                          </p:val>
                                        </p:tav>
                                      </p:tavLst>
                                    </p:anim>
                                    <p:anim calcmode="lin" valueType="num">
                                      <p:cBhvr>
                                        <p:cTn id="80" dur="1000" fill="hold"/>
                                        <p:tgtEl>
                                          <p:spTgt spid="10"/>
                                        </p:tgtEl>
                                        <p:attrNameLst>
                                          <p:attrName>ppt_y</p:attrName>
                                        </p:attrNameLst>
                                      </p:cBhvr>
                                      <p:tavLst>
                                        <p:tav tm="0">
                                          <p:val>
                                            <p:strVal val="#ppt_y+.1"/>
                                          </p:val>
                                        </p:tav>
                                        <p:tav tm="100000">
                                          <p:val>
                                            <p:strVal val="#ppt_y"/>
                                          </p:val>
                                        </p:tav>
                                      </p:tavLst>
                                    </p:anim>
                                  </p:childTnLst>
                                </p:cTn>
                              </p:par>
                              <p:par>
                                <p:cTn id="81" presetID="42" presetClass="entr" presetSubtype="0" fill="hold" nodeType="withEffect">
                                  <p:stCondLst>
                                    <p:cond delay="0"/>
                                  </p:stCondLst>
                                  <p:childTnLst>
                                    <p:set>
                                      <p:cBhvr>
                                        <p:cTn id="82" dur="1" fill="hold">
                                          <p:stCondLst>
                                            <p:cond delay="0"/>
                                          </p:stCondLst>
                                        </p:cTn>
                                        <p:tgtEl>
                                          <p:spTgt spid="147"/>
                                        </p:tgtEl>
                                        <p:attrNameLst>
                                          <p:attrName>style.visibility</p:attrName>
                                        </p:attrNameLst>
                                      </p:cBhvr>
                                      <p:to>
                                        <p:strVal val="visible"/>
                                      </p:to>
                                    </p:set>
                                    <p:animEffect transition="in" filter="fade">
                                      <p:cBhvr>
                                        <p:cTn id="83" dur="1000"/>
                                        <p:tgtEl>
                                          <p:spTgt spid="147"/>
                                        </p:tgtEl>
                                      </p:cBhvr>
                                    </p:animEffect>
                                    <p:anim calcmode="lin" valueType="num">
                                      <p:cBhvr>
                                        <p:cTn id="84" dur="1000" fill="hold"/>
                                        <p:tgtEl>
                                          <p:spTgt spid="147"/>
                                        </p:tgtEl>
                                        <p:attrNameLst>
                                          <p:attrName>ppt_x</p:attrName>
                                        </p:attrNameLst>
                                      </p:cBhvr>
                                      <p:tavLst>
                                        <p:tav tm="0">
                                          <p:val>
                                            <p:strVal val="#ppt_x"/>
                                          </p:val>
                                        </p:tav>
                                        <p:tav tm="100000">
                                          <p:val>
                                            <p:strVal val="#ppt_x"/>
                                          </p:val>
                                        </p:tav>
                                      </p:tavLst>
                                    </p:anim>
                                    <p:anim calcmode="lin" valueType="num">
                                      <p:cBhvr>
                                        <p:cTn id="85" dur="1000" fill="hold"/>
                                        <p:tgtEl>
                                          <p:spTgt spid="147"/>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42"/>
                                        </p:tgtEl>
                                        <p:attrNameLst>
                                          <p:attrName>style.visibility</p:attrName>
                                        </p:attrNameLst>
                                      </p:cBhvr>
                                      <p:to>
                                        <p:strVal val="visible"/>
                                      </p:to>
                                    </p:set>
                                    <p:animEffect transition="in" filter="fade">
                                      <p:cBhvr>
                                        <p:cTn id="88" dur="1000"/>
                                        <p:tgtEl>
                                          <p:spTgt spid="142"/>
                                        </p:tgtEl>
                                      </p:cBhvr>
                                    </p:animEffect>
                                    <p:anim calcmode="lin" valueType="num">
                                      <p:cBhvr>
                                        <p:cTn id="89" dur="1000" fill="hold"/>
                                        <p:tgtEl>
                                          <p:spTgt spid="142"/>
                                        </p:tgtEl>
                                        <p:attrNameLst>
                                          <p:attrName>ppt_x</p:attrName>
                                        </p:attrNameLst>
                                      </p:cBhvr>
                                      <p:tavLst>
                                        <p:tav tm="0">
                                          <p:val>
                                            <p:strVal val="#ppt_x"/>
                                          </p:val>
                                        </p:tav>
                                        <p:tav tm="100000">
                                          <p:val>
                                            <p:strVal val="#ppt_x"/>
                                          </p:val>
                                        </p:tav>
                                      </p:tavLst>
                                    </p:anim>
                                    <p:anim calcmode="lin" valueType="num">
                                      <p:cBhvr>
                                        <p:cTn id="90" dur="1000" fill="hold"/>
                                        <p:tgtEl>
                                          <p:spTgt spid="142"/>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1000"/>
                                        <p:tgtEl>
                                          <p:spTgt spid="29"/>
                                        </p:tgtEl>
                                      </p:cBhvr>
                                    </p:animEffect>
                                    <p:anim calcmode="lin" valueType="num">
                                      <p:cBhvr>
                                        <p:cTn id="96" dur="1000" fill="hold"/>
                                        <p:tgtEl>
                                          <p:spTgt spid="29"/>
                                        </p:tgtEl>
                                        <p:attrNameLst>
                                          <p:attrName>ppt_x</p:attrName>
                                        </p:attrNameLst>
                                      </p:cBhvr>
                                      <p:tavLst>
                                        <p:tav tm="0">
                                          <p:val>
                                            <p:strVal val="#ppt_x"/>
                                          </p:val>
                                        </p:tav>
                                        <p:tav tm="100000">
                                          <p:val>
                                            <p:strVal val="#ppt_x"/>
                                          </p:val>
                                        </p:tav>
                                      </p:tavLst>
                                    </p:anim>
                                    <p:anim calcmode="lin" valueType="num">
                                      <p:cBhvr>
                                        <p:cTn id="97" dur="1000" fill="hold"/>
                                        <p:tgtEl>
                                          <p:spTgt spid="29"/>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9" dur="1" fill="hold">
                                          <p:stCondLst>
                                            <p:cond delay="0"/>
                                          </p:stCondLst>
                                        </p:cTn>
                                        <p:tgtEl>
                                          <p:spTgt spid="31"/>
                                        </p:tgtEl>
                                        <p:attrNameLst>
                                          <p:attrName>style.visibility</p:attrName>
                                        </p:attrNameLst>
                                      </p:cBhvr>
                                      <p:to>
                                        <p:strVal val="visible"/>
                                      </p:to>
                                    </p:set>
                                    <p:animEffect transition="in" filter="fade">
                                      <p:cBhvr>
                                        <p:cTn id="100" dur="1000"/>
                                        <p:tgtEl>
                                          <p:spTgt spid="31"/>
                                        </p:tgtEl>
                                      </p:cBhvr>
                                    </p:animEffect>
                                    <p:anim calcmode="lin" valueType="num">
                                      <p:cBhvr>
                                        <p:cTn id="101" dur="1000" fill="hold"/>
                                        <p:tgtEl>
                                          <p:spTgt spid="31"/>
                                        </p:tgtEl>
                                        <p:attrNameLst>
                                          <p:attrName>ppt_x</p:attrName>
                                        </p:attrNameLst>
                                      </p:cBhvr>
                                      <p:tavLst>
                                        <p:tav tm="0">
                                          <p:val>
                                            <p:strVal val="#ppt_x"/>
                                          </p:val>
                                        </p:tav>
                                        <p:tav tm="100000">
                                          <p:val>
                                            <p:strVal val="#ppt_x"/>
                                          </p:val>
                                        </p:tav>
                                      </p:tavLst>
                                    </p:anim>
                                    <p:anim calcmode="lin" valueType="num">
                                      <p:cBhvr>
                                        <p:cTn id="102" dur="1000" fill="hold"/>
                                        <p:tgtEl>
                                          <p:spTgt spid="31"/>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104"/>
                                        </p:tgtEl>
                                        <p:attrNameLst>
                                          <p:attrName>style.visibility</p:attrName>
                                        </p:attrNameLst>
                                      </p:cBhvr>
                                      <p:to>
                                        <p:strVal val="visible"/>
                                      </p:to>
                                    </p:set>
                                    <p:animEffect transition="in" filter="fade">
                                      <p:cBhvr>
                                        <p:cTn id="105" dur="1000"/>
                                        <p:tgtEl>
                                          <p:spTgt spid="104"/>
                                        </p:tgtEl>
                                      </p:cBhvr>
                                    </p:animEffect>
                                    <p:anim calcmode="lin" valueType="num">
                                      <p:cBhvr>
                                        <p:cTn id="106" dur="1000" fill="hold"/>
                                        <p:tgtEl>
                                          <p:spTgt spid="104"/>
                                        </p:tgtEl>
                                        <p:attrNameLst>
                                          <p:attrName>ppt_x</p:attrName>
                                        </p:attrNameLst>
                                      </p:cBhvr>
                                      <p:tavLst>
                                        <p:tav tm="0">
                                          <p:val>
                                            <p:strVal val="#ppt_x"/>
                                          </p:val>
                                        </p:tav>
                                        <p:tav tm="100000">
                                          <p:val>
                                            <p:strVal val="#ppt_x"/>
                                          </p:val>
                                        </p:tav>
                                      </p:tavLst>
                                    </p:anim>
                                    <p:anim calcmode="lin" valueType="num">
                                      <p:cBhvr>
                                        <p:cTn id="107" dur="1000" fill="hold"/>
                                        <p:tgtEl>
                                          <p:spTgt spid="104"/>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12"/>
                                        </p:tgtEl>
                                        <p:attrNameLst>
                                          <p:attrName>style.visibility</p:attrName>
                                        </p:attrNameLst>
                                      </p:cBhvr>
                                      <p:to>
                                        <p:strVal val="visible"/>
                                      </p:to>
                                    </p:set>
                                    <p:animEffect transition="in" filter="fade">
                                      <p:cBhvr>
                                        <p:cTn id="110" dur="1000"/>
                                        <p:tgtEl>
                                          <p:spTgt spid="12"/>
                                        </p:tgtEl>
                                      </p:cBhvr>
                                    </p:animEffect>
                                    <p:anim calcmode="lin" valueType="num">
                                      <p:cBhvr>
                                        <p:cTn id="111" dur="1000" fill="hold"/>
                                        <p:tgtEl>
                                          <p:spTgt spid="12"/>
                                        </p:tgtEl>
                                        <p:attrNameLst>
                                          <p:attrName>ppt_x</p:attrName>
                                        </p:attrNameLst>
                                      </p:cBhvr>
                                      <p:tavLst>
                                        <p:tav tm="0">
                                          <p:val>
                                            <p:strVal val="#ppt_x"/>
                                          </p:val>
                                        </p:tav>
                                        <p:tav tm="100000">
                                          <p:val>
                                            <p:strVal val="#ppt_x"/>
                                          </p:val>
                                        </p:tav>
                                      </p:tavLst>
                                    </p:anim>
                                    <p:anim calcmode="lin" valueType="num">
                                      <p:cBhvr>
                                        <p:cTn id="112" dur="1000" fill="hold"/>
                                        <p:tgtEl>
                                          <p:spTgt spid="12"/>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14" dur="1" fill="hold">
                                          <p:stCondLst>
                                            <p:cond delay="0"/>
                                          </p:stCondLst>
                                        </p:cTn>
                                        <p:tgtEl>
                                          <p:spTgt spid="146"/>
                                        </p:tgtEl>
                                        <p:attrNameLst>
                                          <p:attrName>style.visibility</p:attrName>
                                        </p:attrNameLst>
                                      </p:cBhvr>
                                      <p:to>
                                        <p:strVal val="visible"/>
                                      </p:to>
                                    </p:set>
                                    <p:animEffect transition="in" filter="fade">
                                      <p:cBhvr>
                                        <p:cTn id="115" dur="1000"/>
                                        <p:tgtEl>
                                          <p:spTgt spid="146"/>
                                        </p:tgtEl>
                                      </p:cBhvr>
                                    </p:animEffect>
                                    <p:anim calcmode="lin" valueType="num">
                                      <p:cBhvr>
                                        <p:cTn id="116" dur="1000" fill="hold"/>
                                        <p:tgtEl>
                                          <p:spTgt spid="146"/>
                                        </p:tgtEl>
                                        <p:attrNameLst>
                                          <p:attrName>ppt_x</p:attrName>
                                        </p:attrNameLst>
                                      </p:cBhvr>
                                      <p:tavLst>
                                        <p:tav tm="0">
                                          <p:val>
                                            <p:strVal val="#ppt_x"/>
                                          </p:val>
                                        </p:tav>
                                        <p:tav tm="100000">
                                          <p:val>
                                            <p:strVal val="#ppt_x"/>
                                          </p:val>
                                        </p:tav>
                                      </p:tavLst>
                                    </p:anim>
                                    <p:anim calcmode="lin" valueType="num">
                                      <p:cBhvr>
                                        <p:cTn id="117" dur="1000" fill="hold"/>
                                        <p:tgtEl>
                                          <p:spTgt spid="146"/>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144"/>
                                        </p:tgtEl>
                                        <p:attrNameLst>
                                          <p:attrName>style.visibility</p:attrName>
                                        </p:attrNameLst>
                                      </p:cBhvr>
                                      <p:to>
                                        <p:strVal val="visible"/>
                                      </p:to>
                                    </p:set>
                                    <p:animEffect transition="in" filter="fade">
                                      <p:cBhvr>
                                        <p:cTn id="120" dur="1000"/>
                                        <p:tgtEl>
                                          <p:spTgt spid="144"/>
                                        </p:tgtEl>
                                      </p:cBhvr>
                                    </p:animEffect>
                                    <p:anim calcmode="lin" valueType="num">
                                      <p:cBhvr>
                                        <p:cTn id="121" dur="1000" fill="hold"/>
                                        <p:tgtEl>
                                          <p:spTgt spid="144"/>
                                        </p:tgtEl>
                                        <p:attrNameLst>
                                          <p:attrName>ppt_x</p:attrName>
                                        </p:attrNameLst>
                                      </p:cBhvr>
                                      <p:tavLst>
                                        <p:tav tm="0">
                                          <p:val>
                                            <p:strVal val="#ppt_x"/>
                                          </p:val>
                                        </p:tav>
                                        <p:tav tm="100000">
                                          <p:val>
                                            <p:strVal val="#ppt_x"/>
                                          </p:val>
                                        </p:tav>
                                      </p:tavLst>
                                    </p:anim>
                                    <p:anim calcmode="lin" valueType="num">
                                      <p:cBhvr>
                                        <p:cTn id="122" dur="1000" fill="hold"/>
                                        <p:tgtEl>
                                          <p:spTgt spid="1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animBg="1"/>
      <p:bldP spid="12" grpId="0" animBg="1"/>
      <p:bldP spid="70" grpId="0" animBg="1"/>
      <p:bldP spid="97" grpId="0" animBg="1"/>
      <p:bldP spid="101" grpId="0" animBg="1"/>
      <p:bldP spid="104" grpId="0" animBg="1"/>
      <p:bldP spid="133" grpId="0" animBg="1"/>
      <p:bldP spid="134" grpId="0" animBg="1"/>
      <p:bldP spid="142" grpId="0" animBg="1"/>
      <p:bldP spid="14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E3496C73-EBCE-5B1C-CA17-558166FE5AA8}"/>
              </a:ext>
            </a:extLst>
          </p:cNvPr>
          <p:cNvGraphicFramePr/>
          <p:nvPr/>
        </p:nvGraphicFramePr>
        <p:xfrm>
          <a:off x="947057" y="849086"/>
          <a:ext cx="10450287" cy="54656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CuadroTexto 1">
            <a:extLst>
              <a:ext uri="{FF2B5EF4-FFF2-40B4-BE49-F238E27FC236}">
                <a16:creationId xmlns:a16="http://schemas.microsoft.com/office/drawing/2014/main" id="{8C737CCD-E2A0-BEA3-E057-987A1D85EA43}"/>
              </a:ext>
            </a:extLst>
          </p:cNvPr>
          <p:cNvSpPr txBox="1"/>
          <p:nvPr/>
        </p:nvSpPr>
        <p:spPr>
          <a:xfrm>
            <a:off x="2558143" y="227978"/>
            <a:ext cx="7598229" cy="461665"/>
          </a:xfrm>
          <a:prstGeom prst="rect">
            <a:avLst/>
          </a:prstGeom>
          <a:noFill/>
        </p:spPr>
        <p:txBody>
          <a:bodyPr wrap="square" rtlCol="0">
            <a:spAutoFit/>
          </a:bodyPr>
          <a:lstStyle>
            <a:defPPr>
              <a:defRPr lang="es-MX"/>
            </a:defPPr>
            <a:lvl1pPr algn="ctr" defTabSz="914217">
              <a:defRPr sz="2400" b="1">
                <a:solidFill>
                  <a:srgbClr val="445469"/>
                </a:solidFill>
                <a:latin typeface="Verdana" panose="020B0604030504040204" pitchFamily="34" charset="0"/>
                <a:ea typeface="Verdana" panose="020B0604030504040204" pitchFamily="34" charset="0"/>
                <a:cs typeface="Poppins" pitchFamily="2" charset="77"/>
              </a:defRPr>
            </a:lvl1pPr>
          </a:lstStyle>
          <a:p>
            <a:r>
              <a:rPr lang="es-MX" dirty="0">
                <a:solidFill>
                  <a:schemeClr val="tx1"/>
                </a:solidFill>
              </a:rPr>
              <a:t>PROCESO DE ACCIONES A REALIZAR</a:t>
            </a:r>
          </a:p>
        </p:txBody>
      </p:sp>
    </p:spTree>
    <p:extLst>
      <p:ext uri="{BB962C8B-B14F-4D97-AF65-F5344CB8AC3E}">
        <p14:creationId xmlns:p14="http://schemas.microsoft.com/office/powerpoint/2010/main" val="1245156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
            <a:extLst>
              <a:ext uri="{FF2B5EF4-FFF2-40B4-BE49-F238E27FC236}">
                <a16:creationId xmlns:a16="http://schemas.microsoft.com/office/drawing/2014/main" id="{3261E601-502E-5464-62CC-5EE778B1A6B3}"/>
              </a:ext>
            </a:extLst>
          </p:cNvPr>
          <p:cNvSpPr txBox="1"/>
          <p:nvPr/>
        </p:nvSpPr>
        <p:spPr>
          <a:xfrm>
            <a:off x="3469671" y="319265"/>
            <a:ext cx="5252658" cy="461665"/>
          </a:xfrm>
          <a:prstGeom prst="rect">
            <a:avLst/>
          </a:prstGeom>
          <a:noFill/>
        </p:spPr>
        <p:txBody>
          <a:bodyPr wrap="square" rtlCol="0">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effectLst/>
                <a:uLnTx/>
                <a:uFillTx/>
                <a:latin typeface="Verdana" panose="020B0604030504040204" pitchFamily="34" charset="0"/>
                <a:ea typeface="Verdana" panose="020B0604030504040204" pitchFamily="34" charset="0"/>
                <a:cs typeface="Poppins" pitchFamily="2" charset="77"/>
              </a:rPr>
              <a:t>ELABORAR</a:t>
            </a:r>
            <a:r>
              <a:rPr kumimoji="0" lang="en-US" sz="24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Poppins" pitchFamily="2" charset="77"/>
              </a:rPr>
              <a:t> </a:t>
            </a:r>
            <a:r>
              <a:rPr kumimoji="0" lang="en-US" sz="2400" b="1" i="0" u="none" strike="noStrike" kern="1200" cap="none" spc="0" normalizeH="0" baseline="0" noProof="0" dirty="0" err="1">
                <a:ln>
                  <a:noFill/>
                </a:ln>
                <a:effectLst/>
                <a:uLnTx/>
                <a:uFillTx/>
                <a:latin typeface="Verdana" panose="020B0604030504040204" pitchFamily="34" charset="0"/>
                <a:ea typeface="Verdana" panose="020B0604030504040204" pitchFamily="34" charset="0"/>
                <a:cs typeface="Poppins" pitchFamily="2" charset="77"/>
              </a:rPr>
              <a:t>ESTRAT</a:t>
            </a:r>
            <a:r>
              <a:rPr lang="en-US" sz="2400" b="1" dirty="0">
                <a:latin typeface="Verdana" panose="020B0604030504040204" pitchFamily="34" charset="0"/>
                <a:ea typeface="Verdana" panose="020B0604030504040204" pitchFamily="34" charset="0"/>
                <a:cs typeface="Poppins" pitchFamily="2" charset="77"/>
              </a:rPr>
              <a:t>E</a:t>
            </a:r>
            <a:r>
              <a:rPr kumimoji="0" lang="en-US" sz="24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Poppins" pitchFamily="2" charset="77"/>
              </a:rPr>
              <a:t>GIA</a:t>
            </a:r>
          </a:p>
        </p:txBody>
      </p:sp>
      <p:sp>
        <p:nvSpPr>
          <p:cNvPr id="5" name="CuadroTexto 4">
            <a:extLst>
              <a:ext uri="{FF2B5EF4-FFF2-40B4-BE49-F238E27FC236}">
                <a16:creationId xmlns:a16="http://schemas.microsoft.com/office/drawing/2014/main" id="{85DDFC9F-5155-6F02-37D5-FF4286151013}"/>
              </a:ext>
            </a:extLst>
          </p:cNvPr>
          <p:cNvSpPr txBox="1"/>
          <p:nvPr/>
        </p:nvSpPr>
        <p:spPr>
          <a:xfrm>
            <a:off x="827314" y="1305341"/>
            <a:ext cx="10918372" cy="4247317"/>
          </a:xfrm>
          <a:prstGeom prst="rect">
            <a:avLst/>
          </a:prstGeom>
          <a:noFill/>
        </p:spPr>
        <p:txBody>
          <a:bodyPr wrap="square" rtlCol="0">
            <a:spAutoFit/>
          </a:bodyPr>
          <a:lstStyle/>
          <a:p>
            <a:pPr lvl="0" algn="just"/>
            <a:r>
              <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rPr>
              <a:t>las Estrategias son un conjunto de líneas de acción interrelacionadas y necesarias para el logro de un objetivo. Se fundamente en las Prioridades de la PEA. </a:t>
            </a:r>
          </a:p>
          <a:p>
            <a:pPr lvl="0" algn="just"/>
            <a:endPar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lvl="0" algn="just"/>
            <a:r>
              <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rPr>
              <a:t>Con la finalidad de mantener un lenguaje común a lo largo del PI-PEA, se deben redactar con en el siguiente formato:</a:t>
            </a:r>
          </a:p>
          <a:p>
            <a:pPr lvl="0" algn="just"/>
            <a:endPar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lvl="0" algn="just"/>
            <a:endPar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lvl="0" algn="ctr"/>
            <a:r>
              <a:rPr lang="es-ES" sz="2000" b="1" dirty="0">
                <a:solidFill>
                  <a:srgbClr val="FF3300"/>
                </a:solidFill>
                <a:latin typeface="Verdana" panose="020B0604030504040204" pitchFamily="34" charset="0"/>
                <a:ea typeface="Verdana" panose="020B0604030504040204" pitchFamily="34" charset="0"/>
                <a:cs typeface="Times New Roman" panose="02020603050405020304" pitchFamily="18" charset="0"/>
              </a:rPr>
              <a:t>Verbo en infinitivo</a:t>
            </a:r>
            <a:r>
              <a:rPr lang="es-ES" sz="2000" b="1" dirty="0">
                <a:solidFill>
                  <a:prstClr val="black"/>
                </a:solidFill>
                <a:latin typeface="Verdana" panose="020B0604030504040204" pitchFamily="34" charset="0"/>
                <a:ea typeface="Verdana" panose="020B0604030504040204" pitchFamily="34" charset="0"/>
                <a:cs typeface="Times New Roman" panose="02020603050405020304" pitchFamily="18" charset="0"/>
              </a:rPr>
              <a:t> + </a:t>
            </a:r>
            <a:r>
              <a:rPr lang="es-ES" sz="2000" b="1" dirty="0">
                <a:solidFill>
                  <a:srgbClr val="0070C0"/>
                </a:solidFill>
                <a:latin typeface="Verdana" panose="020B0604030504040204" pitchFamily="34" charset="0"/>
                <a:ea typeface="Verdana" panose="020B0604030504040204" pitchFamily="34" charset="0"/>
                <a:cs typeface="Times New Roman" panose="02020603050405020304" pitchFamily="18" charset="0"/>
              </a:rPr>
              <a:t>¿Qué? + </a:t>
            </a:r>
            <a:r>
              <a:rPr lang="es-ES" sz="2000" b="1" dirty="0">
                <a:solidFill>
                  <a:srgbClr val="00B050"/>
                </a:solidFill>
                <a:latin typeface="Verdana" panose="020B0604030504040204" pitchFamily="34" charset="0"/>
                <a:ea typeface="Verdana" panose="020B0604030504040204" pitchFamily="34" charset="0"/>
                <a:cs typeface="Times New Roman" panose="02020603050405020304" pitchFamily="18" charset="0"/>
              </a:rPr>
              <a:t>¿Para quién o para qué? </a:t>
            </a:r>
            <a:r>
              <a:rPr lang="es-ES" sz="2000" b="1" dirty="0">
                <a:solidFill>
                  <a:prstClr val="black"/>
                </a:solidFill>
                <a:latin typeface="Verdana" panose="020B0604030504040204" pitchFamily="34" charset="0"/>
                <a:ea typeface="Verdana" panose="020B0604030504040204" pitchFamily="34" charset="0"/>
                <a:cs typeface="Times New Roman" panose="02020603050405020304" pitchFamily="18" charset="0"/>
              </a:rPr>
              <a:t>= </a:t>
            </a:r>
            <a:r>
              <a:rPr lang="es-ES" sz="2000" b="1" dirty="0" err="1">
                <a:solidFill>
                  <a:prstClr val="black"/>
                </a:solidFill>
                <a:latin typeface="Verdana" panose="020B0604030504040204" pitchFamily="34" charset="0"/>
                <a:ea typeface="Verdana" panose="020B0604030504040204" pitchFamily="34" charset="0"/>
                <a:cs typeface="Times New Roman" panose="02020603050405020304" pitchFamily="18" charset="0"/>
              </a:rPr>
              <a:t>ESTRATÉGIA</a:t>
            </a:r>
            <a:endParaRPr lang="es-ES" sz="2000" b="1"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lvl="0" algn="ctr"/>
            <a:endParaRPr lang="es-ES" b="1"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lvl="0" algn="ctr"/>
            <a:endParaRPr lang="es-ES" b="1"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lvl="0"/>
            <a:r>
              <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rPr>
              <a:t>Ejemplo:</a:t>
            </a:r>
          </a:p>
          <a:p>
            <a:pPr lvl="0"/>
            <a:endPar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lvl="0"/>
            <a:r>
              <a:rPr lang="es-MX" dirty="0">
                <a:solidFill>
                  <a:srgbClr val="FF0000"/>
                </a:solidFill>
                <a:latin typeface="Verdana" panose="020B0604030504040204" pitchFamily="34" charset="0"/>
                <a:ea typeface="Verdana" panose="020B0604030504040204" pitchFamily="34" charset="0"/>
                <a:cs typeface="Times New Roman" panose="02020603050405020304" pitchFamily="18" charset="0"/>
              </a:rPr>
              <a:t>Adoptar</a:t>
            </a:r>
            <a:r>
              <a:rPr lang="es-MX" dirty="0">
                <a:solidFill>
                  <a:prstClr val="black"/>
                </a:solidFill>
                <a:latin typeface="Verdana" panose="020B0604030504040204" pitchFamily="34" charset="0"/>
                <a:ea typeface="Verdana" panose="020B0604030504040204" pitchFamily="34" charset="0"/>
                <a:cs typeface="Times New Roman" panose="02020603050405020304" pitchFamily="18" charset="0"/>
              </a:rPr>
              <a:t> </a:t>
            </a:r>
            <a:r>
              <a:rPr lang="es-MX" dirty="0">
                <a:solidFill>
                  <a:srgbClr val="0070C0"/>
                </a:solidFill>
                <a:latin typeface="Verdana" panose="020B0604030504040204" pitchFamily="34" charset="0"/>
                <a:ea typeface="Verdana" panose="020B0604030504040204" pitchFamily="34" charset="0"/>
                <a:cs typeface="Times New Roman" panose="02020603050405020304" pitchFamily="18" charset="0"/>
              </a:rPr>
              <a:t>mecanismos de transparencia presupuestaria de las instancias que integran el Comité Coordinador </a:t>
            </a:r>
            <a:r>
              <a:rPr lang="es-MX" dirty="0">
                <a:solidFill>
                  <a:prstClr val="black"/>
                </a:solidFill>
                <a:latin typeface="Verdana" panose="020B0604030504040204" pitchFamily="34" charset="0"/>
                <a:ea typeface="Verdana" panose="020B0604030504040204" pitchFamily="34" charset="0"/>
                <a:cs typeface="Times New Roman" panose="02020603050405020304" pitchFamily="18" charset="0"/>
              </a:rPr>
              <a:t>que </a:t>
            </a:r>
            <a:r>
              <a:rPr lang="es-MX" dirty="0">
                <a:solidFill>
                  <a:srgbClr val="00B050"/>
                </a:solidFill>
                <a:latin typeface="Verdana" panose="020B0604030504040204" pitchFamily="34" charset="0"/>
                <a:ea typeface="Verdana" panose="020B0604030504040204" pitchFamily="34" charset="0"/>
                <a:cs typeface="Times New Roman" panose="02020603050405020304" pitchFamily="18" charset="0"/>
              </a:rPr>
              <a:t>permitan dar seguimiento al ejercicio del gasto público en materia de combate a la corrupción.</a:t>
            </a:r>
            <a:endParaRPr lang="es-ES" dirty="0">
              <a:solidFill>
                <a:srgbClr val="00B050"/>
              </a:solidFill>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77115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85DDFC9F-5155-6F02-37D5-FF4286151013}"/>
              </a:ext>
            </a:extLst>
          </p:cNvPr>
          <p:cNvSpPr txBox="1"/>
          <p:nvPr/>
        </p:nvSpPr>
        <p:spPr>
          <a:xfrm>
            <a:off x="552561" y="1046661"/>
            <a:ext cx="11038113" cy="5355312"/>
          </a:xfrm>
          <a:prstGeom prst="rect">
            <a:avLst/>
          </a:prstGeom>
          <a:noFill/>
        </p:spPr>
        <p:txBody>
          <a:bodyPr wrap="square" rtlCol="0">
            <a:spAutoFit/>
          </a:bodyPr>
          <a:lstStyle/>
          <a:p>
            <a:pPr lvl="0" algn="just"/>
            <a:r>
              <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rPr>
              <a:t>Se tratan de acciones, procesos o proyectos necesarios para la consecución de una Estrategia.</a:t>
            </a:r>
          </a:p>
          <a:p>
            <a:pPr lvl="0" algn="just"/>
            <a:endPar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lvl="0" algn="just"/>
            <a:r>
              <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rPr>
              <a:t>Deben reflejar las actividades prioritarias que se llevarán a cabo a fin de concretar operativamente las estrategias, así como definir de forma más específica el tipo de trabajo que podría desarrollarse para implementarlas. </a:t>
            </a:r>
          </a:p>
          <a:p>
            <a:pPr lvl="0" algn="just"/>
            <a:endPar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lvl="0" algn="just"/>
            <a:r>
              <a:rPr lang="es-ES" dirty="0">
                <a:solidFill>
                  <a:prstClr val="black"/>
                </a:solidFill>
                <a:latin typeface="Verdana" panose="020B0604030504040204" pitchFamily="34" charset="0"/>
                <a:ea typeface="Verdana" panose="020B0604030504040204" pitchFamily="34" charset="0"/>
                <a:cs typeface="Times New Roman" panose="02020603050405020304" pitchFamily="18" charset="0"/>
              </a:rPr>
              <a:t> </a:t>
            </a:r>
            <a:endParaRPr lang="es-ES" b="1"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lvl="0" algn="ctr"/>
            <a:r>
              <a:rPr lang="es-ES" b="1" dirty="0">
                <a:solidFill>
                  <a:srgbClr val="FF0000"/>
                </a:solidFill>
                <a:latin typeface="Verdana" panose="020B0604030504040204" pitchFamily="34" charset="0"/>
                <a:ea typeface="Verdana" panose="020B0604030504040204" pitchFamily="34" charset="0"/>
                <a:cs typeface="Times New Roman" panose="02020603050405020304" pitchFamily="18" charset="0"/>
              </a:rPr>
              <a:t>Sustantivo derivado de un verbo </a:t>
            </a:r>
            <a:r>
              <a:rPr lang="es-ES" b="1" dirty="0">
                <a:solidFill>
                  <a:prstClr val="black"/>
                </a:solidFill>
                <a:latin typeface="Verdana" panose="020B0604030504040204" pitchFamily="34" charset="0"/>
                <a:ea typeface="Verdana" panose="020B0604030504040204" pitchFamily="34" charset="0"/>
                <a:cs typeface="Times New Roman" panose="02020603050405020304" pitchFamily="18" charset="0"/>
              </a:rPr>
              <a:t>+ </a:t>
            </a:r>
            <a:r>
              <a:rPr lang="es-ES" b="1" dirty="0">
                <a:solidFill>
                  <a:srgbClr val="0070C0"/>
                </a:solidFill>
                <a:latin typeface="Verdana" panose="020B0604030504040204" pitchFamily="34" charset="0"/>
                <a:ea typeface="Verdana" panose="020B0604030504040204" pitchFamily="34" charset="0"/>
                <a:cs typeface="Times New Roman" panose="02020603050405020304" pitchFamily="18" charset="0"/>
              </a:rPr>
              <a:t>¿Qué acción, proceso o proyecto? </a:t>
            </a:r>
            <a:r>
              <a:rPr lang="es-ES" b="1" dirty="0">
                <a:solidFill>
                  <a:prstClr val="black"/>
                </a:solidFill>
                <a:latin typeface="Verdana" panose="020B0604030504040204" pitchFamily="34" charset="0"/>
                <a:ea typeface="Verdana" panose="020B0604030504040204" pitchFamily="34" charset="0"/>
                <a:cs typeface="Times New Roman" panose="02020603050405020304" pitchFamily="18" charset="0"/>
              </a:rPr>
              <a:t>=LÍNEA DE ACCIÓN</a:t>
            </a:r>
          </a:p>
          <a:p>
            <a:pPr lvl="0" algn="ctr"/>
            <a:endParaRPr kumimoji="0" lang="es-ES"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lvl="0"/>
            <a:r>
              <a:rPr lang="es-ES" b="1" dirty="0">
                <a:solidFill>
                  <a:prstClr val="black"/>
                </a:solidFill>
                <a:latin typeface="Verdana" panose="020B0604030504040204" pitchFamily="34" charset="0"/>
                <a:ea typeface="Verdana" panose="020B0604030504040204" pitchFamily="34" charset="0"/>
                <a:cs typeface="Times New Roman" panose="02020603050405020304" pitchFamily="18" charset="0"/>
              </a:rPr>
              <a:t>Ejemplo:</a:t>
            </a:r>
          </a:p>
          <a:p>
            <a:pPr lvl="0" algn="just"/>
            <a:endParaRPr lang="es-ES" b="1"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lvl="0" algn="just"/>
            <a:r>
              <a:rPr lang="es-MX" dirty="0">
                <a:solidFill>
                  <a:prstClr val="black"/>
                </a:solidFill>
                <a:latin typeface="Verdana" panose="020B0604030504040204" pitchFamily="34" charset="0"/>
                <a:ea typeface="Verdana" panose="020B0604030504040204" pitchFamily="34" charset="0"/>
                <a:cs typeface="Times New Roman" panose="02020603050405020304" pitchFamily="18" charset="0"/>
              </a:rPr>
              <a:t>1. </a:t>
            </a:r>
            <a:r>
              <a:rPr lang="es-MX" dirty="0">
                <a:solidFill>
                  <a:srgbClr val="FF0000"/>
                </a:solidFill>
                <a:latin typeface="Verdana" panose="020B0604030504040204" pitchFamily="34" charset="0"/>
                <a:ea typeface="Verdana" panose="020B0604030504040204" pitchFamily="34" charset="0"/>
                <a:cs typeface="Times New Roman" panose="02020603050405020304" pitchFamily="18" charset="0"/>
              </a:rPr>
              <a:t>Adopción</a:t>
            </a:r>
            <a:r>
              <a:rPr lang="es-MX" dirty="0">
                <a:solidFill>
                  <a:prstClr val="black"/>
                </a:solidFill>
                <a:latin typeface="Verdana" panose="020B0604030504040204" pitchFamily="34" charset="0"/>
                <a:ea typeface="Verdana" panose="020B0604030504040204" pitchFamily="34" charset="0"/>
                <a:cs typeface="Times New Roman" panose="02020603050405020304" pitchFamily="18" charset="0"/>
              </a:rPr>
              <a:t> </a:t>
            </a:r>
            <a:r>
              <a:rPr lang="es-MX" dirty="0">
                <a:solidFill>
                  <a:srgbClr val="0070C0"/>
                </a:solidFill>
                <a:latin typeface="Verdana" panose="020B0604030504040204" pitchFamily="34" charset="0"/>
                <a:ea typeface="Verdana" panose="020B0604030504040204" pitchFamily="34" charset="0"/>
                <a:cs typeface="Times New Roman" panose="02020603050405020304" pitchFamily="18" charset="0"/>
              </a:rPr>
              <a:t>de la Metodología del Anexo Transversal Anticorrupción alineada a la Política Nacional y a las Políticas Estatales Anticorrupción.</a:t>
            </a:r>
          </a:p>
          <a:p>
            <a:pPr lvl="0" algn="just"/>
            <a:endParaRPr kumimoji="0" lang="es-MX"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lvl="0" algn="just"/>
            <a:r>
              <a:rPr lang="es-MX" dirty="0">
                <a:solidFill>
                  <a:prstClr val="black"/>
                </a:solidFill>
                <a:latin typeface="Verdana" panose="020B0604030504040204" pitchFamily="34" charset="0"/>
                <a:ea typeface="Verdana" panose="020B0604030504040204" pitchFamily="34" charset="0"/>
                <a:cs typeface="Times New Roman" panose="02020603050405020304" pitchFamily="18" charset="0"/>
              </a:rPr>
              <a:t>2. </a:t>
            </a:r>
            <a:r>
              <a:rPr lang="es-MX" dirty="0">
                <a:solidFill>
                  <a:srgbClr val="FF0000"/>
                </a:solidFill>
                <a:latin typeface="Verdana" panose="020B0604030504040204" pitchFamily="34" charset="0"/>
                <a:ea typeface="Verdana" panose="020B0604030504040204" pitchFamily="34" charset="0"/>
                <a:cs typeface="Times New Roman" panose="02020603050405020304" pitchFamily="18" charset="0"/>
              </a:rPr>
              <a:t>Elaboración y publicación </a:t>
            </a:r>
            <a:r>
              <a:rPr lang="es-MX" dirty="0">
                <a:solidFill>
                  <a:srgbClr val="0070C0"/>
                </a:solidFill>
                <a:latin typeface="Verdana" panose="020B0604030504040204" pitchFamily="34" charset="0"/>
                <a:ea typeface="Verdana" panose="020B0604030504040204" pitchFamily="34" charset="0"/>
                <a:cs typeface="Times New Roman" panose="02020603050405020304" pitchFamily="18" charset="0"/>
              </a:rPr>
              <a:t>de un informe anual de seguimiento del Anexo Transversal Anticorrupción de los presupuestos federal y estatales, con base en principios de transparencia y apertura gubernamental.</a:t>
            </a:r>
            <a:endParaRPr kumimoji="0" lang="es-ES" b="0" i="0" u="none"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EA33846-A04D-C0A8-953F-AF6120E7EF81}"/>
              </a:ext>
            </a:extLst>
          </p:cNvPr>
          <p:cNvSpPr txBox="1"/>
          <p:nvPr/>
        </p:nvSpPr>
        <p:spPr>
          <a:xfrm>
            <a:off x="2891554" y="322106"/>
            <a:ext cx="6360129" cy="461665"/>
          </a:xfrm>
          <a:prstGeom prst="rect">
            <a:avLst/>
          </a:prstGeom>
          <a:noFill/>
        </p:spPr>
        <p:txBody>
          <a:bodyPr wrap="square" rtlCol="0">
            <a:spAutoFit/>
          </a:body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effectLst/>
                <a:uLnTx/>
                <a:uFillTx/>
                <a:latin typeface="Verdana" panose="020B0604030504040204" pitchFamily="34" charset="0"/>
                <a:ea typeface="Verdana" panose="020B0604030504040204" pitchFamily="34" charset="0"/>
                <a:cs typeface="Poppins" pitchFamily="2" charset="77"/>
              </a:rPr>
              <a:t>ELABORAR</a:t>
            </a:r>
            <a:r>
              <a:rPr kumimoji="0" lang="en-US" sz="24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Poppins" pitchFamily="2" charset="77"/>
              </a:rPr>
              <a:t> </a:t>
            </a:r>
            <a:r>
              <a:rPr kumimoji="0" lang="en-US" sz="2400" b="1" i="0" u="none" strike="noStrike" kern="1200" cap="none" spc="0" normalizeH="0" baseline="0" noProof="0" dirty="0" err="1">
                <a:ln>
                  <a:noFill/>
                </a:ln>
                <a:effectLst/>
                <a:uLnTx/>
                <a:uFillTx/>
                <a:latin typeface="Verdana" panose="020B0604030504040204" pitchFamily="34" charset="0"/>
                <a:ea typeface="Verdana" panose="020B0604030504040204" pitchFamily="34" charset="0"/>
                <a:cs typeface="Poppins" pitchFamily="2" charset="77"/>
              </a:rPr>
              <a:t>LÍNEAS</a:t>
            </a:r>
            <a:r>
              <a:rPr kumimoji="0" lang="en-US" sz="24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Poppins" pitchFamily="2" charset="77"/>
              </a:rPr>
              <a:t> DE </a:t>
            </a:r>
            <a:r>
              <a:rPr kumimoji="0" lang="en-US" sz="2400" b="1" i="0" u="none" strike="noStrike" kern="1200" cap="none" spc="0" normalizeH="0" baseline="0" noProof="0" dirty="0" err="1">
                <a:ln>
                  <a:noFill/>
                </a:ln>
                <a:effectLst/>
                <a:uLnTx/>
                <a:uFillTx/>
                <a:latin typeface="Verdana" panose="020B0604030504040204" pitchFamily="34" charset="0"/>
                <a:ea typeface="Verdana" panose="020B0604030504040204" pitchFamily="34" charset="0"/>
                <a:cs typeface="Poppins" pitchFamily="2" charset="77"/>
              </a:rPr>
              <a:t>ACCIÓN</a:t>
            </a:r>
            <a:endParaRPr kumimoji="0" lang="en-US" sz="2400" b="1" i="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Poppins" pitchFamily="2" charset="77"/>
            </a:endParaRPr>
          </a:p>
        </p:txBody>
      </p:sp>
    </p:spTree>
    <p:extLst>
      <p:ext uri="{BB962C8B-B14F-4D97-AF65-F5344CB8AC3E}">
        <p14:creationId xmlns:p14="http://schemas.microsoft.com/office/powerpoint/2010/main" val="3914355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C2016E-75E3-ACA6-3A0D-84F288B5C8FD}"/>
              </a:ext>
            </a:extLst>
          </p:cNvPr>
          <p:cNvSpPr txBox="1"/>
          <p:nvPr/>
        </p:nvSpPr>
        <p:spPr>
          <a:xfrm>
            <a:off x="2681443" y="221970"/>
            <a:ext cx="6829114" cy="461665"/>
          </a:xfrm>
          <a:prstGeom prst="rect">
            <a:avLst/>
          </a:prstGeom>
          <a:noFill/>
        </p:spPr>
        <p:txBody>
          <a:bodyPr wrap="none" rtlCol="0">
            <a:spAutoFit/>
          </a:bodyPr>
          <a:lstStyle/>
          <a:p>
            <a:pPr algn="ctr" defTabSz="914217"/>
            <a:r>
              <a:rPr lang="en-US" sz="2400" b="1" dirty="0">
                <a:latin typeface="Verdana" panose="020B0604030504040204" pitchFamily="34" charset="0"/>
                <a:ea typeface="Verdana" panose="020B0604030504040204" pitchFamily="34" charset="0"/>
                <a:cs typeface="Poppins" pitchFamily="2" charset="77"/>
              </a:rPr>
              <a:t>CLASIFICACIÓN POR TIPO DE ACCIÓN</a:t>
            </a:r>
          </a:p>
        </p:txBody>
      </p:sp>
      <p:sp>
        <p:nvSpPr>
          <p:cNvPr id="16" name="CuadroTexto 15">
            <a:extLst>
              <a:ext uri="{FF2B5EF4-FFF2-40B4-BE49-F238E27FC236}">
                <a16:creationId xmlns:a16="http://schemas.microsoft.com/office/drawing/2014/main" id="{279B6B33-EB79-EE74-EF4E-2707BB527CF9}"/>
              </a:ext>
            </a:extLst>
          </p:cNvPr>
          <p:cNvSpPr txBox="1"/>
          <p:nvPr/>
        </p:nvSpPr>
        <p:spPr>
          <a:xfrm>
            <a:off x="1505185" y="4643456"/>
            <a:ext cx="9957471"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Times New Roman" panose="02020603050405020304" pitchFamily="18" charset="0"/>
              </a:rPr>
              <a:t>Requiere adecuación normativa interna: </a:t>
            </a:r>
            <a:r>
              <a:rPr lang="es-ES" dirty="0">
                <a:latin typeface="Verdana" panose="020B0604030504040204" pitchFamily="34" charset="0"/>
                <a:ea typeface="Verdana" panose="020B0604030504040204" pitchFamily="34" charset="0"/>
                <a:cs typeface="Times New Roman" panose="02020603050405020304" pitchFamily="18" charset="0"/>
              </a:rPr>
              <a:t>Línea de acción que necesita ser reconocida o especificada en reglamentos internos o manuales de organización.</a:t>
            </a:r>
            <a:endParaRPr lang="es-MX"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1" name="CuadroTexto 20">
            <a:extLst>
              <a:ext uri="{FF2B5EF4-FFF2-40B4-BE49-F238E27FC236}">
                <a16:creationId xmlns:a16="http://schemas.microsoft.com/office/drawing/2014/main" id="{512FC72F-E8D5-850C-B3C0-9C27B64AA81C}"/>
              </a:ext>
            </a:extLst>
          </p:cNvPr>
          <p:cNvSpPr txBox="1"/>
          <p:nvPr/>
        </p:nvSpPr>
        <p:spPr>
          <a:xfrm>
            <a:off x="1505184" y="1395965"/>
            <a:ext cx="9957469"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Times New Roman" panose="02020603050405020304" pitchFamily="18" charset="0"/>
              </a:rPr>
              <a:t>Requiere voluntad y trabajo técnico: </a:t>
            </a:r>
            <a:r>
              <a:rPr lang="es-ES" dirty="0">
                <a:latin typeface="Verdana" panose="020B0604030504040204" pitchFamily="34" charset="0"/>
                <a:ea typeface="Verdana" panose="020B0604030504040204" pitchFamily="34" charset="0"/>
                <a:cs typeface="Times New Roman" panose="02020603050405020304" pitchFamily="18" charset="0"/>
              </a:rPr>
              <a:t>Línea de acción que actualmente ya se realiza o se puede realizar al incorporarla como parte de las rutinas organizacionales cotidianas.</a:t>
            </a:r>
            <a:endParaRPr lang="es-MX"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2" name="CuadroTexto 21">
            <a:extLst>
              <a:ext uri="{FF2B5EF4-FFF2-40B4-BE49-F238E27FC236}">
                <a16:creationId xmlns:a16="http://schemas.microsoft.com/office/drawing/2014/main" id="{CEDA4F93-B38B-25D4-DA04-55086E6A084B}"/>
              </a:ext>
            </a:extLst>
          </p:cNvPr>
          <p:cNvSpPr txBox="1"/>
          <p:nvPr/>
        </p:nvSpPr>
        <p:spPr>
          <a:xfrm>
            <a:off x="1505185" y="5686276"/>
            <a:ext cx="10055443" cy="923330"/>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Times New Roman" panose="02020603050405020304" pitchFamily="18" charset="0"/>
              </a:rPr>
              <a:t>Requiere reforma legislativa:</a:t>
            </a:r>
            <a:r>
              <a:rPr lang="es-ES" dirty="0">
                <a:latin typeface="Verdana" panose="020B0604030504040204" pitchFamily="34" charset="0"/>
                <a:ea typeface="Verdana" panose="020B0604030504040204" pitchFamily="34" charset="0"/>
                <a:cs typeface="Times New Roman" panose="02020603050405020304" pitchFamily="18" charset="0"/>
              </a:rPr>
              <a:t> Línea de acción que requiere procesos legislativos para crear, reformar o adecuar leyes en la materia. En algunos casos las reformas son a nivel federal.</a:t>
            </a:r>
            <a:endParaRPr lang="es-MX"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41" name="CuadroTexto 40">
            <a:extLst>
              <a:ext uri="{FF2B5EF4-FFF2-40B4-BE49-F238E27FC236}">
                <a16:creationId xmlns:a16="http://schemas.microsoft.com/office/drawing/2014/main" id="{A9088B01-A5AF-557B-65F5-BCFD6E9D6F0C}"/>
              </a:ext>
            </a:extLst>
          </p:cNvPr>
          <p:cNvSpPr txBox="1"/>
          <p:nvPr/>
        </p:nvSpPr>
        <p:spPr>
          <a:xfrm>
            <a:off x="1505185" y="2530965"/>
            <a:ext cx="9957469"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Times New Roman" panose="02020603050405020304" pitchFamily="18" charset="0"/>
              </a:rPr>
              <a:t>No requiere adicional presupuesto: </a:t>
            </a:r>
            <a:r>
              <a:rPr lang="es-ES" dirty="0">
                <a:latin typeface="Verdana" panose="020B0604030504040204" pitchFamily="34" charset="0"/>
                <a:ea typeface="Verdana" panose="020B0604030504040204" pitchFamily="34" charset="0"/>
                <a:cs typeface="Times New Roman" panose="02020603050405020304" pitchFamily="18" charset="0"/>
              </a:rPr>
              <a:t>Línea de acción que no requiere recursos financieros adicionales a los presupuestados anualmente para su implementación.</a:t>
            </a:r>
            <a:endParaRPr lang="es-MX"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42" name="CuadroTexto 41">
            <a:extLst>
              <a:ext uri="{FF2B5EF4-FFF2-40B4-BE49-F238E27FC236}">
                <a16:creationId xmlns:a16="http://schemas.microsoft.com/office/drawing/2014/main" id="{23A260D5-04DE-1948-9C69-50345E29915E}"/>
              </a:ext>
            </a:extLst>
          </p:cNvPr>
          <p:cNvSpPr txBox="1"/>
          <p:nvPr/>
        </p:nvSpPr>
        <p:spPr>
          <a:xfrm>
            <a:off x="1505186" y="3600636"/>
            <a:ext cx="10055443" cy="646331"/>
          </a:xfrm>
          <a:prstGeom prst="rect">
            <a:avLst/>
          </a:prstGeom>
          <a:noFill/>
        </p:spPr>
        <p:txBody>
          <a:bodyPr wrap="square" rtlCol="0">
            <a:spAutoFit/>
          </a:bodyPr>
          <a:lstStyle/>
          <a:p>
            <a:pPr algn="just"/>
            <a:r>
              <a:rPr lang="es-ES" b="1" dirty="0">
                <a:latin typeface="Verdana" panose="020B0604030504040204" pitchFamily="34" charset="0"/>
                <a:ea typeface="Verdana" panose="020B0604030504040204" pitchFamily="34" charset="0"/>
                <a:cs typeface="Times New Roman" panose="02020603050405020304" pitchFamily="18" charset="0"/>
              </a:rPr>
              <a:t>Sí requiere presupuesto adicional: </a:t>
            </a:r>
            <a:r>
              <a:rPr lang="es-ES" dirty="0">
                <a:latin typeface="Verdana" panose="020B0604030504040204" pitchFamily="34" charset="0"/>
                <a:ea typeface="Verdana" panose="020B0604030504040204" pitchFamily="34" charset="0"/>
                <a:cs typeface="Times New Roman" panose="02020603050405020304" pitchFamily="18" charset="0"/>
              </a:rPr>
              <a:t>Línea de acción que necesita generar capacidades organizacionales adicionales para su implementación.</a:t>
            </a:r>
            <a:endParaRPr lang="es-MX"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12" name="Freeform 424">
            <a:extLst>
              <a:ext uri="{FF2B5EF4-FFF2-40B4-BE49-F238E27FC236}">
                <a16:creationId xmlns:a16="http://schemas.microsoft.com/office/drawing/2014/main" id="{BB74FF59-23F8-1485-314D-8FF3901C13CF}"/>
              </a:ext>
            </a:extLst>
          </p:cNvPr>
          <p:cNvSpPr>
            <a:spLocks noChangeArrowheads="1"/>
          </p:cNvSpPr>
          <p:nvPr/>
        </p:nvSpPr>
        <p:spPr bwMode="auto">
          <a:xfrm>
            <a:off x="443326" y="5766681"/>
            <a:ext cx="468000" cy="468000"/>
          </a:xfrm>
          <a:custGeom>
            <a:avLst/>
            <a:gdLst>
              <a:gd name="T0" fmla="*/ 1232 w 1313"/>
              <a:gd name="T1" fmla="*/ 800 h 1313"/>
              <a:gd name="T2" fmla="*/ 800 w 1313"/>
              <a:gd name="T3" fmla="*/ 1233 h 1313"/>
              <a:gd name="T4" fmla="*/ 800 w 1313"/>
              <a:gd name="T5" fmla="*/ 1233 h 1313"/>
              <a:gd name="T6" fmla="*/ 512 w 1313"/>
              <a:gd name="T7" fmla="*/ 1233 h 1313"/>
              <a:gd name="T8" fmla="*/ 80 w 1313"/>
              <a:gd name="T9" fmla="*/ 800 h 1313"/>
              <a:gd name="T10" fmla="*/ 80 w 1313"/>
              <a:gd name="T11" fmla="*/ 800 h 1313"/>
              <a:gd name="T12" fmla="*/ 80 w 1313"/>
              <a:gd name="T13" fmla="*/ 511 h 1313"/>
              <a:gd name="T14" fmla="*/ 512 w 1313"/>
              <a:gd name="T15" fmla="*/ 79 h 1313"/>
              <a:gd name="T16" fmla="*/ 512 w 1313"/>
              <a:gd name="T17" fmla="*/ 79 h 1313"/>
              <a:gd name="T18" fmla="*/ 800 w 1313"/>
              <a:gd name="T19" fmla="*/ 79 h 1313"/>
              <a:gd name="T20" fmla="*/ 1232 w 1313"/>
              <a:gd name="T21" fmla="*/ 511 h 1313"/>
              <a:gd name="T22" fmla="*/ 1232 w 1313"/>
              <a:gd name="T23" fmla="*/ 511 h 1313"/>
              <a:gd name="T24" fmla="*/ 1232 w 1313"/>
              <a:gd name="T25" fmla="*/ 800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3" h="1313">
                <a:moveTo>
                  <a:pt x="1232" y="800"/>
                </a:moveTo>
                <a:lnTo>
                  <a:pt x="800" y="1233"/>
                </a:lnTo>
                <a:lnTo>
                  <a:pt x="800" y="1233"/>
                </a:lnTo>
                <a:cubicBezTo>
                  <a:pt x="721" y="1312"/>
                  <a:pt x="592" y="1312"/>
                  <a:pt x="512" y="1233"/>
                </a:cubicBezTo>
                <a:lnTo>
                  <a:pt x="80" y="800"/>
                </a:lnTo>
                <a:lnTo>
                  <a:pt x="80" y="800"/>
                </a:lnTo>
                <a:cubicBezTo>
                  <a:pt x="0" y="720"/>
                  <a:pt x="0" y="591"/>
                  <a:pt x="80" y="511"/>
                </a:cubicBezTo>
                <a:lnTo>
                  <a:pt x="512" y="79"/>
                </a:lnTo>
                <a:lnTo>
                  <a:pt x="512" y="79"/>
                </a:lnTo>
                <a:cubicBezTo>
                  <a:pt x="592" y="0"/>
                  <a:pt x="721" y="0"/>
                  <a:pt x="800" y="79"/>
                </a:cubicBezTo>
                <a:lnTo>
                  <a:pt x="1232" y="511"/>
                </a:lnTo>
                <a:lnTo>
                  <a:pt x="1232" y="511"/>
                </a:lnTo>
                <a:cubicBezTo>
                  <a:pt x="1312" y="591"/>
                  <a:pt x="1312" y="720"/>
                  <a:pt x="1232" y="800"/>
                </a:cubicBezTo>
              </a:path>
            </a:pathLst>
          </a:custGeom>
          <a:solidFill>
            <a:srgbClr val="CC3300"/>
          </a:solidFill>
          <a:ln>
            <a:noFill/>
          </a:ln>
          <a:effectLst/>
        </p:spPr>
        <p:txBody>
          <a:bodyPr wrap="none" anchor="ct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en-US" sz="6530" b="0" i="0" u="none" strike="noStrike" kern="0" cap="none" spc="0" normalizeH="0" baseline="0" noProof="0" dirty="0">
              <a:ln>
                <a:noFill/>
              </a:ln>
              <a:solidFill>
                <a:srgbClr val="737572"/>
              </a:solidFill>
              <a:effectLst/>
              <a:uLnTx/>
              <a:uFillTx/>
              <a:latin typeface="Lato Light" panose="020F0502020204030203" pitchFamily="34" charset="0"/>
            </a:endParaRPr>
          </a:p>
        </p:txBody>
      </p:sp>
      <p:sp>
        <p:nvSpPr>
          <p:cNvPr id="13" name="Freeform 424">
            <a:extLst>
              <a:ext uri="{FF2B5EF4-FFF2-40B4-BE49-F238E27FC236}">
                <a16:creationId xmlns:a16="http://schemas.microsoft.com/office/drawing/2014/main" id="{96AEB4A3-53F2-F24E-4194-C11572D5FC86}"/>
              </a:ext>
            </a:extLst>
          </p:cNvPr>
          <p:cNvSpPr>
            <a:spLocks noChangeArrowheads="1"/>
          </p:cNvSpPr>
          <p:nvPr/>
        </p:nvSpPr>
        <p:spPr bwMode="auto">
          <a:xfrm>
            <a:off x="443326" y="4643456"/>
            <a:ext cx="468000" cy="468000"/>
          </a:xfrm>
          <a:custGeom>
            <a:avLst/>
            <a:gdLst>
              <a:gd name="T0" fmla="*/ 1232 w 1313"/>
              <a:gd name="T1" fmla="*/ 800 h 1313"/>
              <a:gd name="T2" fmla="*/ 800 w 1313"/>
              <a:gd name="T3" fmla="*/ 1233 h 1313"/>
              <a:gd name="T4" fmla="*/ 800 w 1313"/>
              <a:gd name="T5" fmla="*/ 1233 h 1313"/>
              <a:gd name="T6" fmla="*/ 512 w 1313"/>
              <a:gd name="T7" fmla="*/ 1233 h 1313"/>
              <a:gd name="T8" fmla="*/ 80 w 1313"/>
              <a:gd name="T9" fmla="*/ 800 h 1313"/>
              <a:gd name="T10" fmla="*/ 80 w 1313"/>
              <a:gd name="T11" fmla="*/ 800 h 1313"/>
              <a:gd name="T12" fmla="*/ 80 w 1313"/>
              <a:gd name="T13" fmla="*/ 511 h 1313"/>
              <a:gd name="T14" fmla="*/ 512 w 1313"/>
              <a:gd name="T15" fmla="*/ 79 h 1313"/>
              <a:gd name="T16" fmla="*/ 512 w 1313"/>
              <a:gd name="T17" fmla="*/ 79 h 1313"/>
              <a:gd name="T18" fmla="*/ 800 w 1313"/>
              <a:gd name="T19" fmla="*/ 79 h 1313"/>
              <a:gd name="T20" fmla="*/ 1232 w 1313"/>
              <a:gd name="T21" fmla="*/ 511 h 1313"/>
              <a:gd name="T22" fmla="*/ 1232 w 1313"/>
              <a:gd name="T23" fmla="*/ 511 h 1313"/>
              <a:gd name="T24" fmla="*/ 1232 w 1313"/>
              <a:gd name="T25" fmla="*/ 800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3" h="1313">
                <a:moveTo>
                  <a:pt x="1232" y="800"/>
                </a:moveTo>
                <a:lnTo>
                  <a:pt x="800" y="1233"/>
                </a:lnTo>
                <a:lnTo>
                  <a:pt x="800" y="1233"/>
                </a:lnTo>
                <a:cubicBezTo>
                  <a:pt x="721" y="1312"/>
                  <a:pt x="592" y="1312"/>
                  <a:pt x="512" y="1233"/>
                </a:cubicBezTo>
                <a:lnTo>
                  <a:pt x="80" y="800"/>
                </a:lnTo>
                <a:lnTo>
                  <a:pt x="80" y="800"/>
                </a:lnTo>
                <a:cubicBezTo>
                  <a:pt x="0" y="720"/>
                  <a:pt x="0" y="591"/>
                  <a:pt x="80" y="511"/>
                </a:cubicBezTo>
                <a:lnTo>
                  <a:pt x="512" y="79"/>
                </a:lnTo>
                <a:lnTo>
                  <a:pt x="512" y="79"/>
                </a:lnTo>
                <a:cubicBezTo>
                  <a:pt x="592" y="0"/>
                  <a:pt x="721" y="0"/>
                  <a:pt x="800" y="79"/>
                </a:cubicBezTo>
                <a:lnTo>
                  <a:pt x="1232" y="511"/>
                </a:lnTo>
                <a:lnTo>
                  <a:pt x="1232" y="511"/>
                </a:lnTo>
                <a:cubicBezTo>
                  <a:pt x="1312" y="591"/>
                  <a:pt x="1312" y="720"/>
                  <a:pt x="1232" y="800"/>
                </a:cubicBezTo>
              </a:path>
            </a:pathLst>
          </a:custGeom>
          <a:solidFill>
            <a:srgbClr val="ED7D31"/>
          </a:solidFill>
          <a:ln>
            <a:noFill/>
          </a:ln>
          <a:effectLst/>
        </p:spPr>
        <p:txBody>
          <a:bodyPr wrap="none" anchor="ct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en-US" sz="6530" b="0" i="0" u="none" strike="noStrike" kern="0" cap="none" spc="0" normalizeH="0" baseline="0" noProof="0" dirty="0">
              <a:ln>
                <a:noFill/>
              </a:ln>
              <a:solidFill>
                <a:srgbClr val="737572"/>
              </a:solidFill>
              <a:effectLst/>
              <a:uLnTx/>
              <a:uFillTx/>
              <a:latin typeface="Lato Light" panose="020F0502020204030203" pitchFamily="34" charset="0"/>
            </a:endParaRPr>
          </a:p>
        </p:txBody>
      </p:sp>
      <p:sp>
        <p:nvSpPr>
          <p:cNvPr id="14" name="Freeform 424">
            <a:extLst>
              <a:ext uri="{FF2B5EF4-FFF2-40B4-BE49-F238E27FC236}">
                <a16:creationId xmlns:a16="http://schemas.microsoft.com/office/drawing/2014/main" id="{34545D2A-7CB7-18D1-4059-75D5AD564E43}"/>
              </a:ext>
            </a:extLst>
          </p:cNvPr>
          <p:cNvSpPr>
            <a:spLocks noChangeArrowheads="1"/>
          </p:cNvSpPr>
          <p:nvPr/>
        </p:nvSpPr>
        <p:spPr bwMode="auto">
          <a:xfrm>
            <a:off x="467493" y="3520231"/>
            <a:ext cx="468000" cy="468000"/>
          </a:xfrm>
          <a:custGeom>
            <a:avLst/>
            <a:gdLst>
              <a:gd name="T0" fmla="*/ 1232 w 1313"/>
              <a:gd name="T1" fmla="*/ 800 h 1313"/>
              <a:gd name="T2" fmla="*/ 800 w 1313"/>
              <a:gd name="T3" fmla="*/ 1233 h 1313"/>
              <a:gd name="T4" fmla="*/ 800 w 1313"/>
              <a:gd name="T5" fmla="*/ 1233 h 1313"/>
              <a:gd name="T6" fmla="*/ 512 w 1313"/>
              <a:gd name="T7" fmla="*/ 1233 h 1313"/>
              <a:gd name="T8" fmla="*/ 80 w 1313"/>
              <a:gd name="T9" fmla="*/ 800 h 1313"/>
              <a:gd name="T10" fmla="*/ 80 w 1313"/>
              <a:gd name="T11" fmla="*/ 800 h 1313"/>
              <a:gd name="T12" fmla="*/ 80 w 1313"/>
              <a:gd name="T13" fmla="*/ 511 h 1313"/>
              <a:gd name="T14" fmla="*/ 512 w 1313"/>
              <a:gd name="T15" fmla="*/ 79 h 1313"/>
              <a:gd name="T16" fmla="*/ 512 w 1313"/>
              <a:gd name="T17" fmla="*/ 79 h 1313"/>
              <a:gd name="T18" fmla="*/ 800 w 1313"/>
              <a:gd name="T19" fmla="*/ 79 h 1313"/>
              <a:gd name="T20" fmla="*/ 1232 w 1313"/>
              <a:gd name="T21" fmla="*/ 511 h 1313"/>
              <a:gd name="T22" fmla="*/ 1232 w 1313"/>
              <a:gd name="T23" fmla="*/ 511 h 1313"/>
              <a:gd name="T24" fmla="*/ 1232 w 1313"/>
              <a:gd name="T25" fmla="*/ 800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3" h="1313">
                <a:moveTo>
                  <a:pt x="1232" y="800"/>
                </a:moveTo>
                <a:lnTo>
                  <a:pt x="800" y="1233"/>
                </a:lnTo>
                <a:lnTo>
                  <a:pt x="800" y="1233"/>
                </a:lnTo>
                <a:cubicBezTo>
                  <a:pt x="721" y="1312"/>
                  <a:pt x="592" y="1312"/>
                  <a:pt x="512" y="1233"/>
                </a:cubicBezTo>
                <a:lnTo>
                  <a:pt x="80" y="800"/>
                </a:lnTo>
                <a:lnTo>
                  <a:pt x="80" y="800"/>
                </a:lnTo>
                <a:cubicBezTo>
                  <a:pt x="0" y="720"/>
                  <a:pt x="0" y="591"/>
                  <a:pt x="80" y="511"/>
                </a:cubicBezTo>
                <a:lnTo>
                  <a:pt x="512" y="79"/>
                </a:lnTo>
                <a:lnTo>
                  <a:pt x="512" y="79"/>
                </a:lnTo>
                <a:cubicBezTo>
                  <a:pt x="592" y="0"/>
                  <a:pt x="721" y="0"/>
                  <a:pt x="800" y="79"/>
                </a:cubicBezTo>
                <a:lnTo>
                  <a:pt x="1232" y="511"/>
                </a:lnTo>
                <a:lnTo>
                  <a:pt x="1232" y="511"/>
                </a:lnTo>
                <a:cubicBezTo>
                  <a:pt x="1312" y="591"/>
                  <a:pt x="1312" y="720"/>
                  <a:pt x="1232" y="800"/>
                </a:cubicBezTo>
              </a:path>
            </a:pathLst>
          </a:custGeom>
          <a:solidFill>
            <a:srgbClr val="FFC000"/>
          </a:solidFill>
          <a:ln>
            <a:noFill/>
          </a:ln>
          <a:effectLst/>
        </p:spPr>
        <p:txBody>
          <a:bodyPr wrap="none" anchor="ct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en-US" sz="6530" b="0" i="0" u="none" strike="noStrike" kern="0" cap="none" spc="0" normalizeH="0" baseline="0" noProof="0" dirty="0">
              <a:ln>
                <a:noFill/>
              </a:ln>
              <a:solidFill>
                <a:srgbClr val="737572"/>
              </a:solidFill>
              <a:effectLst/>
              <a:uLnTx/>
              <a:uFillTx/>
              <a:latin typeface="Lato Light" panose="020F0502020204030203" pitchFamily="34" charset="0"/>
            </a:endParaRPr>
          </a:p>
        </p:txBody>
      </p:sp>
      <p:sp>
        <p:nvSpPr>
          <p:cNvPr id="15" name="Freeform 424">
            <a:extLst>
              <a:ext uri="{FF2B5EF4-FFF2-40B4-BE49-F238E27FC236}">
                <a16:creationId xmlns:a16="http://schemas.microsoft.com/office/drawing/2014/main" id="{8C5F57F3-AAE3-F9D0-7D2D-6A5920C34329}"/>
              </a:ext>
            </a:extLst>
          </p:cNvPr>
          <p:cNvSpPr>
            <a:spLocks noChangeArrowheads="1"/>
          </p:cNvSpPr>
          <p:nvPr/>
        </p:nvSpPr>
        <p:spPr bwMode="auto">
          <a:xfrm>
            <a:off x="486783" y="2451347"/>
            <a:ext cx="468000" cy="468000"/>
          </a:xfrm>
          <a:custGeom>
            <a:avLst/>
            <a:gdLst>
              <a:gd name="T0" fmla="*/ 1232 w 1313"/>
              <a:gd name="T1" fmla="*/ 800 h 1313"/>
              <a:gd name="T2" fmla="*/ 800 w 1313"/>
              <a:gd name="T3" fmla="*/ 1233 h 1313"/>
              <a:gd name="T4" fmla="*/ 800 w 1313"/>
              <a:gd name="T5" fmla="*/ 1233 h 1313"/>
              <a:gd name="T6" fmla="*/ 512 w 1313"/>
              <a:gd name="T7" fmla="*/ 1233 h 1313"/>
              <a:gd name="T8" fmla="*/ 80 w 1313"/>
              <a:gd name="T9" fmla="*/ 800 h 1313"/>
              <a:gd name="T10" fmla="*/ 80 w 1313"/>
              <a:gd name="T11" fmla="*/ 800 h 1313"/>
              <a:gd name="T12" fmla="*/ 80 w 1313"/>
              <a:gd name="T13" fmla="*/ 511 h 1313"/>
              <a:gd name="T14" fmla="*/ 512 w 1313"/>
              <a:gd name="T15" fmla="*/ 79 h 1313"/>
              <a:gd name="T16" fmla="*/ 512 w 1313"/>
              <a:gd name="T17" fmla="*/ 79 h 1313"/>
              <a:gd name="T18" fmla="*/ 800 w 1313"/>
              <a:gd name="T19" fmla="*/ 79 h 1313"/>
              <a:gd name="T20" fmla="*/ 1232 w 1313"/>
              <a:gd name="T21" fmla="*/ 511 h 1313"/>
              <a:gd name="T22" fmla="*/ 1232 w 1313"/>
              <a:gd name="T23" fmla="*/ 511 h 1313"/>
              <a:gd name="T24" fmla="*/ 1232 w 1313"/>
              <a:gd name="T25" fmla="*/ 800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3" h="1313">
                <a:moveTo>
                  <a:pt x="1232" y="800"/>
                </a:moveTo>
                <a:lnTo>
                  <a:pt x="800" y="1233"/>
                </a:lnTo>
                <a:lnTo>
                  <a:pt x="800" y="1233"/>
                </a:lnTo>
                <a:cubicBezTo>
                  <a:pt x="721" y="1312"/>
                  <a:pt x="592" y="1312"/>
                  <a:pt x="512" y="1233"/>
                </a:cubicBezTo>
                <a:lnTo>
                  <a:pt x="80" y="800"/>
                </a:lnTo>
                <a:lnTo>
                  <a:pt x="80" y="800"/>
                </a:lnTo>
                <a:cubicBezTo>
                  <a:pt x="0" y="720"/>
                  <a:pt x="0" y="591"/>
                  <a:pt x="80" y="511"/>
                </a:cubicBezTo>
                <a:lnTo>
                  <a:pt x="512" y="79"/>
                </a:lnTo>
                <a:lnTo>
                  <a:pt x="512" y="79"/>
                </a:lnTo>
                <a:cubicBezTo>
                  <a:pt x="592" y="0"/>
                  <a:pt x="721" y="0"/>
                  <a:pt x="800" y="79"/>
                </a:cubicBezTo>
                <a:lnTo>
                  <a:pt x="1232" y="511"/>
                </a:lnTo>
                <a:lnTo>
                  <a:pt x="1232" y="511"/>
                </a:lnTo>
                <a:cubicBezTo>
                  <a:pt x="1312" y="591"/>
                  <a:pt x="1312" y="720"/>
                  <a:pt x="1232" y="800"/>
                </a:cubicBezTo>
              </a:path>
            </a:pathLst>
          </a:custGeom>
          <a:solidFill>
            <a:srgbClr val="00B050"/>
          </a:solidFill>
          <a:ln>
            <a:solidFill>
              <a:srgbClr val="00B050"/>
            </a:solidFill>
          </a:ln>
          <a:effectLst/>
        </p:spPr>
        <p:txBody>
          <a:bodyPr wrap="none" anchor="ct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en-US" sz="6530" b="0" i="0" u="none" strike="noStrike" kern="0" cap="none" spc="0" normalizeH="0" baseline="0" noProof="0" dirty="0">
              <a:ln>
                <a:noFill/>
              </a:ln>
              <a:solidFill>
                <a:srgbClr val="737572"/>
              </a:solidFill>
              <a:effectLst/>
              <a:uLnTx/>
              <a:uFillTx/>
              <a:latin typeface="Lato Light" panose="020F0502020204030203" pitchFamily="34" charset="0"/>
            </a:endParaRPr>
          </a:p>
        </p:txBody>
      </p:sp>
      <p:sp>
        <p:nvSpPr>
          <p:cNvPr id="17" name="Freeform 424">
            <a:extLst>
              <a:ext uri="{FF2B5EF4-FFF2-40B4-BE49-F238E27FC236}">
                <a16:creationId xmlns:a16="http://schemas.microsoft.com/office/drawing/2014/main" id="{F09C6C12-864E-9CC5-94C0-25E4FB06BCF0}"/>
              </a:ext>
            </a:extLst>
          </p:cNvPr>
          <p:cNvSpPr>
            <a:spLocks noChangeArrowheads="1"/>
          </p:cNvSpPr>
          <p:nvPr/>
        </p:nvSpPr>
        <p:spPr bwMode="auto">
          <a:xfrm>
            <a:off x="486783" y="1422508"/>
            <a:ext cx="468000" cy="468000"/>
          </a:xfrm>
          <a:custGeom>
            <a:avLst/>
            <a:gdLst>
              <a:gd name="T0" fmla="*/ 1232 w 1313"/>
              <a:gd name="T1" fmla="*/ 800 h 1313"/>
              <a:gd name="T2" fmla="*/ 800 w 1313"/>
              <a:gd name="T3" fmla="*/ 1233 h 1313"/>
              <a:gd name="T4" fmla="*/ 800 w 1313"/>
              <a:gd name="T5" fmla="*/ 1233 h 1313"/>
              <a:gd name="T6" fmla="*/ 512 w 1313"/>
              <a:gd name="T7" fmla="*/ 1233 h 1313"/>
              <a:gd name="T8" fmla="*/ 80 w 1313"/>
              <a:gd name="T9" fmla="*/ 800 h 1313"/>
              <a:gd name="T10" fmla="*/ 80 w 1313"/>
              <a:gd name="T11" fmla="*/ 800 h 1313"/>
              <a:gd name="T12" fmla="*/ 80 w 1313"/>
              <a:gd name="T13" fmla="*/ 511 h 1313"/>
              <a:gd name="T14" fmla="*/ 512 w 1313"/>
              <a:gd name="T15" fmla="*/ 79 h 1313"/>
              <a:gd name="T16" fmla="*/ 512 w 1313"/>
              <a:gd name="T17" fmla="*/ 79 h 1313"/>
              <a:gd name="T18" fmla="*/ 800 w 1313"/>
              <a:gd name="T19" fmla="*/ 79 h 1313"/>
              <a:gd name="T20" fmla="*/ 1232 w 1313"/>
              <a:gd name="T21" fmla="*/ 511 h 1313"/>
              <a:gd name="T22" fmla="*/ 1232 w 1313"/>
              <a:gd name="T23" fmla="*/ 511 h 1313"/>
              <a:gd name="T24" fmla="*/ 1232 w 1313"/>
              <a:gd name="T25" fmla="*/ 800 h 1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3" h="1313">
                <a:moveTo>
                  <a:pt x="1232" y="800"/>
                </a:moveTo>
                <a:lnTo>
                  <a:pt x="800" y="1233"/>
                </a:lnTo>
                <a:lnTo>
                  <a:pt x="800" y="1233"/>
                </a:lnTo>
                <a:cubicBezTo>
                  <a:pt x="721" y="1312"/>
                  <a:pt x="592" y="1312"/>
                  <a:pt x="512" y="1233"/>
                </a:cubicBezTo>
                <a:lnTo>
                  <a:pt x="80" y="800"/>
                </a:lnTo>
                <a:lnTo>
                  <a:pt x="80" y="800"/>
                </a:lnTo>
                <a:cubicBezTo>
                  <a:pt x="0" y="720"/>
                  <a:pt x="0" y="591"/>
                  <a:pt x="80" y="511"/>
                </a:cubicBezTo>
                <a:lnTo>
                  <a:pt x="512" y="79"/>
                </a:lnTo>
                <a:lnTo>
                  <a:pt x="512" y="79"/>
                </a:lnTo>
                <a:cubicBezTo>
                  <a:pt x="592" y="0"/>
                  <a:pt x="721" y="0"/>
                  <a:pt x="800" y="79"/>
                </a:cubicBezTo>
                <a:lnTo>
                  <a:pt x="1232" y="511"/>
                </a:lnTo>
                <a:lnTo>
                  <a:pt x="1232" y="511"/>
                </a:lnTo>
                <a:cubicBezTo>
                  <a:pt x="1312" y="591"/>
                  <a:pt x="1312" y="720"/>
                  <a:pt x="1232" y="800"/>
                </a:cubicBezTo>
              </a:path>
            </a:pathLst>
          </a:custGeom>
          <a:solidFill>
            <a:srgbClr val="5DCE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defTabSz="1828434" eaLnBrk="1" fontAlgn="auto" latinLnBrk="0" hangingPunct="1">
              <a:lnSpc>
                <a:spcPct val="100000"/>
              </a:lnSpc>
              <a:spcBef>
                <a:spcPts val="0"/>
              </a:spcBef>
              <a:spcAft>
                <a:spcPts val="0"/>
              </a:spcAft>
              <a:buClrTx/>
              <a:buSzTx/>
              <a:buFontTx/>
              <a:buNone/>
              <a:tabLst/>
              <a:defRPr/>
            </a:pPr>
            <a:endParaRPr kumimoji="0" lang="en-US" sz="6530" b="0" i="0" u="none" strike="noStrike" kern="0" cap="none" spc="0" normalizeH="0" baseline="0" noProof="0" dirty="0">
              <a:ln>
                <a:noFill/>
              </a:ln>
              <a:solidFill>
                <a:srgbClr val="737572"/>
              </a:solidFill>
              <a:effectLst/>
              <a:uLnTx/>
              <a:uFillTx/>
              <a:latin typeface="Lato Light" panose="020F0502020204030203" pitchFamily="34" charset="0"/>
            </a:endParaRPr>
          </a:p>
        </p:txBody>
      </p:sp>
    </p:spTree>
    <p:extLst>
      <p:ext uri="{BB962C8B-B14F-4D97-AF65-F5344CB8AC3E}">
        <p14:creationId xmlns:p14="http://schemas.microsoft.com/office/powerpoint/2010/main" val="111818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1000"/>
                                        <p:tgtEl>
                                          <p:spTgt spid="41"/>
                                        </p:tgtEl>
                                      </p:cBhvr>
                                    </p:animEffect>
                                    <p:anim calcmode="lin" valueType="num">
                                      <p:cBhvr>
                                        <p:cTn id="23" dur="1000" fill="hold"/>
                                        <p:tgtEl>
                                          <p:spTgt spid="41"/>
                                        </p:tgtEl>
                                        <p:attrNameLst>
                                          <p:attrName>ppt_x</p:attrName>
                                        </p:attrNameLst>
                                      </p:cBhvr>
                                      <p:tavLst>
                                        <p:tav tm="0">
                                          <p:val>
                                            <p:strVal val="#ppt_x"/>
                                          </p:val>
                                        </p:tav>
                                        <p:tav tm="100000">
                                          <p:val>
                                            <p:strVal val="#ppt_x"/>
                                          </p:val>
                                        </p:tav>
                                      </p:tavLst>
                                    </p:anim>
                                    <p:anim calcmode="lin" valueType="num">
                                      <p:cBhvr>
                                        <p:cTn id="24" dur="1000" fill="hold"/>
                                        <p:tgtEl>
                                          <p:spTgt spid="4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1000"/>
                                        <p:tgtEl>
                                          <p:spTgt spid="42"/>
                                        </p:tgtEl>
                                      </p:cBhvr>
                                    </p:animEffect>
                                    <p:anim calcmode="lin" valueType="num">
                                      <p:cBhvr>
                                        <p:cTn id="28" dur="1000" fill="hold"/>
                                        <p:tgtEl>
                                          <p:spTgt spid="42"/>
                                        </p:tgtEl>
                                        <p:attrNameLst>
                                          <p:attrName>ppt_x</p:attrName>
                                        </p:attrNameLst>
                                      </p:cBhvr>
                                      <p:tavLst>
                                        <p:tav tm="0">
                                          <p:val>
                                            <p:strVal val="#ppt_x"/>
                                          </p:val>
                                        </p:tav>
                                        <p:tav tm="100000">
                                          <p:val>
                                            <p:strVal val="#ppt_x"/>
                                          </p:val>
                                        </p:tav>
                                      </p:tavLst>
                                    </p:anim>
                                    <p:anim calcmode="lin" valueType="num">
                                      <p:cBhvr>
                                        <p:cTn id="29"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p:bldP spid="22" grpId="0"/>
      <p:bldP spid="41" grpId="0"/>
      <p:bldP spid="4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4463551-E522-1446-9B13-4D5C7EBF296D}"/>
              </a:ext>
            </a:extLst>
          </p:cNvPr>
          <p:cNvSpPr/>
          <p:nvPr/>
        </p:nvSpPr>
        <p:spPr>
          <a:xfrm>
            <a:off x="545944" y="1261046"/>
            <a:ext cx="2268000" cy="720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Elaboran estrategias y líneas de acción</a:t>
            </a:r>
          </a:p>
        </p:txBody>
      </p:sp>
      <p:sp>
        <p:nvSpPr>
          <p:cNvPr id="5" name="Rectángulo 4">
            <a:extLst>
              <a:ext uri="{FF2B5EF4-FFF2-40B4-BE49-F238E27FC236}">
                <a16:creationId xmlns:a16="http://schemas.microsoft.com/office/drawing/2014/main" id="{18CCF800-14CB-4EA9-0B14-17EF341A39A3}"/>
              </a:ext>
            </a:extLst>
          </p:cNvPr>
          <p:cNvSpPr/>
          <p:nvPr/>
        </p:nvSpPr>
        <p:spPr>
          <a:xfrm>
            <a:off x="542512" y="2094913"/>
            <a:ext cx="2268000" cy="720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Realizan ajustes a las estrategias y líneas de acción</a:t>
            </a:r>
          </a:p>
        </p:txBody>
      </p:sp>
      <p:sp>
        <p:nvSpPr>
          <p:cNvPr id="7" name="Rectángulo 6">
            <a:extLst>
              <a:ext uri="{FF2B5EF4-FFF2-40B4-BE49-F238E27FC236}">
                <a16:creationId xmlns:a16="http://schemas.microsoft.com/office/drawing/2014/main" id="{CABA6DFA-6FBE-D894-DCDB-59C144F1AB0C}"/>
              </a:ext>
            </a:extLst>
          </p:cNvPr>
          <p:cNvSpPr/>
          <p:nvPr/>
        </p:nvSpPr>
        <p:spPr>
          <a:xfrm>
            <a:off x="542512" y="3066232"/>
            <a:ext cx="2268000" cy="720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Elaboran indicadores de gestión</a:t>
            </a:r>
          </a:p>
        </p:txBody>
      </p:sp>
      <p:sp>
        <p:nvSpPr>
          <p:cNvPr id="8" name="Rectángulo 7">
            <a:extLst>
              <a:ext uri="{FF2B5EF4-FFF2-40B4-BE49-F238E27FC236}">
                <a16:creationId xmlns:a16="http://schemas.microsoft.com/office/drawing/2014/main" id="{5187B9D4-8E15-497C-8CCD-809C1BEE81C6}"/>
              </a:ext>
            </a:extLst>
          </p:cNvPr>
          <p:cNvSpPr/>
          <p:nvPr/>
        </p:nvSpPr>
        <p:spPr>
          <a:xfrm>
            <a:off x="3613908" y="4130177"/>
            <a:ext cx="2268000" cy="720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Elaboran indicadores estratégicos</a:t>
            </a:r>
          </a:p>
        </p:txBody>
      </p:sp>
      <p:sp>
        <p:nvSpPr>
          <p:cNvPr id="9" name="Rectángulo 8">
            <a:extLst>
              <a:ext uri="{FF2B5EF4-FFF2-40B4-BE49-F238E27FC236}">
                <a16:creationId xmlns:a16="http://schemas.microsoft.com/office/drawing/2014/main" id="{2DB893B7-9985-9B61-BF6F-932EDB60DD8D}"/>
              </a:ext>
            </a:extLst>
          </p:cNvPr>
          <p:cNvSpPr/>
          <p:nvPr/>
        </p:nvSpPr>
        <p:spPr>
          <a:xfrm>
            <a:off x="3613908" y="5118689"/>
            <a:ext cx="2268000" cy="720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Elabora Programa de Implementación</a:t>
            </a:r>
          </a:p>
        </p:txBody>
      </p:sp>
      <p:sp>
        <p:nvSpPr>
          <p:cNvPr id="10" name="Rectángulo 9">
            <a:extLst>
              <a:ext uri="{FF2B5EF4-FFF2-40B4-BE49-F238E27FC236}">
                <a16:creationId xmlns:a16="http://schemas.microsoft.com/office/drawing/2014/main" id="{B9F5AAF7-AC81-599E-6B25-7106C007D1C5}"/>
              </a:ext>
            </a:extLst>
          </p:cNvPr>
          <p:cNvSpPr/>
          <p:nvPr/>
        </p:nvSpPr>
        <p:spPr>
          <a:xfrm>
            <a:off x="9455148" y="5117465"/>
            <a:ext cx="2268000" cy="720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Se revisa y aprueba Programa de Implementación</a:t>
            </a:r>
          </a:p>
        </p:txBody>
      </p:sp>
      <p:sp>
        <p:nvSpPr>
          <p:cNvPr id="11" name="Rectángulo 10">
            <a:extLst>
              <a:ext uri="{FF2B5EF4-FFF2-40B4-BE49-F238E27FC236}">
                <a16:creationId xmlns:a16="http://schemas.microsoft.com/office/drawing/2014/main" id="{B0078E2B-C884-B097-57F3-6101B2296347}"/>
              </a:ext>
            </a:extLst>
          </p:cNvPr>
          <p:cNvSpPr/>
          <p:nvPr/>
        </p:nvSpPr>
        <p:spPr>
          <a:xfrm>
            <a:off x="65316" y="0"/>
            <a:ext cx="2988000" cy="6858000"/>
          </a:xfrm>
          <a:prstGeom prst="rect">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a:extLst>
              <a:ext uri="{FF2B5EF4-FFF2-40B4-BE49-F238E27FC236}">
                <a16:creationId xmlns:a16="http://schemas.microsoft.com/office/drawing/2014/main" id="{303CA6C4-9204-9244-3C60-85D03740AD73}"/>
              </a:ext>
            </a:extLst>
          </p:cNvPr>
          <p:cNvSpPr/>
          <p:nvPr/>
        </p:nvSpPr>
        <p:spPr>
          <a:xfrm>
            <a:off x="3091542" y="0"/>
            <a:ext cx="2988000" cy="6858000"/>
          </a:xfrm>
          <a:prstGeom prst="rect">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530E19C3-00E3-C46F-077A-545DF14CDC2A}"/>
              </a:ext>
            </a:extLst>
          </p:cNvPr>
          <p:cNvSpPr/>
          <p:nvPr/>
        </p:nvSpPr>
        <p:spPr>
          <a:xfrm>
            <a:off x="6108599" y="2949"/>
            <a:ext cx="2988000" cy="6858000"/>
          </a:xfrm>
          <a:prstGeom prst="rect">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55B69EC3-753C-1C71-5FB8-C52771777A38}"/>
              </a:ext>
            </a:extLst>
          </p:cNvPr>
          <p:cNvSpPr/>
          <p:nvPr/>
        </p:nvSpPr>
        <p:spPr>
          <a:xfrm>
            <a:off x="9129576" y="0"/>
            <a:ext cx="2988000" cy="6858000"/>
          </a:xfrm>
          <a:prstGeom prst="rect">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14">
            <a:extLst>
              <a:ext uri="{FF2B5EF4-FFF2-40B4-BE49-F238E27FC236}">
                <a16:creationId xmlns:a16="http://schemas.microsoft.com/office/drawing/2014/main" id="{15853659-8BF5-F9D0-FC5B-50B919666453}"/>
              </a:ext>
            </a:extLst>
          </p:cNvPr>
          <p:cNvSpPr/>
          <p:nvPr/>
        </p:nvSpPr>
        <p:spPr>
          <a:xfrm>
            <a:off x="117968" y="0"/>
            <a:ext cx="2984460" cy="360000"/>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Grupo Técnico</a:t>
            </a:r>
          </a:p>
        </p:txBody>
      </p:sp>
      <p:sp>
        <p:nvSpPr>
          <p:cNvPr id="16" name="Rectángulo 15">
            <a:extLst>
              <a:ext uri="{FF2B5EF4-FFF2-40B4-BE49-F238E27FC236}">
                <a16:creationId xmlns:a16="http://schemas.microsoft.com/office/drawing/2014/main" id="{2F56B27C-F0F9-7B6E-8943-D3F86A12B90B}"/>
              </a:ext>
            </a:extLst>
          </p:cNvPr>
          <p:cNvSpPr/>
          <p:nvPr/>
        </p:nvSpPr>
        <p:spPr>
          <a:xfrm>
            <a:off x="3113322" y="0"/>
            <a:ext cx="2984460" cy="360000"/>
          </a:xfrm>
          <a:prstGeom prst="rect">
            <a:avLst/>
          </a:prstGeom>
          <a:solidFill>
            <a:srgbClr val="00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Secretaría Ejecutiva</a:t>
            </a:r>
          </a:p>
        </p:txBody>
      </p:sp>
      <p:sp>
        <p:nvSpPr>
          <p:cNvPr id="17" name="Rectángulo 16">
            <a:extLst>
              <a:ext uri="{FF2B5EF4-FFF2-40B4-BE49-F238E27FC236}">
                <a16:creationId xmlns:a16="http://schemas.microsoft.com/office/drawing/2014/main" id="{69575D49-1F06-186E-C338-0B9643D76322}"/>
              </a:ext>
            </a:extLst>
          </p:cNvPr>
          <p:cNvSpPr/>
          <p:nvPr/>
        </p:nvSpPr>
        <p:spPr>
          <a:xfrm>
            <a:off x="6106882" y="10885"/>
            <a:ext cx="2984460" cy="360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Consejo Consultivo</a:t>
            </a:r>
          </a:p>
        </p:txBody>
      </p:sp>
      <p:sp>
        <p:nvSpPr>
          <p:cNvPr id="18" name="Rectángulo 17">
            <a:extLst>
              <a:ext uri="{FF2B5EF4-FFF2-40B4-BE49-F238E27FC236}">
                <a16:creationId xmlns:a16="http://schemas.microsoft.com/office/drawing/2014/main" id="{AC3423DA-C000-E15C-0881-AD7F10D44EE2}"/>
              </a:ext>
            </a:extLst>
          </p:cNvPr>
          <p:cNvSpPr/>
          <p:nvPr/>
        </p:nvSpPr>
        <p:spPr>
          <a:xfrm>
            <a:off x="9107804" y="0"/>
            <a:ext cx="2984460" cy="360000"/>
          </a:xfrm>
          <a:prstGeom prst="rect">
            <a:avLst/>
          </a:prstGeom>
          <a:solidFill>
            <a:srgbClr val="FF00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Comité Coordinador</a:t>
            </a:r>
          </a:p>
        </p:txBody>
      </p:sp>
      <p:sp>
        <p:nvSpPr>
          <p:cNvPr id="20" name="Diagrama de flujo: terminador 19">
            <a:extLst>
              <a:ext uri="{FF2B5EF4-FFF2-40B4-BE49-F238E27FC236}">
                <a16:creationId xmlns:a16="http://schemas.microsoft.com/office/drawing/2014/main" id="{C7886BAA-51F8-2106-5738-EB4567043354}"/>
              </a:ext>
            </a:extLst>
          </p:cNvPr>
          <p:cNvSpPr/>
          <p:nvPr/>
        </p:nvSpPr>
        <p:spPr>
          <a:xfrm>
            <a:off x="925033" y="513148"/>
            <a:ext cx="1509823" cy="510624"/>
          </a:xfrm>
          <a:prstGeom prst="flowChartTerminator">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Inicio</a:t>
            </a:r>
          </a:p>
        </p:txBody>
      </p:sp>
      <p:cxnSp>
        <p:nvCxnSpPr>
          <p:cNvPr id="22" name="Conector recto de flecha 21">
            <a:extLst>
              <a:ext uri="{FF2B5EF4-FFF2-40B4-BE49-F238E27FC236}">
                <a16:creationId xmlns:a16="http://schemas.microsoft.com/office/drawing/2014/main" id="{DA5F923E-11C0-D265-6A41-A63458504EBF}"/>
              </a:ext>
            </a:extLst>
          </p:cNvPr>
          <p:cNvCxnSpPr>
            <a:stCxn id="20" idx="2"/>
            <a:endCxn id="2" idx="0"/>
          </p:cNvCxnSpPr>
          <p:nvPr/>
        </p:nvCxnSpPr>
        <p:spPr>
          <a:xfrm flipH="1">
            <a:off x="1679944" y="1023772"/>
            <a:ext cx="1" cy="2372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7ABAE79B-30FC-6D63-0819-049511EA125A}"/>
              </a:ext>
            </a:extLst>
          </p:cNvPr>
          <p:cNvCxnSpPr>
            <a:stCxn id="2" idx="3"/>
            <a:endCxn id="3" idx="1"/>
          </p:cNvCxnSpPr>
          <p:nvPr/>
        </p:nvCxnSpPr>
        <p:spPr>
          <a:xfrm>
            <a:off x="2813944" y="1621046"/>
            <a:ext cx="233868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angular 25">
            <a:extLst>
              <a:ext uri="{FF2B5EF4-FFF2-40B4-BE49-F238E27FC236}">
                <a16:creationId xmlns:a16="http://schemas.microsoft.com/office/drawing/2014/main" id="{D89D9DB5-A5D8-2844-61DF-9C499F6A2CF2}"/>
              </a:ext>
            </a:extLst>
          </p:cNvPr>
          <p:cNvCxnSpPr>
            <a:stCxn id="3" idx="2"/>
            <a:endCxn id="5" idx="3"/>
          </p:cNvCxnSpPr>
          <p:nvPr/>
        </p:nvCxnSpPr>
        <p:spPr>
          <a:xfrm rot="5400000">
            <a:off x="4311638" y="479920"/>
            <a:ext cx="473867" cy="347611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A00EDC51-B7F3-DD8E-C1CB-73C5F9D6F434}"/>
              </a:ext>
            </a:extLst>
          </p:cNvPr>
          <p:cNvCxnSpPr>
            <a:stCxn id="5" idx="2"/>
            <a:endCxn id="7" idx="0"/>
          </p:cNvCxnSpPr>
          <p:nvPr/>
        </p:nvCxnSpPr>
        <p:spPr>
          <a:xfrm>
            <a:off x="1676512" y="2814913"/>
            <a:ext cx="0" cy="2513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AA0E50C2-6562-38DE-9B03-BD25F666FAD3}"/>
              </a:ext>
            </a:extLst>
          </p:cNvPr>
          <p:cNvCxnSpPr>
            <a:cxnSpLocks/>
            <a:stCxn id="7" idx="3"/>
            <a:endCxn id="41" idx="1"/>
          </p:cNvCxnSpPr>
          <p:nvPr/>
        </p:nvCxnSpPr>
        <p:spPr>
          <a:xfrm flipV="1">
            <a:off x="2810512" y="3410177"/>
            <a:ext cx="2342118" cy="160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ángulo 40">
            <a:extLst>
              <a:ext uri="{FF2B5EF4-FFF2-40B4-BE49-F238E27FC236}">
                <a16:creationId xmlns:a16="http://schemas.microsoft.com/office/drawing/2014/main" id="{15368C34-43E3-E868-7C5B-354129C2B1DC}"/>
              </a:ext>
            </a:extLst>
          </p:cNvPr>
          <p:cNvSpPr/>
          <p:nvPr/>
        </p:nvSpPr>
        <p:spPr>
          <a:xfrm>
            <a:off x="5152630" y="3050177"/>
            <a:ext cx="2268000" cy="720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Realiza comentarios</a:t>
            </a:r>
          </a:p>
        </p:txBody>
      </p:sp>
      <p:cxnSp>
        <p:nvCxnSpPr>
          <p:cNvPr id="52" name="Conector: angular 51">
            <a:extLst>
              <a:ext uri="{FF2B5EF4-FFF2-40B4-BE49-F238E27FC236}">
                <a16:creationId xmlns:a16="http://schemas.microsoft.com/office/drawing/2014/main" id="{F39BF00F-BB4A-F766-9A10-10EDDB70D095}"/>
              </a:ext>
            </a:extLst>
          </p:cNvPr>
          <p:cNvCxnSpPr>
            <a:stCxn id="41" idx="2"/>
            <a:endCxn id="8" idx="0"/>
          </p:cNvCxnSpPr>
          <p:nvPr/>
        </p:nvCxnSpPr>
        <p:spPr>
          <a:xfrm rot="5400000">
            <a:off x="5337269" y="3180816"/>
            <a:ext cx="360000" cy="153872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recto de flecha 56">
            <a:extLst>
              <a:ext uri="{FF2B5EF4-FFF2-40B4-BE49-F238E27FC236}">
                <a16:creationId xmlns:a16="http://schemas.microsoft.com/office/drawing/2014/main" id="{FC830B91-91A6-8786-E125-7A6A732CAC96}"/>
              </a:ext>
            </a:extLst>
          </p:cNvPr>
          <p:cNvCxnSpPr>
            <a:stCxn id="8" idx="2"/>
            <a:endCxn id="9" idx="0"/>
          </p:cNvCxnSpPr>
          <p:nvPr/>
        </p:nvCxnSpPr>
        <p:spPr>
          <a:xfrm>
            <a:off x="4747908" y="4850177"/>
            <a:ext cx="0" cy="2685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ector recto de flecha 58">
            <a:extLst>
              <a:ext uri="{FF2B5EF4-FFF2-40B4-BE49-F238E27FC236}">
                <a16:creationId xmlns:a16="http://schemas.microsoft.com/office/drawing/2014/main" id="{253B0193-4E27-95A7-3158-3BD70FE6192E}"/>
              </a:ext>
            </a:extLst>
          </p:cNvPr>
          <p:cNvCxnSpPr>
            <a:cxnSpLocks/>
            <a:stCxn id="9" idx="3"/>
            <a:endCxn id="10" idx="1"/>
          </p:cNvCxnSpPr>
          <p:nvPr/>
        </p:nvCxnSpPr>
        <p:spPr>
          <a:xfrm flipV="1">
            <a:off x="5881908" y="5477465"/>
            <a:ext cx="3573240" cy="12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Diagrama de flujo: terminador 61">
            <a:extLst>
              <a:ext uri="{FF2B5EF4-FFF2-40B4-BE49-F238E27FC236}">
                <a16:creationId xmlns:a16="http://schemas.microsoft.com/office/drawing/2014/main" id="{6F14CAFC-973E-2614-556D-88C670044384}"/>
              </a:ext>
            </a:extLst>
          </p:cNvPr>
          <p:cNvSpPr/>
          <p:nvPr/>
        </p:nvSpPr>
        <p:spPr>
          <a:xfrm>
            <a:off x="9836006" y="6195491"/>
            <a:ext cx="1509823" cy="510624"/>
          </a:xfrm>
          <a:prstGeom prst="flowChartTerminator">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Inicio</a:t>
            </a:r>
          </a:p>
        </p:txBody>
      </p:sp>
      <p:cxnSp>
        <p:nvCxnSpPr>
          <p:cNvPr id="64" name="Conector recto de flecha 63">
            <a:extLst>
              <a:ext uri="{FF2B5EF4-FFF2-40B4-BE49-F238E27FC236}">
                <a16:creationId xmlns:a16="http://schemas.microsoft.com/office/drawing/2014/main" id="{77D1ABF1-591D-6F85-EA97-0F774E6115E9}"/>
              </a:ext>
            </a:extLst>
          </p:cNvPr>
          <p:cNvCxnSpPr>
            <a:stCxn id="10" idx="2"/>
            <a:endCxn id="62" idx="0"/>
          </p:cNvCxnSpPr>
          <p:nvPr/>
        </p:nvCxnSpPr>
        <p:spPr>
          <a:xfrm>
            <a:off x="10589148" y="5837465"/>
            <a:ext cx="1770" cy="3580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Rectángulo 66">
            <a:extLst>
              <a:ext uri="{FF2B5EF4-FFF2-40B4-BE49-F238E27FC236}">
                <a16:creationId xmlns:a16="http://schemas.microsoft.com/office/drawing/2014/main" id="{D419B507-EE71-59A0-050C-E2C37772F585}"/>
              </a:ext>
            </a:extLst>
          </p:cNvPr>
          <p:cNvSpPr/>
          <p:nvPr/>
        </p:nvSpPr>
        <p:spPr>
          <a:xfrm>
            <a:off x="547071" y="4516955"/>
            <a:ext cx="2268000" cy="720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Realiza comentarios</a:t>
            </a:r>
          </a:p>
        </p:txBody>
      </p:sp>
      <p:sp>
        <p:nvSpPr>
          <p:cNvPr id="68" name="Rectángulo 67">
            <a:extLst>
              <a:ext uri="{FF2B5EF4-FFF2-40B4-BE49-F238E27FC236}">
                <a16:creationId xmlns:a16="http://schemas.microsoft.com/office/drawing/2014/main" id="{5378BD20-8591-EDB0-4E73-A4ABBD378038}"/>
              </a:ext>
            </a:extLst>
          </p:cNvPr>
          <p:cNvSpPr/>
          <p:nvPr/>
        </p:nvSpPr>
        <p:spPr>
          <a:xfrm>
            <a:off x="6506006" y="4516955"/>
            <a:ext cx="2268000" cy="720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Realiza comentarios</a:t>
            </a:r>
          </a:p>
        </p:txBody>
      </p:sp>
      <p:cxnSp>
        <p:nvCxnSpPr>
          <p:cNvPr id="72" name="Conector: angular 71">
            <a:extLst>
              <a:ext uri="{FF2B5EF4-FFF2-40B4-BE49-F238E27FC236}">
                <a16:creationId xmlns:a16="http://schemas.microsoft.com/office/drawing/2014/main" id="{28A17931-59B4-7730-6882-5DC3390896B5}"/>
              </a:ext>
            </a:extLst>
          </p:cNvPr>
          <p:cNvCxnSpPr>
            <a:stCxn id="9" idx="3"/>
            <a:endCxn id="68" idx="1"/>
          </p:cNvCxnSpPr>
          <p:nvPr/>
        </p:nvCxnSpPr>
        <p:spPr>
          <a:xfrm flipV="1">
            <a:off x="5881908" y="4876955"/>
            <a:ext cx="624098" cy="601734"/>
          </a:xfrm>
          <a:prstGeom prst="bentConnector3">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4" name="Conector: angular 73">
            <a:extLst>
              <a:ext uri="{FF2B5EF4-FFF2-40B4-BE49-F238E27FC236}">
                <a16:creationId xmlns:a16="http://schemas.microsoft.com/office/drawing/2014/main" id="{8BD11BF1-8465-F7F8-BF28-CA7776670BED}"/>
              </a:ext>
            </a:extLst>
          </p:cNvPr>
          <p:cNvCxnSpPr>
            <a:cxnSpLocks/>
            <a:stCxn id="9" idx="1"/>
            <a:endCxn id="67" idx="3"/>
          </p:cNvCxnSpPr>
          <p:nvPr/>
        </p:nvCxnSpPr>
        <p:spPr>
          <a:xfrm rot="10800000">
            <a:off x="2815072" y="4876955"/>
            <a:ext cx="798837" cy="601734"/>
          </a:xfrm>
          <a:prstGeom prst="bentConnector3">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 name="Rectángulo 2">
            <a:extLst>
              <a:ext uri="{FF2B5EF4-FFF2-40B4-BE49-F238E27FC236}">
                <a16:creationId xmlns:a16="http://schemas.microsoft.com/office/drawing/2014/main" id="{796795F5-C835-F434-B2D3-3EE52D0CBA71}"/>
              </a:ext>
            </a:extLst>
          </p:cNvPr>
          <p:cNvSpPr/>
          <p:nvPr/>
        </p:nvSpPr>
        <p:spPr>
          <a:xfrm>
            <a:off x="5152630" y="1261046"/>
            <a:ext cx="2268000" cy="720000"/>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Verdana" panose="020B0604030504040204" pitchFamily="34" charset="0"/>
                <a:ea typeface="Verdana" panose="020B0604030504040204" pitchFamily="34" charset="0"/>
              </a:rPr>
              <a:t>Realiza comentarios</a:t>
            </a:r>
          </a:p>
        </p:txBody>
      </p:sp>
    </p:spTree>
    <p:extLst>
      <p:ext uri="{BB962C8B-B14F-4D97-AF65-F5344CB8AC3E}">
        <p14:creationId xmlns:p14="http://schemas.microsoft.com/office/powerpoint/2010/main" val="2478364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7BE9F92-4D29-5E56-508F-A6E1B511C8F2}"/>
              </a:ext>
            </a:extLst>
          </p:cNvPr>
          <p:cNvSpPr txBox="1"/>
          <p:nvPr/>
        </p:nvSpPr>
        <p:spPr>
          <a:xfrm>
            <a:off x="375556" y="2413337"/>
            <a:ext cx="10863944" cy="2031325"/>
          </a:xfrm>
          <a:prstGeom prst="rect">
            <a:avLst/>
          </a:prstGeom>
          <a:noFill/>
        </p:spPr>
        <p:txBody>
          <a:bodyPr wrap="square">
            <a:spAutoFit/>
          </a:bodyPr>
          <a:lstStyle/>
          <a:p>
            <a:pPr marL="285750" indent="-285750">
              <a:buClr>
                <a:srgbClr val="FF3300"/>
              </a:buClr>
              <a:buSzPct val="157000"/>
              <a:buFont typeface="Wingdings" panose="05000000000000000000" pitchFamily="2" charset="2"/>
              <a:buChar char="v"/>
            </a:pPr>
            <a:r>
              <a:rPr lang="es-MX" dirty="0">
                <a:latin typeface="Verdana" panose="020B0604030504040204" pitchFamily="34" charset="0"/>
                <a:ea typeface="Verdana" panose="020B0604030504040204" pitchFamily="34" charset="0"/>
              </a:rPr>
              <a:t>Herramienta cuantitativa o cualitativa que permite mostrar indicios o señales de una situación, actividad o resultado.</a:t>
            </a:r>
          </a:p>
          <a:p>
            <a:pPr marL="285750" indent="-285750">
              <a:buClr>
                <a:srgbClr val="FF3300"/>
              </a:buClr>
              <a:buSzPct val="157000"/>
              <a:buFont typeface="Wingdings" panose="05000000000000000000" pitchFamily="2" charset="2"/>
              <a:buChar char="v"/>
            </a:pPr>
            <a:endParaRPr lang="es-MX" dirty="0">
              <a:latin typeface="Verdana" panose="020B0604030504040204" pitchFamily="34" charset="0"/>
              <a:ea typeface="Verdana" panose="020B0604030504040204" pitchFamily="34" charset="0"/>
            </a:endParaRPr>
          </a:p>
          <a:p>
            <a:pPr marL="285750" indent="-285750">
              <a:buClr>
                <a:srgbClr val="FF3300"/>
              </a:buClr>
              <a:buSzPct val="157000"/>
              <a:buFont typeface="Wingdings" panose="05000000000000000000" pitchFamily="2" charset="2"/>
              <a:buChar char="v"/>
            </a:pPr>
            <a:endParaRPr lang="es-MX" dirty="0">
              <a:latin typeface="Verdana" panose="020B0604030504040204" pitchFamily="34" charset="0"/>
              <a:ea typeface="Verdana" panose="020B0604030504040204" pitchFamily="34" charset="0"/>
            </a:endParaRPr>
          </a:p>
          <a:p>
            <a:pPr marL="285750" indent="-285750">
              <a:buClr>
                <a:srgbClr val="FF3300"/>
              </a:buClr>
              <a:buSzPct val="157000"/>
              <a:buFont typeface="Wingdings" panose="05000000000000000000" pitchFamily="2" charset="2"/>
              <a:buChar char="v"/>
            </a:pPr>
            <a:r>
              <a:rPr lang="es-MX" dirty="0">
                <a:latin typeface="Verdana" panose="020B0604030504040204" pitchFamily="34" charset="0"/>
                <a:ea typeface="Verdana" panose="020B0604030504040204" pitchFamily="34" charset="0"/>
              </a:rPr>
              <a:t>Los indicadores necesariamente deben representar la relación entre dos o más variables. Un número no es un indicador. </a:t>
            </a:r>
          </a:p>
          <a:p>
            <a:endParaRPr lang="es-MX" dirty="0"/>
          </a:p>
        </p:txBody>
      </p:sp>
      <p:sp>
        <p:nvSpPr>
          <p:cNvPr id="7" name="CuadroTexto 6">
            <a:extLst>
              <a:ext uri="{FF2B5EF4-FFF2-40B4-BE49-F238E27FC236}">
                <a16:creationId xmlns:a16="http://schemas.microsoft.com/office/drawing/2014/main" id="{63E6F504-5C94-C0CD-A5B6-19E5BB5501EA}"/>
              </a:ext>
            </a:extLst>
          </p:cNvPr>
          <p:cNvSpPr txBox="1"/>
          <p:nvPr/>
        </p:nvSpPr>
        <p:spPr>
          <a:xfrm>
            <a:off x="566058" y="4627717"/>
            <a:ext cx="6096000" cy="1892826"/>
          </a:xfrm>
          <a:prstGeom prst="rect">
            <a:avLst/>
          </a:prstGeom>
          <a:noFill/>
        </p:spPr>
        <p:txBody>
          <a:bodyPr wrap="square">
            <a:spAutoFit/>
          </a:bodyPr>
          <a:lstStyle/>
          <a:p>
            <a:pPr>
              <a:spcAft>
                <a:spcPts val="1800"/>
              </a:spcAft>
            </a:pPr>
            <a:r>
              <a:rPr lang="es-MX" b="1" dirty="0">
                <a:latin typeface="Verdana" panose="020B0604030504040204" pitchFamily="34" charset="0"/>
                <a:ea typeface="Verdana" panose="020B0604030504040204" pitchFamily="34" charset="0"/>
              </a:rPr>
              <a:t>Pasos a seguir</a:t>
            </a:r>
          </a:p>
          <a:p>
            <a:pPr marL="285750" indent="-285750">
              <a:spcAft>
                <a:spcPts val="1800"/>
              </a:spcAft>
              <a:buFont typeface="Wingdings" panose="05000000000000000000" pitchFamily="2" charset="2"/>
              <a:buChar char="§"/>
            </a:pPr>
            <a:r>
              <a:rPr lang="es-MX" dirty="0">
                <a:latin typeface="Verdana" panose="020B0604030504040204" pitchFamily="34" charset="0"/>
                <a:ea typeface="Verdana" panose="020B0604030504040204" pitchFamily="34" charset="0"/>
              </a:rPr>
              <a:t>Plantear el nombre y la fórmula de cálculo</a:t>
            </a:r>
          </a:p>
          <a:p>
            <a:pPr marL="285750" indent="-285750">
              <a:spcAft>
                <a:spcPts val="1800"/>
              </a:spcAft>
              <a:buFont typeface="Wingdings" panose="05000000000000000000" pitchFamily="2" charset="2"/>
              <a:buChar char="§"/>
            </a:pPr>
            <a:r>
              <a:rPr lang="es-MX" dirty="0">
                <a:latin typeface="Verdana" panose="020B0604030504040204" pitchFamily="34" charset="0"/>
                <a:ea typeface="Verdana" panose="020B0604030504040204" pitchFamily="34" charset="0"/>
              </a:rPr>
              <a:t>Determinar la frecuencia de medición</a:t>
            </a:r>
          </a:p>
          <a:p>
            <a:pPr marL="285750" indent="-285750">
              <a:spcAft>
                <a:spcPts val="1800"/>
              </a:spcAft>
              <a:buFont typeface="Wingdings" panose="05000000000000000000" pitchFamily="2" charset="2"/>
              <a:buChar char="§"/>
            </a:pPr>
            <a:r>
              <a:rPr lang="es-MX" dirty="0">
                <a:latin typeface="Verdana" panose="020B0604030504040204" pitchFamily="34" charset="0"/>
                <a:ea typeface="Verdana" panose="020B0604030504040204" pitchFamily="34" charset="0"/>
              </a:rPr>
              <a:t>Seleccionar los medios de verificación</a:t>
            </a:r>
          </a:p>
        </p:txBody>
      </p:sp>
      <p:sp>
        <p:nvSpPr>
          <p:cNvPr id="8" name="CuadroTexto 7">
            <a:extLst>
              <a:ext uri="{FF2B5EF4-FFF2-40B4-BE49-F238E27FC236}">
                <a16:creationId xmlns:a16="http://schemas.microsoft.com/office/drawing/2014/main" id="{1579CD3F-6E9E-B4B3-2B9B-BDB8A317A16D}"/>
              </a:ext>
            </a:extLst>
          </p:cNvPr>
          <p:cNvSpPr txBox="1"/>
          <p:nvPr/>
        </p:nvSpPr>
        <p:spPr>
          <a:xfrm>
            <a:off x="2438400" y="337457"/>
            <a:ext cx="6738257" cy="461665"/>
          </a:xfrm>
          <a:prstGeom prst="rect">
            <a:avLst/>
          </a:prstGeom>
          <a:noFill/>
        </p:spPr>
        <p:txBody>
          <a:bodyPr wrap="square" rtlCol="0">
            <a:spAutoFit/>
          </a:bodyPr>
          <a:lstStyle>
            <a:defPPr>
              <a:defRPr lang="es-MX"/>
            </a:defPPr>
            <a:lvl1pPr marR="0" lvl="0" indent="0" algn="ctr" defTabSz="914217"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Verdana" panose="020B0604030504040204" pitchFamily="34" charset="0"/>
                <a:ea typeface="Verdana" panose="020B0604030504040204" pitchFamily="34" charset="0"/>
                <a:cs typeface="Poppins" pitchFamily="2" charset="77"/>
              </a:defRPr>
            </a:lvl1pPr>
          </a:lstStyle>
          <a:p>
            <a:r>
              <a:rPr lang="es-MX" dirty="0"/>
              <a:t>INDICADORES DE GESTIÓN</a:t>
            </a:r>
          </a:p>
        </p:txBody>
      </p:sp>
      <p:sp>
        <p:nvSpPr>
          <p:cNvPr id="10" name="CuadroTexto 9">
            <a:extLst>
              <a:ext uri="{FF2B5EF4-FFF2-40B4-BE49-F238E27FC236}">
                <a16:creationId xmlns:a16="http://schemas.microsoft.com/office/drawing/2014/main" id="{5F38BD62-BDE1-272E-642C-95084DF0EA4B}"/>
              </a:ext>
            </a:extLst>
          </p:cNvPr>
          <p:cNvSpPr txBox="1"/>
          <p:nvPr/>
        </p:nvSpPr>
        <p:spPr>
          <a:xfrm>
            <a:off x="533400" y="1283064"/>
            <a:ext cx="11125199" cy="646331"/>
          </a:xfrm>
          <a:prstGeom prst="rect">
            <a:avLst/>
          </a:prstGeom>
          <a:noFill/>
        </p:spPr>
        <p:txBody>
          <a:bodyPr wrap="square">
            <a:spAutoFit/>
          </a:bodyPr>
          <a:lstStyle/>
          <a:p>
            <a:pPr algn="ctr"/>
            <a:r>
              <a:rPr lang="es-MX" b="1" dirty="0">
                <a:latin typeface="Verdana" panose="020B0604030504040204" pitchFamily="34" charset="0"/>
                <a:ea typeface="Verdana" panose="020B0604030504040204" pitchFamily="34" charset="0"/>
              </a:rPr>
              <a:t>Los indicadores de gestión miden la entrega de bienes y servicios o las acciones que realizan, pero no el resultado. </a:t>
            </a:r>
          </a:p>
        </p:txBody>
      </p:sp>
    </p:spTree>
    <p:extLst>
      <p:ext uri="{BB962C8B-B14F-4D97-AF65-F5344CB8AC3E}">
        <p14:creationId xmlns:p14="http://schemas.microsoft.com/office/powerpoint/2010/main" val="1659969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094ACE8-498B-B561-6532-CDB5723ACEE6}"/>
              </a:ext>
            </a:extLst>
          </p:cNvPr>
          <p:cNvSpPr txBox="1"/>
          <p:nvPr/>
        </p:nvSpPr>
        <p:spPr>
          <a:xfrm>
            <a:off x="751114" y="1141551"/>
            <a:ext cx="10635343" cy="923330"/>
          </a:xfrm>
          <a:prstGeom prst="rect">
            <a:avLst/>
          </a:prstGeom>
          <a:noFill/>
        </p:spPr>
        <p:txBody>
          <a:bodyPr wrap="square">
            <a:spAutoFit/>
          </a:bodyPr>
          <a:lstStyle/>
          <a:p>
            <a:pPr algn="just"/>
            <a:r>
              <a:rPr lang="es-MX" dirty="0">
                <a:latin typeface="Verdana" panose="020B0604030504040204" pitchFamily="34" charset="0"/>
                <a:ea typeface="Verdana" panose="020B0604030504040204" pitchFamily="34" charset="0"/>
              </a:rPr>
              <a:t>Un porcentaje es la forma de expresar un número como partes de cada cien. Los porcentajes son el cociente entre dos variables con una misma unidad de medida en el mismo periodo; representan, en la mayoría de los casos.</a:t>
            </a:r>
          </a:p>
        </p:txBody>
      </p:sp>
      <p:pic>
        <p:nvPicPr>
          <p:cNvPr id="5" name="Imagen 4">
            <a:extLst>
              <a:ext uri="{FF2B5EF4-FFF2-40B4-BE49-F238E27FC236}">
                <a16:creationId xmlns:a16="http://schemas.microsoft.com/office/drawing/2014/main" id="{C958FB0A-9722-9EDB-404B-D3BB5AD794DF}"/>
              </a:ext>
            </a:extLst>
          </p:cNvPr>
          <p:cNvPicPr>
            <a:picLocks noChangeAspect="1"/>
          </p:cNvPicPr>
          <p:nvPr/>
        </p:nvPicPr>
        <p:blipFill rotWithShape="1">
          <a:blip r:embed="rId2"/>
          <a:srcRect t="12102" b="7120"/>
          <a:stretch/>
        </p:blipFill>
        <p:spPr>
          <a:xfrm>
            <a:off x="1718922" y="2416629"/>
            <a:ext cx="9073068" cy="4332514"/>
          </a:xfrm>
          <a:prstGeom prst="rect">
            <a:avLst/>
          </a:prstGeom>
        </p:spPr>
      </p:pic>
      <p:sp>
        <p:nvSpPr>
          <p:cNvPr id="6" name="CuadroTexto 5">
            <a:extLst>
              <a:ext uri="{FF2B5EF4-FFF2-40B4-BE49-F238E27FC236}">
                <a16:creationId xmlns:a16="http://schemas.microsoft.com/office/drawing/2014/main" id="{0732AA2F-FDD7-DE50-E3A0-3C9BFDC294C3}"/>
              </a:ext>
            </a:extLst>
          </p:cNvPr>
          <p:cNvSpPr txBox="1"/>
          <p:nvPr/>
        </p:nvSpPr>
        <p:spPr>
          <a:xfrm>
            <a:off x="1509284" y="328138"/>
            <a:ext cx="9492343" cy="461665"/>
          </a:xfrm>
          <a:prstGeom prst="rect">
            <a:avLst/>
          </a:prstGeom>
          <a:noFill/>
        </p:spPr>
        <p:txBody>
          <a:bodyPr wrap="square" rtlCol="0">
            <a:spAutoFit/>
          </a:bodyPr>
          <a:lstStyle>
            <a:defPPr>
              <a:defRPr lang="es-MX"/>
            </a:defPPr>
            <a:lvl1pPr marR="0" lvl="0" indent="0" algn="ctr" defTabSz="914217"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Verdana" panose="020B0604030504040204" pitchFamily="34" charset="0"/>
                <a:ea typeface="Verdana" panose="020B0604030504040204" pitchFamily="34" charset="0"/>
                <a:cs typeface="Poppins" pitchFamily="2" charset="77"/>
              </a:defRPr>
            </a:lvl1pPr>
          </a:lstStyle>
          <a:p>
            <a:r>
              <a:rPr lang="es-MX" dirty="0"/>
              <a:t>FÓRMULA DE CÁLCULO DEL PORCENTAJE</a:t>
            </a:r>
          </a:p>
        </p:txBody>
      </p:sp>
    </p:spTree>
    <p:extLst>
      <p:ext uri="{BB962C8B-B14F-4D97-AF65-F5344CB8AC3E}">
        <p14:creationId xmlns:p14="http://schemas.microsoft.com/office/powerpoint/2010/main" val="90928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E7C6960-8F90-287B-3708-0EFBDF445B9D}"/>
              </a:ext>
            </a:extLst>
          </p:cNvPr>
          <p:cNvPicPr>
            <a:picLocks noChangeAspect="1"/>
          </p:cNvPicPr>
          <p:nvPr/>
        </p:nvPicPr>
        <p:blipFill rotWithShape="1">
          <a:blip r:embed="rId2"/>
          <a:srcRect t="8652" b="5679"/>
          <a:stretch/>
        </p:blipFill>
        <p:spPr>
          <a:xfrm>
            <a:off x="1322614" y="2024743"/>
            <a:ext cx="9573985" cy="4833257"/>
          </a:xfrm>
          <a:prstGeom prst="rect">
            <a:avLst/>
          </a:prstGeom>
        </p:spPr>
      </p:pic>
      <p:sp>
        <p:nvSpPr>
          <p:cNvPr id="5" name="CuadroTexto 4">
            <a:extLst>
              <a:ext uri="{FF2B5EF4-FFF2-40B4-BE49-F238E27FC236}">
                <a16:creationId xmlns:a16="http://schemas.microsoft.com/office/drawing/2014/main" id="{D198BEBE-CD21-280A-29D7-E4F8258F5C89}"/>
              </a:ext>
            </a:extLst>
          </p:cNvPr>
          <p:cNvSpPr txBox="1"/>
          <p:nvPr/>
        </p:nvSpPr>
        <p:spPr>
          <a:xfrm>
            <a:off x="1355271" y="424543"/>
            <a:ext cx="9448800" cy="461665"/>
          </a:xfrm>
          <a:prstGeom prst="rect">
            <a:avLst/>
          </a:prstGeom>
          <a:noFill/>
        </p:spPr>
        <p:txBody>
          <a:bodyPr wrap="square" rtlCol="0">
            <a:spAutoFit/>
          </a:bodyPr>
          <a:lstStyle>
            <a:defPPr>
              <a:defRPr lang="es-MX"/>
            </a:defPPr>
            <a:lvl1pPr marR="0" lvl="0" indent="0" algn="ctr" defTabSz="914217"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Verdana" panose="020B0604030504040204" pitchFamily="34" charset="0"/>
                <a:ea typeface="Verdana" panose="020B0604030504040204" pitchFamily="34" charset="0"/>
                <a:cs typeface="Poppins" pitchFamily="2" charset="77"/>
              </a:defRPr>
            </a:lvl1pPr>
          </a:lstStyle>
          <a:p>
            <a:r>
              <a:rPr lang="es-MX" dirty="0"/>
              <a:t>FÓRMULA DE CÁLCULO DE LA TASA DE VARIACIÓN</a:t>
            </a:r>
          </a:p>
        </p:txBody>
      </p:sp>
      <p:sp>
        <p:nvSpPr>
          <p:cNvPr id="7" name="CuadroTexto 6">
            <a:extLst>
              <a:ext uri="{FF2B5EF4-FFF2-40B4-BE49-F238E27FC236}">
                <a16:creationId xmlns:a16="http://schemas.microsoft.com/office/drawing/2014/main" id="{67B9ABBA-0A1C-7A00-2A39-B87DAF7742E7}"/>
              </a:ext>
            </a:extLst>
          </p:cNvPr>
          <p:cNvSpPr txBox="1"/>
          <p:nvPr/>
        </p:nvSpPr>
        <p:spPr>
          <a:xfrm>
            <a:off x="1088572" y="1225621"/>
            <a:ext cx="10428514" cy="646331"/>
          </a:xfrm>
          <a:prstGeom prst="rect">
            <a:avLst/>
          </a:prstGeom>
          <a:noFill/>
        </p:spPr>
        <p:txBody>
          <a:bodyPr wrap="square">
            <a:spAutoFit/>
          </a:bodyPr>
          <a:lstStyle/>
          <a:p>
            <a:r>
              <a:rPr lang="es-MX" dirty="0">
                <a:latin typeface="Verdana" panose="020B0604030504040204" pitchFamily="34" charset="0"/>
                <a:ea typeface="Verdana" panose="020B0604030504040204" pitchFamily="34" charset="0"/>
              </a:rPr>
              <a:t>Una tasa de variación es la forma de expresar un cambio relativo en el tiempo; es el cociente de dos observaciones de una misma variable en diferentes periodos</a:t>
            </a:r>
          </a:p>
        </p:txBody>
      </p:sp>
    </p:spTree>
    <p:extLst>
      <p:ext uri="{BB962C8B-B14F-4D97-AF65-F5344CB8AC3E}">
        <p14:creationId xmlns:p14="http://schemas.microsoft.com/office/powerpoint/2010/main" val="1790293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7095909-35AB-B4DA-7A87-BC9968D6D39A}"/>
              </a:ext>
            </a:extLst>
          </p:cNvPr>
          <p:cNvPicPr>
            <a:picLocks noChangeAspect="1"/>
          </p:cNvPicPr>
          <p:nvPr/>
        </p:nvPicPr>
        <p:blipFill rotWithShape="1">
          <a:blip r:embed="rId2"/>
          <a:srcRect t="10669" b="9425"/>
          <a:stretch/>
        </p:blipFill>
        <p:spPr>
          <a:xfrm>
            <a:off x="1417238" y="1752209"/>
            <a:ext cx="9357519" cy="4953000"/>
          </a:xfrm>
          <a:prstGeom prst="rect">
            <a:avLst/>
          </a:prstGeom>
        </p:spPr>
      </p:pic>
      <p:sp>
        <p:nvSpPr>
          <p:cNvPr id="4" name="CuadroTexto 3">
            <a:extLst>
              <a:ext uri="{FF2B5EF4-FFF2-40B4-BE49-F238E27FC236}">
                <a16:creationId xmlns:a16="http://schemas.microsoft.com/office/drawing/2014/main" id="{0E43311C-62E3-AE3C-7C7B-53D5FB5D3770}"/>
              </a:ext>
            </a:extLst>
          </p:cNvPr>
          <p:cNvSpPr txBox="1"/>
          <p:nvPr/>
        </p:nvSpPr>
        <p:spPr>
          <a:xfrm>
            <a:off x="1138578" y="272143"/>
            <a:ext cx="9448800" cy="461665"/>
          </a:xfrm>
          <a:prstGeom prst="rect">
            <a:avLst/>
          </a:prstGeom>
          <a:noFill/>
        </p:spPr>
        <p:txBody>
          <a:bodyPr wrap="square" rtlCol="0">
            <a:spAutoFit/>
          </a:bodyPr>
          <a:lstStyle>
            <a:defPPr>
              <a:defRPr lang="es-MX"/>
            </a:defPPr>
            <a:lvl1pPr marR="0" lvl="0" indent="0" algn="ctr" defTabSz="914217" fontAlgn="auto">
              <a:lnSpc>
                <a:spcPct val="100000"/>
              </a:lnSpc>
              <a:spcBef>
                <a:spcPts val="0"/>
              </a:spcBef>
              <a:spcAft>
                <a:spcPts val="0"/>
              </a:spcAft>
              <a:buClrTx/>
              <a:buSzTx/>
              <a:buFontTx/>
              <a:buNone/>
              <a:tabLst/>
              <a:defRPr kumimoji="0" sz="2400" b="1" i="0" u="none" strike="noStrike" cap="none" spc="0" normalizeH="0" baseline="0">
                <a:ln>
                  <a:noFill/>
                </a:ln>
                <a:effectLst/>
                <a:uLnTx/>
                <a:uFillTx/>
                <a:latin typeface="Verdana" panose="020B0604030504040204" pitchFamily="34" charset="0"/>
                <a:ea typeface="Verdana" panose="020B0604030504040204" pitchFamily="34" charset="0"/>
                <a:cs typeface="Poppins" pitchFamily="2" charset="77"/>
              </a:defRPr>
            </a:lvl1pPr>
          </a:lstStyle>
          <a:p>
            <a:r>
              <a:rPr lang="es-MX" dirty="0"/>
              <a:t>FÓRMULA DE CÁLCULO DE UNA RAZÓN</a:t>
            </a:r>
          </a:p>
        </p:txBody>
      </p:sp>
      <p:sp>
        <p:nvSpPr>
          <p:cNvPr id="6" name="CuadroTexto 5">
            <a:extLst>
              <a:ext uri="{FF2B5EF4-FFF2-40B4-BE49-F238E27FC236}">
                <a16:creationId xmlns:a16="http://schemas.microsoft.com/office/drawing/2014/main" id="{484007D5-724A-5835-8DB1-7DEC46A30E98}"/>
              </a:ext>
            </a:extLst>
          </p:cNvPr>
          <p:cNvSpPr txBox="1"/>
          <p:nvPr/>
        </p:nvSpPr>
        <p:spPr>
          <a:xfrm>
            <a:off x="582384" y="1105878"/>
            <a:ext cx="11027229" cy="646331"/>
          </a:xfrm>
          <a:prstGeom prst="rect">
            <a:avLst/>
          </a:prstGeom>
          <a:noFill/>
        </p:spPr>
        <p:txBody>
          <a:bodyPr wrap="square">
            <a:spAutoFit/>
          </a:bodyPr>
          <a:lstStyle/>
          <a:p>
            <a:r>
              <a:rPr lang="es-MX" dirty="0">
                <a:latin typeface="Verdana" panose="020B0604030504040204" pitchFamily="34" charset="0"/>
                <a:ea typeface="Verdana" panose="020B0604030504040204" pitchFamily="34" charset="0"/>
              </a:rPr>
              <a:t>La razón es el cociente entre dos variables cualesquiera en un cierto periodo y es la forma de expresar un tanto de unidades del numerador por cada unidad del denominador</a:t>
            </a:r>
          </a:p>
        </p:txBody>
      </p:sp>
    </p:spTree>
    <p:extLst>
      <p:ext uri="{BB962C8B-B14F-4D97-AF65-F5344CB8AC3E}">
        <p14:creationId xmlns:p14="http://schemas.microsoft.com/office/powerpoint/2010/main" val="6238574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p:cNvSpPr/>
          <p:nvPr/>
        </p:nvSpPr>
        <p:spPr>
          <a:xfrm>
            <a:off x="0" y="6795272"/>
            <a:ext cx="12192000" cy="71437"/>
          </a:xfrm>
          <a:prstGeom prst="rect">
            <a:avLst/>
          </a:prstGeom>
          <a:solidFill>
            <a:srgbClr val="009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Cuadro de texto 21">
            <a:extLst>
              <a:ext uri="{FF2B5EF4-FFF2-40B4-BE49-F238E27FC236}">
                <a16:creationId xmlns:a16="http://schemas.microsoft.com/office/drawing/2014/main" id="{CDCD5067-BB59-4EA1-986C-E54326082172}"/>
              </a:ext>
            </a:extLst>
          </p:cNvPr>
          <p:cNvSpPr txBox="1"/>
          <p:nvPr/>
        </p:nvSpPr>
        <p:spPr bwMode="gray">
          <a:xfrm>
            <a:off x="7944697" y="2655216"/>
            <a:ext cx="3679185" cy="1006429"/>
          </a:xfrm>
          <a:prstGeom prst="rect">
            <a:avLst/>
          </a:prstGeom>
          <a:noFill/>
        </p:spPr>
        <p:txBody>
          <a:bodyPr wrap="square" rtlCol="0">
            <a:spAutoFit/>
          </a:bodyPr>
          <a:lstStyle/>
          <a:p>
            <a:pPr algn="ctr" rtl="0">
              <a:lnSpc>
                <a:spcPct val="90000"/>
              </a:lnSpc>
            </a:pPr>
            <a:r>
              <a:rPr lang="es-ES" sz="2200" b="1" dirty="0">
                <a:solidFill>
                  <a:schemeClr val="bg1"/>
                </a:solidFill>
                <a:latin typeface="Montserrat" panose="00000500000000000000" pitchFamily="2" charset="0"/>
                <a:cs typeface="Gotham Medium" pitchFamily="2" charset="0"/>
              </a:rPr>
              <a:t>Dirección de Sistemas Electrónicos y Plataforma Digital</a:t>
            </a:r>
          </a:p>
        </p:txBody>
      </p:sp>
      <p:sp>
        <p:nvSpPr>
          <p:cNvPr id="31" name="Título 1">
            <a:extLst>
              <a:ext uri="{FF2B5EF4-FFF2-40B4-BE49-F238E27FC236}">
                <a16:creationId xmlns:a16="http://schemas.microsoft.com/office/drawing/2014/main" id="{77E99AC1-4572-48AA-BB62-9A2039569CF6}"/>
              </a:ext>
            </a:extLst>
          </p:cNvPr>
          <p:cNvSpPr txBox="1">
            <a:spLocks/>
          </p:cNvSpPr>
          <p:nvPr/>
        </p:nvSpPr>
        <p:spPr bwMode="gray">
          <a:xfrm>
            <a:off x="8006380" y="4235881"/>
            <a:ext cx="3571782" cy="1134509"/>
          </a:xfrm>
          <a:prstGeom prst="rect">
            <a:avLst/>
          </a:prstGeom>
        </p:spPr>
        <p:txBody>
          <a:bodyPr rtlCol="0"/>
          <a:lstStyle>
            <a:lvl1pPr algn="l" defTabSz="914400" rtl="0" eaLnBrk="1" latinLnBrk="0" hangingPunct="1">
              <a:lnSpc>
                <a:spcPct val="90000"/>
              </a:lnSpc>
              <a:spcBef>
                <a:spcPct val="0"/>
              </a:spcBef>
              <a:buNone/>
              <a:defRPr sz="4400" b="1" kern="1200">
                <a:solidFill>
                  <a:schemeClr val="tx1"/>
                </a:solidFill>
                <a:latin typeface="Gandhi Serif" panose="02000000000000000000" pitchFamily="50" charset="0"/>
                <a:ea typeface="+mj-ea"/>
                <a:cs typeface="+mj-cs"/>
              </a:defRPr>
            </a:lvl1pPr>
          </a:lstStyle>
          <a:p>
            <a:r>
              <a:rPr lang="es-ES" sz="6600" dirty="0">
                <a:solidFill>
                  <a:schemeClr val="bg1"/>
                </a:solidFill>
                <a:latin typeface="Gotham Medium" pitchFamily="2" charset="0"/>
                <a:cs typeface="Gotham Medium" pitchFamily="2" charset="0"/>
              </a:rPr>
              <a:t>Gracias</a:t>
            </a:r>
          </a:p>
        </p:txBody>
      </p:sp>
      <p:cxnSp>
        <p:nvCxnSpPr>
          <p:cNvPr id="32" name="Conector recto 31" title="Línea divisoria">
            <a:extLst>
              <a:ext uri="{FF2B5EF4-FFF2-40B4-BE49-F238E27FC236}">
                <a16:creationId xmlns:a16="http://schemas.microsoft.com/office/drawing/2014/main" id="{A0D1F419-5E2D-4B79-94B8-830E40A62FFB}"/>
              </a:ext>
            </a:extLst>
          </p:cNvPr>
          <p:cNvCxnSpPr>
            <a:cxnSpLocks/>
          </p:cNvCxnSpPr>
          <p:nvPr/>
        </p:nvCxnSpPr>
        <p:spPr>
          <a:xfrm>
            <a:off x="8006380" y="5374005"/>
            <a:ext cx="357178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5" name="Gráfico 34" descr="Smartphone" title="Icono: número de teléfono del moderador">
            <a:extLst>
              <a:ext uri="{FF2B5EF4-FFF2-40B4-BE49-F238E27FC236}">
                <a16:creationId xmlns:a16="http://schemas.microsoft.com/office/drawing/2014/main" id="{CADC8E02-3592-43BC-ADD9-65AAE59B16D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971000" y="5548762"/>
            <a:ext cx="218900" cy="218900"/>
          </a:xfrm>
          <a:prstGeom prst="rect">
            <a:avLst/>
          </a:prstGeom>
        </p:spPr>
      </p:pic>
      <p:sp>
        <p:nvSpPr>
          <p:cNvPr id="36" name="Marcador de texto 17">
            <a:extLst>
              <a:ext uri="{FF2B5EF4-FFF2-40B4-BE49-F238E27FC236}">
                <a16:creationId xmlns:a16="http://schemas.microsoft.com/office/drawing/2014/main" id="{5A270EF4-6E96-4FA5-A2AC-A4F6FD9E9E37}"/>
              </a:ext>
            </a:extLst>
          </p:cNvPr>
          <p:cNvSpPr txBox="1">
            <a:spLocks/>
          </p:cNvSpPr>
          <p:nvPr/>
        </p:nvSpPr>
        <p:spPr bwMode="gray">
          <a:xfrm>
            <a:off x="8285849" y="5572963"/>
            <a:ext cx="3409950" cy="24765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ndhi Serif" panose="020000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ndhi Serif" panose="020000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ndhi Serif" panose="020000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ndhi Serif" panose="020000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ndhi Serif" panose="020000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400" dirty="0">
                <a:solidFill>
                  <a:schemeClr val="bg1"/>
                </a:solidFill>
                <a:latin typeface="Segoe UI" panose="020B0502040204020203" pitchFamily="34" charset="0"/>
                <a:cs typeface="Segoe UI" panose="020B0502040204020203" pitchFamily="34" charset="0"/>
              </a:rPr>
              <a:t>961 691 2373, Opción 3, Extensión 69202</a:t>
            </a:r>
          </a:p>
        </p:txBody>
      </p:sp>
      <p:pic>
        <p:nvPicPr>
          <p:cNvPr id="37" name="Gráfico 36" descr="Sobre" title="Icono del correo electrónico del moderador">
            <a:extLst>
              <a:ext uri="{FF2B5EF4-FFF2-40B4-BE49-F238E27FC236}">
                <a16:creationId xmlns:a16="http://schemas.microsoft.com/office/drawing/2014/main" id="{B7CA3E79-207F-4631-95DF-46EDE94676E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971000" y="5940283"/>
            <a:ext cx="218900" cy="218900"/>
          </a:xfrm>
          <a:prstGeom prst="rect">
            <a:avLst/>
          </a:prstGeom>
        </p:spPr>
      </p:pic>
      <p:sp>
        <p:nvSpPr>
          <p:cNvPr id="38" name="Marcador de texto 18">
            <a:extLst>
              <a:ext uri="{FF2B5EF4-FFF2-40B4-BE49-F238E27FC236}">
                <a16:creationId xmlns:a16="http://schemas.microsoft.com/office/drawing/2014/main" id="{FA770F17-4BF1-4384-B7F3-266EF28791D8}"/>
              </a:ext>
            </a:extLst>
          </p:cNvPr>
          <p:cNvSpPr txBox="1">
            <a:spLocks/>
          </p:cNvSpPr>
          <p:nvPr/>
        </p:nvSpPr>
        <p:spPr bwMode="gray">
          <a:xfrm>
            <a:off x="8294475" y="5928131"/>
            <a:ext cx="3206750" cy="247650"/>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ndhi Serif" panose="020000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ndhi Serif" panose="020000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ndhi Serif" panose="020000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ndhi Serif" panose="020000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ndhi Serif" panose="020000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400" dirty="0">
                <a:solidFill>
                  <a:schemeClr val="bg1"/>
                </a:solidFill>
                <a:latin typeface="Segoe UI" panose="020B0502040204020203" pitchFamily="34" charset="0"/>
                <a:cs typeface="Segoe UI" panose="020B0502040204020203" pitchFamily="34" charset="0"/>
              </a:rPr>
              <a:t>seypd@sesaech.gob.mx</a:t>
            </a:r>
          </a:p>
        </p:txBody>
      </p:sp>
      <p:pic>
        <p:nvPicPr>
          <p:cNvPr id="39" name="Gráfico 38" descr="Mundo">
            <a:extLst>
              <a:ext uri="{FF2B5EF4-FFF2-40B4-BE49-F238E27FC236}">
                <a16:creationId xmlns:a16="http://schemas.microsoft.com/office/drawing/2014/main" id="{C100569C-69A9-4C37-B5DB-509BF6E2E22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965233" y="6283299"/>
            <a:ext cx="231342" cy="231342"/>
          </a:xfrm>
          <a:prstGeom prst="rect">
            <a:avLst/>
          </a:prstGeom>
        </p:spPr>
      </p:pic>
      <p:sp>
        <p:nvSpPr>
          <p:cNvPr id="40" name="Marcador de texto 18">
            <a:extLst>
              <a:ext uri="{FF2B5EF4-FFF2-40B4-BE49-F238E27FC236}">
                <a16:creationId xmlns:a16="http://schemas.microsoft.com/office/drawing/2014/main" id="{3ECADD64-9C73-4F2B-B0E9-409A473ED202}"/>
              </a:ext>
            </a:extLst>
          </p:cNvPr>
          <p:cNvSpPr txBox="1">
            <a:spLocks/>
          </p:cNvSpPr>
          <p:nvPr/>
        </p:nvSpPr>
        <p:spPr bwMode="gray">
          <a:xfrm>
            <a:off x="8380735" y="6283299"/>
            <a:ext cx="3206750" cy="24765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spcAft>
                <a:spcPts val="500"/>
              </a:spcAft>
              <a:buClr>
                <a:schemeClr val="accent1"/>
              </a:buClr>
              <a:buFont typeface="Arial" panose="020B0604020202020204" pitchFamily="34" charset="0"/>
              <a:buNone/>
              <a:defRPr lang="en-US" sz="1400" kern="1200" smtClean="0">
                <a:solidFill>
                  <a:schemeClr val="bg1"/>
                </a:solidFill>
                <a:latin typeface="+mn-lt"/>
                <a:ea typeface="+mn-ea"/>
                <a:cs typeface="+mn-cs"/>
              </a:defRPr>
            </a:lvl1pPr>
            <a:lvl2pPr marL="542925" indent="-276225" algn="l" defTabSz="914400" rtl="0" eaLnBrk="1" latinLnBrk="0" hangingPunct="1">
              <a:lnSpc>
                <a:spcPct val="100000"/>
              </a:lnSpc>
              <a:spcBef>
                <a:spcPts val="500"/>
              </a:spcBef>
              <a:spcAft>
                <a:spcPts val="500"/>
              </a:spcAft>
              <a:buFont typeface="Arial" panose="020B0604020202020204" pitchFamily="34" charset="0"/>
              <a:buChar char="•"/>
              <a:defRPr lang="en-US" sz="2000" kern="1200" smtClean="0">
                <a:solidFill>
                  <a:schemeClr val="tx2"/>
                </a:solidFill>
                <a:latin typeface="+mn-lt"/>
                <a:ea typeface="+mn-ea"/>
                <a:cs typeface="+mn-cs"/>
              </a:defRPr>
            </a:lvl2pPr>
            <a:lvl3pPr marL="809625" indent="-266700" algn="l" defTabSz="914400" rtl="0" eaLnBrk="1" latinLnBrk="0" hangingPunct="1">
              <a:lnSpc>
                <a:spcPct val="100000"/>
              </a:lnSpc>
              <a:spcBef>
                <a:spcPts val="500"/>
              </a:spcBef>
              <a:spcAft>
                <a:spcPts val="500"/>
              </a:spcAft>
              <a:buFont typeface="Arial" panose="020B0604020202020204" pitchFamily="34" charset="0"/>
              <a:buChar char="•"/>
              <a:defRPr lang="en-US" sz="1800" kern="1200" smtClean="0">
                <a:solidFill>
                  <a:schemeClr val="tx2"/>
                </a:solidFill>
                <a:latin typeface="+mn-lt"/>
                <a:ea typeface="+mn-ea"/>
                <a:cs typeface="+mn-cs"/>
              </a:defRPr>
            </a:lvl3pPr>
            <a:lvl4pPr marL="1076325" indent="-266700" algn="l" defTabSz="914400" rtl="0" eaLnBrk="1" latinLnBrk="0" hangingPunct="1">
              <a:lnSpc>
                <a:spcPct val="100000"/>
              </a:lnSpc>
              <a:spcBef>
                <a:spcPts val="500"/>
              </a:spcBef>
              <a:spcAft>
                <a:spcPts val="500"/>
              </a:spcAft>
              <a:buFont typeface="Arial" panose="020B0604020202020204" pitchFamily="34" charset="0"/>
              <a:buChar char="•"/>
              <a:defRPr lang="en-US" sz="1600" kern="1200" smtClean="0">
                <a:solidFill>
                  <a:schemeClr val="tx2"/>
                </a:solidFill>
                <a:latin typeface="+mn-lt"/>
                <a:ea typeface="+mn-ea"/>
                <a:cs typeface="+mn-cs"/>
              </a:defRPr>
            </a:lvl4pPr>
            <a:lvl5pPr marL="1343025" indent="-266700" algn="l" defTabSz="914400" rtl="0" eaLnBrk="1" latinLnBrk="0" hangingPunct="1">
              <a:lnSpc>
                <a:spcPct val="100000"/>
              </a:lnSpc>
              <a:spcBef>
                <a:spcPts val="500"/>
              </a:spcBef>
              <a:spcAft>
                <a:spcPts val="500"/>
              </a:spcAft>
              <a:buFont typeface="Arial" panose="020B0604020202020204" pitchFamily="34" charset="0"/>
              <a:buChar char="•"/>
              <a:defRPr lang="en-ZA"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rtl="0"/>
            <a:r>
              <a:rPr lang="es-ES" dirty="0">
                <a:latin typeface="Segoe UI" panose="020B0502040204020203" pitchFamily="34" charset="0"/>
                <a:cs typeface="Segoe UI" panose="020B0502040204020203" pitchFamily="34" charset="0"/>
                <a:hlinkClick r:id="rId8">
                  <a:extLst>
                    <a:ext uri="{A12FA001-AC4F-418D-AE19-62706E023703}">
                      <ahyp:hlinkClr xmlns:ahyp="http://schemas.microsoft.com/office/drawing/2018/hyperlinkcolor" val="tx"/>
                    </a:ext>
                  </a:extLst>
                </a:hlinkClick>
              </a:rPr>
              <a:t>https://sesaech.gob.mx</a:t>
            </a:r>
            <a:r>
              <a:rPr lang="es-ES" dirty="0">
                <a:latin typeface="Segoe UI" panose="020B0502040204020203" pitchFamily="34" charset="0"/>
                <a:cs typeface="Segoe UI" panose="020B0502040204020203" pitchFamily="34" charset="0"/>
              </a:rPr>
              <a:t>	</a:t>
            </a:r>
          </a:p>
        </p:txBody>
      </p:sp>
      <p:pic>
        <p:nvPicPr>
          <p:cNvPr id="5" name="Imagen 4" descr="Texto&#10;&#10;El contenido generado por IA puede ser incorrecto.">
            <a:extLst>
              <a:ext uri="{FF2B5EF4-FFF2-40B4-BE49-F238E27FC236}">
                <a16:creationId xmlns:a16="http://schemas.microsoft.com/office/drawing/2014/main" id="{C201671B-34BF-FC37-D9EE-55311B4F8FE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998131" y="761786"/>
            <a:ext cx="3580031" cy="1335149"/>
          </a:xfrm>
          <a:prstGeom prst="rect">
            <a:avLst/>
          </a:prstGeom>
        </p:spPr>
      </p:pic>
      <p:pic>
        <p:nvPicPr>
          <p:cNvPr id="2" name="Imagen 1">
            <a:extLst>
              <a:ext uri="{FF2B5EF4-FFF2-40B4-BE49-F238E27FC236}">
                <a16:creationId xmlns:a16="http://schemas.microsoft.com/office/drawing/2014/main" id="{77E30335-7CA7-FB9A-D90F-56495A20C14F}"/>
              </a:ext>
            </a:extLst>
          </p:cNvPr>
          <p:cNvPicPr>
            <a:picLocks noChangeAspect="1"/>
          </p:cNvPicPr>
          <p:nvPr/>
        </p:nvPicPr>
        <p:blipFill>
          <a:blip r:embed="rId10"/>
          <a:stretch>
            <a:fillRect/>
          </a:stretch>
        </p:blipFill>
        <p:spPr>
          <a:xfrm>
            <a:off x="1371608" y="-12071"/>
            <a:ext cx="9033164" cy="6774872"/>
          </a:xfrm>
          <a:prstGeom prst="rect">
            <a:avLst/>
          </a:prstGeom>
        </p:spPr>
      </p:pic>
    </p:spTree>
    <p:extLst>
      <p:ext uri="{BB962C8B-B14F-4D97-AF65-F5344CB8AC3E}">
        <p14:creationId xmlns:p14="http://schemas.microsoft.com/office/powerpoint/2010/main" val="40245287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DCB660E4-EA28-3FB7-0D2F-175B38B614ED}"/>
              </a:ext>
            </a:extLst>
          </p:cNvPr>
          <p:cNvPicPr>
            <a:picLocks noChangeAspect="1"/>
          </p:cNvPicPr>
          <p:nvPr/>
        </p:nvPicPr>
        <p:blipFill>
          <a:blip r:embed="rId2"/>
          <a:stretch>
            <a:fillRect/>
          </a:stretch>
        </p:blipFill>
        <p:spPr>
          <a:xfrm>
            <a:off x="1468574" y="10241"/>
            <a:ext cx="9171908" cy="6878930"/>
          </a:xfrm>
          <a:prstGeom prst="rect">
            <a:avLst/>
          </a:prstGeom>
        </p:spPr>
      </p:pic>
    </p:spTree>
    <p:extLst>
      <p:ext uri="{BB962C8B-B14F-4D97-AF65-F5344CB8AC3E}">
        <p14:creationId xmlns:p14="http://schemas.microsoft.com/office/powerpoint/2010/main" val="1332991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4CE2C07-31AE-1CB1-462A-CC8B57C9DA4B}"/>
              </a:ext>
            </a:extLst>
          </p:cNvPr>
          <p:cNvPicPr>
            <a:picLocks noChangeAspect="1"/>
          </p:cNvPicPr>
          <p:nvPr/>
        </p:nvPicPr>
        <p:blipFill>
          <a:blip r:embed="rId2"/>
          <a:stretch>
            <a:fillRect/>
          </a:stretch>
        </p:blipFill>
        <p:spPr>
          <a:xfrm>
            <a:off x="1579414" y="0"/>
            <a:ext cx="9074925" cy="6806193"/>
          </a:xfrm>
          <a:prstGeom prst="rect">
            <a:avLst/>
          </a:prstGeom>
        </p:spPr>
      </p:pic>
    </p:spTree>
    <p:extLst>
      <p:ext uri="{BB962C8B-B14F-4D97-AF65-F5344CB8AC3E}">
        <p14:creationId xmlns:p14="http://schemas.microsoft.com/office/powerpoint/2010/main" val="12258724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D19F91A5-993F-F951-F9F6-9E2B5CCF226C}"/>
              </a:ext>
            </a:extLst>
          </p:cNvPr>
          <p:cNvPicPr>
            <a:picLocks noChangeAspect="1"/>
          </p:cNvPicPr>
          <p:nvPr/>
        </p:nvPicPr>
        <p:blipFill>
          <a:blip r:embed="rId2"/>
          <a:stretch>
            <a:fillRect/>
          </a:stretch>
        </p:blipFill>
        <p:spPr>
          <a:xfrm>
            <a:off x="1482435" y="51960"/>
            <a:ext cx="8991800" cy="6743850"/>
          </a:xfrm>
          <a:prstGeom prst="rect">
            <a:avLst/>
          </a:prstGeom>
        </p:spPr>
      </p:pic>
    </p:spTree>
    <p:extLst>
      <p:ext uri="{BB962C8B-B14F-4D97-AF65-F5344CB8AC3E}">
        <p14:creationId xmlns:p14="http://schemas.microsoft.com/office/powerpoint/2010/main" val="16758699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79998D32-17A4-F84B-6E7F-BBC137DF23C2}"/>
              </a:ext>
            </a:extLst>
          </p:cNvPr>
          <p:cNvPicPr>
            <a:picLocks noChangeAspect="1"/>
          </p:cNvPicPr>
          <p:nvPr/>
        </p:nvPicPr>
        <p:blipFill>
          <a:blip r:embed="rId2"/>
          <a:stretch>
            <a:fillRect/>
          </a:stretch>
        </p:blipFill>
        <p:spPr>
          <a:xfrm>
            <a:off x="1346322" y="1830"/>
            <a:ext cx="9141560" cy="6856170"/>
          </a:xfrm>
          <a:prstGeom prst="rect">
            <a:avLst/>
          </a:prstGeom>
        </p:spPr>
      </p:pic>
    </p:spTree>
    <p:extLst>
      <p:ext uri="{BB962C8B-B14F-4D97-AF65-F5344CB8AC3E}">
        <p14:creationId xmlns:p14="http://schemas.microsoft.com/office/powerpoint/2010/main" val="1310961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5C12A9F-641D-BDAD-6AC7-DE45A66389AC}"/>
              </a:ext>
            </a:extLst>
          </p:cNvPr>
          <p:cNvPicPr>
            <a:picLocks noChangeAspect="1"/>
          </p:cNvPicPr>
          <p:nvPr/>
        </p:nvPicPr>
        <p:blipFill>
          <a:blip r:embed="rId2"/>
          <a:stretch>
            <a:fillRect/>
          </a:stretch>
        </p:blipFill>
        <p:spPr>
          <a:xfrm>
            <a:off x="1509350" y="60859"/>
            <a:ext cx="8923515" cy="6692637"/>
          </a:xfrm>
          <a:prstGeom prst="rect">
            <a:avLst/>
          </a:prstGeom>
        </p:spPr>
      </p:pic>
    </p:spTree>
    <p:extLst>
      <p:ext uri="{BB962C8B-B14F-4D97-AF65-F5344CB8AC3E}">
        <p14:creationId xmlns:p14="http://schemas.microsoft.com/office/powerpoint/2010/main" val="40738047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n 1">
            <a:extLst>
              <a:ext uri="{FF2B5EF4-FFF2-40B4-BE49-F238E27FC236}">
                <a16:creationId xmlns:a16="http://schemas.microsoft.com/office/drawing/2014/main" id="{61C90DB9-BA8D-67E6-8E60-0C64507FAF55}"/>
              </a:ext>
            </a:extLst>
          </p:cNvPr>
          <p:cNvPicPr>
            <a:picLocks noChangeAspect="1"/>
          </p:cNvPicPr>
          <p:nvPr/>
        </p:nvPicPr>
        <p:blipFill>
          <a:blip r:embed="rId2"/>
          <a:srcRect l="18596" t="36633" r="10564" b="25627"/>
          <a:stretch>
            <a:fillRect/>
          </a:stretch>
        </p:blipFill>
        <p:spPr>
          <a:xfrm>
            <a:off x="1973495" y="1453574"/>
            <a:ext cx="8502374" cy="3397226"/>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83896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5813</TotalTime>
  <Words>2860</Words>
  <Application>Microsoft Office PowerPoint</Application>
  <PresentationFormat>Panorámica</PresentationFormat>
  <Paragraphs>325</Paragraphs>
  <Slides>38</Slides>
  <Notes>0</Notes>
  <HiddenSlides>0</HiddenSlides>
  <MMClips>0</MMClips>
  <ScaleCrop>false</ScaleCrop>
  <HeadingPairs>
    <vt:vector size="6" baseType="variant">
      <vt:variant>
        <vt:lpstr>Fuentes usadas</vt:lpstr>
      </vt:variant>
      <vt:variant>
        <vt:i4>10</vt:i4>
      </vt:variant>
      <vt:variant>
        <vt:lpstr>Tema</vt:lpstr>
      </vt:variant>
      <vt:variant>
        <vt:i4>5</vt:i4>
      </vt:variant>
      <vt:variant>
        <vt:lpstr>Títulos de diapositiva</vt:lpstr>
      </vt:variant>
      <vt:variant>
        <vt:i4>38</vt:i4>
      </vt:variant>
    </vt:vector>
  </HeadingPairs>
  <TitlesOfParts>
    <vt:vector size="53" baseType="lpstr">
      <vt:lpstr>Arial</vt:lpstr>
      <vt:lpstr>Calibri</vt:lpstr>
      <vt:lpstr>Font Awesome 6 Free Solid</vt:lpstr>
      <vt:lpstr>Gotham Medium</vt:lpstr>
      <vt:lpstr>Lato Light</vt:lpstr>
      <vt:lpstr>Lucida Sans Unicode</vt:lpstr>
      <vt:lpstr>Montserrat</vt:lpstr>
      <vt:lpstr>Segoe UI</vt:lpstr>
      <vt:lpstr>Verdana</vt:lpstr>
      <vt:lpstr>Wingdings</vt:lpstr>
      <vt:lpstr>Tema de Office</vt:lpstr>
      <vt:lpstr>2_Tema de Office</vt:lpstr>
      <vt:lpstr>Diseño personalizado</vt:lpstr>
      <vt:lpstr>1_Diseño personalizado</vt:lpstr>
      <vt:lpstr>2_Diseño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Javier López Trinidad</Manager>
  <Company>Secretaría Ejecutiva del Sistema Anticorrupción del Estado de Chiapas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Inducción al Sistema Anticorrupción del Estado de Chiapas</dc:title>
  <dc:subject>Sistema Electrónico Estatal de Chiapas</dc:subject>
  <dc:creator>Dirección de Sistemas Electrónicos y Plataforma Digital</dc:creator>
  <cp:keywords>Inducción al Sistema Anticorrupción del Estado de Chiapas; Gobierno del Estado de Chiapas; SAECH; SESAECH; Comité Coordinador; Sistema Electrónico Estatal de Chiapas; Plataforma Digital Nacional; Dirección de Sistemas Electrónicos y Plataforma Digital</cp:keywords>
  <dc:description>Presentación para la Reunión de Trabajo denominada Inducción al Sistema Anticorrupción del Estado de Chiapas.</dc:description>
  <cp:lastModifiedBy>Dirección de Vinculación y Políticas Públicas</cp:lastModifiedBy>
  <cp:revision>100</cp:revision>
  <dcterms:created xsi:type="dcterms:W3CDTF">2024-05-14T17:11:57Z</dcterms:created>
  <dcterms:modified xsi:type="dcterms:W3CDTF">2025-11-10T17:48:38Z</dcterms:modified>
  <cp:category>Presentaciones</cp:category>
  <dc:language>Español</dc:language>
  <cp:version>1</cp:version>
</cp:coreProperties>
</file>